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Realizado</c:v>
                </c:pt>
              </c:strCache>
            </c:strRef>
          </c:tx>
          <c:spPr>
            <a:ln w="31750">
              <a:solidFill>
                <a:srgbClr val="081551"/>
              </a:solidFill>
            </a:ln>
          </c:spPr>
          <c:marker>
            <c:symbol val="circle"/>
            <c:size val="5"/>
            <c:spPr>
              <a:solidFill>
                <a:srgbClr val="081551"/>
              </a:solidFill>
              <a:ln>
                <a:solidFill>
                  <a:srgbClr val="081551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81.42144</c:v>
                </c:pt>
                <c:pt idx="1">
                  <c:v>92.32337</c:v>
                </c:pt>
                <c:pt idx="2">
                  <c:v>89.47573</c:v>
                </c:pt>
                <c:pt idx="3">
                  <c:v>78.15172</c:v>
                </c:pt>
                <c:pt idx="4">
                  <c:v>92.74086</c:v>
                </c:pt>
                <c:pt idx="5">
                  <c:v>90.13512</c:v>
                </c:pt>
                <c:pt idx="6">
                  <c:v>69.3781674291739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Orçado</c:v>
                </c:pt>
              </c:strCache>
            </c:strRef>
          </c:tx>
          <c:spPr>
            <a:ln w="22225">
              <a:solidFill>
                <a:srgbClr val="667085"/>
              </a:solidFill>
            </a:ln>
          </c:spPr>
          <c:marker>
            <c:symbol val="diamond"/>
            <c:size val="5"/>
            <c:spPr>
              <a:solidFill>
                <a:srgbClr val="667085"/>
              </a:solidFill>
              <a:ln>
                <a:solidFill>
                  <a:srgbClr val="667085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53.181659895905</c:v>
                </c:pt>
                <c:pt idx="1">
                  <c:v>51.695457147519804</c:v>
                </c:pt>
                <c:pt idx="2">
                  <c:v>50.8629335164666</c:v>
                </c:pt>
                <c:pt idx="3">
                  <c:v>64.01860036595801</c:v>
                </c:pt>
                <c:pt idx="4">
                  <c:v>65.5183436075686</c:v>
                </c:pt>
                <c:pt idx="5">
                  <c:v>58.7501260281477</c:v>
                </c:pt>
                <c:pt idx="6">
                  <c:v>56.3504054597217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Meta −50%</c:v>
                </c:pt>
              </c:strCache>
            </c:strRef>
          </c:tx>
          <c:spPr>
            <a:ln w="22225">
              <a:solidFill>
                <a:srgbClr val="13853A"/>
              </a:solidFill>
            </a:ln>
          </c:spPr>
          <c:marker>
            <c:symbol val="diamond"/>
            <c:size val="5"/>
            <c:spPr>
              <a:solidFill>
                <a:srgbClr val="13853A"/>
              </a:solidFill>
              <a:ln>
                <a:solidFill>
                  <a:srgbClr val="13853A"/>
                </a:solidFill>
              </a:ln>
            </c:spPr>
          </c:marker>
          <c:cat>
            <c:strRef>
              <c:f>Sheet1!$A$2:$A$8</c:f>
              <c:strCache>
                <c:ptCount val="7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  <c:pt idx="6">
                  <c:v>Jul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28.1752</c:v>
                </c:pt>
                <c:pt idx="1">
                  <c:v>28.1752</c:v>
                </c:pt>
                <c:pt idx="2">
                  <c:v>28.1752</c:v>
                </c:pt>
                <c:pt idx="3">
                  <c:v>28.1752</c:v>
                </c:pt>
                <c:pt idx="4">
                  <c:v>28.1752</c:v>
                </c:pt>
                <c:pt idx="5">
                  <c:v>28.1752</c:v>
                </c:pt>
                <c:pt idx="6">
                  <c:v>28.1752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D9E0EA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DF1F6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900">
          <a:latin typeface="Apto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INDICADOR (Fato). Números vêm de dados_&lt;regiao&gt;.json; textos de narrativa_&lt;regiao&gt;.json (s1). Meta = -50% do orçado.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CAUSA/onde (ociosidade + regimes). HC/dia e horas de espera x acionamento; painel C mostra dia útil (noturno) x FDS (diurno). Números do JSON (ociosidade, inteligencia.regimes).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CAUSA/quem (por GA). Ranking de horas + frequência de acionamento: GA que aciona todo dia tem demanda estrutural (instrumento errado: sobreaviso); GA eventual usa sobreaviso corretamente. Do JSON (sobreaviso_por_ga, inteligencia.gas).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RISCO x CUSTO-BENEFÍCIO. Dimensionamento por GA (mediana=turno fixo, p90=sobreaviso residual, máx=backup), regra de piso, conta da conversão e nominal dos técnicos mais acionados. Do JSON (inteligencia).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AÇÃO (proposta + FCA cirúrgico). Orçado-&gt;Proposta (-50%), 3 alavancas e a tabela FCA com ações específicas por GA. Edite textos em narrativa_&lt;regiao&gt;.json (s5).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R7.1 NORDESTE: AL / BA / PB / PE / SE / RN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1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CUSTO DE HORAS · Nordeste · 10/07/2026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081551"/>
                </a:solidFill>
                <a:latin typeface="Aptos Display"/>
              </a:rPr>
              <a:t>A meta é cortar o custo de horas pela metade — e o sobreaviso já estoura o orçado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695450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850" y="1828800"/>
            <a:ext cx="3200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476C9"/>
                </a:solidFill>
                <a:latin typeface="Aptos"/>
              </a:rPr>
              <a:t>ORÇADO DO CICLO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850" y="2000250"/>
            <a:ext cx="3200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81551"/>
                </a:solidFill>
                <a:latin typeface="Aptos Display"/>
              </a:rPr>
              <a:t>R$ 56,4 mil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4850" y="2381250"/>
            <a:ext cx="3200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por mês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67200" y="1695450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8650" y="1828800"/>
            <a:ext cx="3200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9FC9EE"/>
                </a:solidFill>
                <a:latin typeface="Aptos"/>
              </a:rPr>
              <a:t>META · −50%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8650" y="2000250"/>
            <a:ext cx="3200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FFFFFF"/>
                </a:solidFill>
                <a:latin typeface="Aptos Display"/>
              </a:rPr>
              <a:t>R$ 28,2 mil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8650" y="2381250"/>
            <a:ext cx="3200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C9D6EF"/>
                </a:solidFill>
                <a:latin typeface="Aptos"/>
              </a:rPr>
              <a:t>compromisso do próximo ciclo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695450"/>
            <a:ext cx="354330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72450" y="1828800"/>
            <a:ext cx="3200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476C9"/>
                </a:solidFill>
                <a:latin typeface="Aptos"/>
              </a:rPr>
              <a:t>REALIZADO (FOTO)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2450" y="2000250"/>
            <a:ext cx="32004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081551"/>
                </a:solidFill>
                <a:latin typeface="Aptos Display"/>
              </a:rPr>
              <a:t>R$ 65,0 mil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2450" y="2381250"/>
            <a:ext cx="32004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15% acima vs orçado · falta cortar 57%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400" y="2819400"/>
            <a:ext cx="5334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081551"/>
                </a:solidFill>
                <a:latin typeface="Aptos"/>
              </a:rPr>
              <a:t>Custo mensal de horas — R$ mil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419100" y="3009900"/>
          <a:ext cx="5572125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6286500" y="2819400"/>
            <a:ext cx="5334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081551"/>
                </a:solidFill>
                <a:latin typeface="Aptos"/>
              </a:rPr>
              <a:t>Composição do custo (mês-foto)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86500" y="3048000"/>
            <a:ext cx="574461" cy="32385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60961" y="3048000"/>
            <a:ext cx="2870536" cy="3238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731497" y="3048000"/>
            <a:ext cx="1578249" cy="32385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309747" y="3048000"/>
            <a:ext cx="100072" cy="323850"/>
          </a:xfrm>
          <a:prstGeom prst="rect">
            <a:avLst/>
          </a:prstGeom>
          <a:solidFill>
            <a:srgbClr val="98A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09819" y="3048000"/>
            <a:ext cx="229730" cy="323850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60961" y="3409950"/>
            <a:ext cx="4448786" cy="28575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60961" y="3448050"/>
            <a:ext cx="4448786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050" b="1">
                <a:solidFill>
                  <a:srgbClr val="13853A"/>
                </a:solidFill>
                <a:latin typeface="Aptos"/>
              </a:rPr>
              <a:t>Sobreaviso = 83%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86500" y="3714750"/>
            <a:ext cx="114300" cy="114300"/>
          </a:xfrm>
          <a:prstGeom prst="rect">
            <a:avLst/>
          </a:prstGeom>
          <a:solidFill>
            <a:srgbClr val="147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77000" y="369570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DSR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7000" y="369570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R$ 7,0 mil  ·  11%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86500" y="3924300"/>
            <a:ext cx="114300" cy="1143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77000" y="390525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Acionamento sobreaviso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77000" y="390525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R$ 34,9 mil  ·  54%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86500" y="4133850"/>
            <a:ext cx="114300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77000" y="411480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Espera sobreaviso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77000" y="411480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R$ 19,2 mil  ·  29%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86500" y="4343400"/>
            <a:ext cx="114300" cy="114300"/>
          </a:xfrm>
          <a:prstGeom prst="rect">
            <a:avLst/>
          </a:prstGeom>
          <a:solidFill>
            <a:srgbClr val="98A2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7000" y="432435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Banco de horas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77000" y="432435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R$ 1,2 mil  ·  2%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86500" y="4552950"/>
            <a:ext cx="114300" cy="114300"/>
          </a:xfrm>
          <a:prstGeom prst="rect">
            <a:avLst/>
          </a:prstGeom>
          <a:solidFill>
            <a:srgbClr val="C9D6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77000" y="453390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Feriados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7000" y="4533900"/>
            <a:ext cx="52578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R$ 2,8 mil  ·  4%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86500" y="4876800"/>
            <a:ext cx="5353050" cy="121920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77000" y="4991100"/>
            <a:ext cx="2857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476C9"/>
                </a:solidFill>
                <a:latin typeface="Aptos"/>
              </a:rPr>
              <a:t>DECISÃO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77000" y="5181600"/>
            <a:ext cx="4991100" cy="8572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1">
                <a:solidFill>
                  <a:srgbClr val="182238"/>
                </a:solidFill>
                <a:latin typeface="Aptos"/>
              </a:rPr>
              <a:t>Atacar o sobreaviso, que responde por 83% da cesta. Diferente de outras regionais, o custo aqui está pulverizado: nenhuma GA isolada domina, 3 áreas já acionam quase todo dia e as demais têm demanda frequente — o corte tem que ser distribuído, não concentrado em uma área só.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R7.1 NORDESTE: AL / BA / PB / PE / SE / RN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2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DIAGNÓSTICO DO CUSTO · ONDE ESTÁ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Paga-se muito plantão em espera — e o acionamento tem dois padrões distintos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428750"/>
            <a:ext cx="5334000" cy="2381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2950" y="1581150"/>
            <a:ext cx="4953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Técnicos por dia: em espera x acionados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2950" y="1790700"/>
            <a:ext cx="4953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Média por dia no período de sobreaviso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219075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Em espera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057400" y="2209800"/>
            <a:ext cx="2857500" cy="123825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57400" y="2209800"/>
            <a:ext cx="2857500" cy="12382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1100" y="21907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22,2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950" y="2533650"/>
            <a:ext cx="1238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Acionados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2552700"/>
            <a:ext cx="2857500" cy="123825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057400" y="2552700"/>
            <a:ext cx="1261418" cy="12382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1100" y="25336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182238"/>
                </a:solidFill>
                <a:latin typeface="Aptos"/>
              </a:rPr>
              <a:t>9,8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2950" y="2971800"/>
            <a:ext cx="4953000" cy="6286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3067050"/>
            <a:ext cx="1428750" cy="4381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000" b="1">
                <a:solidFill>
                  <a:srgbClr val="13853A"/>
                </a:solidFill>
                <a:latin typeface="Aptos Display"/>
              </a:rPr>
              <a:t>44%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81250" y="3067050"/>
            <a:ext cx="31623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182238"/>
                </a:solidFill>
                <a:latin typeface="Aptos"/>
              </a:rPr>
              <a:t>dos técnicos de sobreaviso são de fato acionados por dia — o restante é plantão pago em espera.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057900" y="1428750"/>
            <a:ext cx="5581650" cy="23812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7450" y="1581150"/>
            <a:ext cx="5143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Horas de sobreaviso: espera x acionamento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7450" y="1790700"/>
            <a:ext cx="5143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Soma do período (analítico nominal)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7450" y="2000250"/>
            <a:ext cx="1143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Espera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7450" y="2171700"/>
            <a:ext cx="5143500" cy="2476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7450" y="2171700"/>
            <a:ext cx="5143500" cy="24765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7450" y="2200275"/>
            <a:ext cx="50292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1100" b="1">
                <a:solidFill>
                  <a:srgbClr val="FFFFFF"/>
                </a:solidFill>
                <a:latin typeface="Aptos"/>
              </a:rPr>
              <a:t>4.994 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7450" y="25336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Acionamento efetivo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7450" y="2705100"/>
            <a:ext cx="5143500" cy="2476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67450" y="2705100"/>
            <a:ext cx="1055532" cy="2476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99182" y="2733675"/>
            <a:ext cx="1143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1">
                <a:solidFill>
                  <a:srgbClr val="081551"/>
                </a:solidFill>
                <a:latin typeface="Aptos"/>
              </a:rPr>
              <a:t>1.290 h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7450" y="3162300"/>
            <a:ext cx="5143500" cy="514350"/>
          </a:xfrm>
          <a:prstGeom prst="roundRect">
            <a:avLst>
              <a:gd name="adj" fmla="val 6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38900" y="3162300"/>
            <a:ext cx="9144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400" b="1">
                <a:solidFill>
                  <a:srgbClr val="42DF4B"/>
                </a:solidFill>
                <a:latin typeface="Aptos Display"/>
              </a:rPr>
              <a:t>21%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91400" y="3162300"/>
            <a:ext cx="386715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50" b="0">
                <a:solidFill>
                  <a:srgbClr val="FFFFFF"/>
                </a:solidFill>
                <a:latin typeface="Aptos"/>
              </a:rPr>
              <a:t>do custo de sobreaviso vira acionamento — o resto é plantão em espera.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3400" y="3962400"/>
            <a:ext cx="11106150" cy="20764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2950" y="4095750"/>
            <a:ext cx="8572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Não é um problema só: no dia útil o acionamento é noturno; no fim de semana, diurno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2950" y="4305300"/>
            <a:ext cx="8572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Horas de acionamento por faixa horária, separadas em dia útil × sábado/domingo.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2950" y="4610100"/>
            <a:ext cx="876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Noite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657350" y="4629150"/>
            <a:ext cx="4191000" cy="1333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657350" y="4629150"/>
            <a:ext cx="4045946" cy="1333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03296" y="4629150"/>
            <a:ext cx="145053" cy="13335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4610100"/>
            <a:ext cx="609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566 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72250" y="4610100"/>
            <a:ext cx="76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3% FDS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2950" y="4933950"/>
            <a:ext cx="876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Madrugada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657350" y="4953000"/>
            <a:ext cx="4191000" cy="1333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657350" y="4953000"/>
            <a:ext cx="1492715" cy="1333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50065" y="4953000"/>
            <a:ext cx="65865" cy="13335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943600" y="4933950"/>
            <a:ext cx="609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211 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72250" y="4933950"/>
            <a:ext cx="76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667085"/>
                </a:solidFill>
                <a:latin typeface="Aptos"/>
              </a:rPr>
              <a:t>4% FDS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2950" y="5257800"/>
            <a:ext cx="876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Dia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657350" y="5276850"/>
            <a:ext cx="4191000" cy="1333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657350" y="5276850"/>
            <a:ext cx="59205" cy="1333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716555" y="5276850"/>
            <a:ext cx="3101621" cy="13335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43600" y="5257800"/>
            <a:ext cx="609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427 h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572250" y="5257800"/>
            <a:ext cx="76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3853A"/>
                </a:solidFill>
                <a:latin typeface="Aptos"/>
              </a:rPr>
              <a:t>98% FDS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2950" y="5581650"/>
            <a:ext cx="8763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Tarde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657350" y="5600700"/>
            <a:ext cx="4191000" cy="13335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657350" y="5600700"/>
            <a:ext cx="48104" cy="13335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705454" y="5600700"/>
            <a:ext cx="710464" cy="133350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0" y="5581650"/>
            <a:ext cx="6096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102 h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572250" y="5581650"/>
            <a:ext cx="762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3853A"/>
                </a:solidFill>
                <a:latin typeface="Aptos"/>
              </a:rPr>
              <a:t>94% FDS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657350" y="5943600"/>
            <a:ext cx="104775" cy="1047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809750" y="5924550"/>
            <a:ext cx="666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dia útil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419350" y="5943600"/>
            <a:ext cx="104775" cy="104775"/>
          </a:xfrm>
          <a:prstGeom prst="rect">
            <a:avLst/>
          </a:prstGeom>
          <a:solidFill>
            <a:srgbClr val="138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571750" y="5924550"/>
            <a:ext cx="1047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fim de semana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8096250" y="4572000"/>
            <a:ext cx="3314700" cy="14287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86750" y="4667250"/>
            <a:ext cx="2952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1476C9"/>
                </a:solidFill>
                <a:latin typeface="Aptos"/>
              </a:rPr>
              <a:t>DOIS REGIMES, DUAS SOLUÇÕES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86750" y="4838700"/>
            <a:ext cx="2971800" cy="1104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7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No dia útil o acionamento é noturno (748 h pós-jornada). No fim de semana é diurno (515 h), porque não há escala regular de sáb/dom — 42% das horas acionadas caem no FDS, pagas com adicional maior. Plantão noturno e cobertura de FDS são problemas diferentes, com soluções diferentes.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R7.1 NORDESTE: AL / BA / PB / PE / SE / RN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3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ONDE DÓI · POR ÁREA DE GESTÃO (GA)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O custo está pulverizado entre várias áreas com demanda frequente, não concentrado numa só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447800"/>
            <a:ext cx="5905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Horas de sobreaviso por Área de Gestão (GA)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1657350"/>
            <a:ext cx="5905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Barra = espera + acionamento · maior no topo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190500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Geraldo Bezerra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09800" y="1924050"/>
            <a:ext cx="3619500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09800" y="1924050"/>
            <a:ext cx="3268032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05500" y="19050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1702 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400" y="219075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Emerson Ricardo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09800" y="2209800"/>
            <a:ext cx="2379476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209800" y="2209800"/>
            <a:ext cx="1768394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5476" y="21907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1119 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3400" y="247650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Paulo Jose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209800" y="2495550"/>
            <a:ext cx="2126666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09800" y="2495550"/>
            <a:ext cx="1566189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2666" y="24765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1000 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276225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Luiz Cavalcanti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09800" y="2781300"/>
            <a:ext cx="1863437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09800" y="2781300"/>
            <a:ext cx="1529192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49437" y="27622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876 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3400" y="304800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Adison Lins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09800" y="3067050"/>
            <a:ext cx="1734800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09800" y="3067050"/>
            <a:ext cx="1309339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20800" y="304800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816 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3400" y="3333750"/>
            <a:ext cx="16192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Alysson Henrique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209800" y="3352800"/>
            <a:ext cx="1636780" cy="1428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209800" y="3352800"/>
            <a:ext cx="1177512" cy="1428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22780" y="3333750"/>
            <a:ext cx="666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82238"/>
                </a:solidFill>
                <a:latin typeface="Aptos"/>
              </a:rPr>
              <a:t>770 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09800" y="3676650"/>
            <a:ext cx="104775" cy="104775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362200" y="3657600"/>
            <a:ext cx="6667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espera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71800" y="3676650"/>
            <a:ext cx="104775" cy="104775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124200" y="3657600"/>
            <a:ext cx="952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0">
                <a:solidFill>
                  <a:srgbClr val="667085"/>
                </a:solidFill>
                <a:latin typeface="Aptos"/>
              </a:rPr>
              <a:t>acionamento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667500" y="1428750"/>
            <a:ext cx="4972050" cy="1638300"/>
          </a:xfrm>
          <a:prstGeom prst="roundRect">
            <a:avLst>
              <a:gd name="adj" fmla="val 6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77050" y="1562100"/>
            <a:ext cx="2857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9FC9EE"/>
                </a:solidFill>
                <a:latin typeface="Aptos"/>
              </a:rPr>
              <a:t>CONCENTRAÇÃO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7050" y="1733550"/>
            <a:ext cx="152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3600" b="1">
                <a:solidFill>
                  <a:srgbClr val="42DF4B"/>
                </a:solidFill>
                <a:latin typeface="Aptos Display"/>
              </a:rPr>
              <a:t>61%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77050" y="2209800"/>
            <a:ext cx="4572000" cy="7810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050" b="0">
                <a:solidFill>
                  <a:srgbClr val="FFFFFF"/>
                </a:solidFill>
                <a:latin typeface="Aptos"/>
              </a:rPr>
              <a:t>As 3 primeiras GAs concentram 61% das horas — bem menos concentrado que em outras regionais. 3 GAs já acionam quase todo dia: o remédio é redimensionar caso a caso, não mirar uma única área.</a:t>
            </a:r>
          </a:p>
        </p:txBody>
      </p: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6667500" y="3238500"/>
          <a:ext cx="497205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00"/>
                <a:gridCol w="1066800"/>
                <a:gridCol w="914400"/>
                <a:gridCol w="1047750"/>
              </a:tblGrid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Área de gestão (GA)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Aciona em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Custo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Padrão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Geraldo Bezerra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15 de 25 d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R$ 10,7 mil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FREQUENTE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Paulo Jose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20 de 23 d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R$ 10,6 mil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TODO DIA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Emerson Ricardo Pina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22 de 25 d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R$ 10,3 mil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TODO 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Adison Lins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17 de 25 d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R$ 8,3 mil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FREQUENTE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Luiz Cavalcanti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15 de 25 d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R$ 7,1 mil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FREQUENTE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Alysson Henrique Ferreira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182238"/>
                          </a:solidFill>
                          <a:latin typeface="Aptos"/>
                        </a:rPr>
                        <a:t>20 de 25 d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50" b="0">
                          <a:solidFill>
                            <a:srgbClr val="182238"/>
                          </a:solidFill>
                          <a:latin typeface="Aptos"/>
                        </a:rPr>
                        <a:t>R$ 7,0 mil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TODO DIA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R7.1 NORDESTE: AL / BA / PB / PE / SE / RN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4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RISCO × CUSTO-BENEFÍCIO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Trocar o instrumento sem perder cobertura: turno fixo onde a demanda é diária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3400" y="1447800"/>
            <a:ext cx="62865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300" b="1">
                <a:solidFill>
                  <a:srgbClr val="081551"/>
                </a:solidFill>
                <a:latin typeface="Aptos"/>
              </a:rPr>
              <a:t>Dimensionamento seguro por GA — plantão hoje × demanda real de acionados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3400" y="1657350"/>
            <a:ext cx="62865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Mediana e pico (p90/máx) de técnicos acionados no mesmo dia. A cobertura não cai: muda o instrumento.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533400" y="1905000"/>
          <a:ext cx="628650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09750"/>
                <a:gridCol w="1009650"/>
                <a:gridCol w="1123950"/>
                <a:gridCol w="781050"/>
                <a:gridCol w="1562100"/>
              </a:tblGrid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GA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Plantão hoje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Acionados/dia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Pico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Proposta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Geraldo Bezerra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6 téc/dia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2 · p90 4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SA enxuto (p90)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Paulo Jose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4 téc/dia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2 · p90 3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Turno fixo + SA p/ pico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Emerson Ricardo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4 téc/dia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2 · p90 4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Turno fixo + SA p/ pico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Adison Lins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4 téc/dia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2 · p90 4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5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SA enxuto (p90)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408214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Luiz Cavalcanti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3 téc/dia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1 · p90 4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4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9A6200"/>
                          </a:solidFill>
                          <a:latin typeface="Aptos"/>
                        </a:rPr>
                        <a:t>SA enxuto (p90)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408216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Alysson Henrique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2 téc/dia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182238"/>
                          </a:solidFill>
                          <a:latin typeface="Aptos"/>
                        </a:rPr>
                        <a:t>med 2 · p90 3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000" b="0">
                          <a:solidFill>
                            <a:srgbClr val="182238"/>
                          </a:solidFill>
                          <a:latin typeface="Aptos"/>
                        </a:rPr>
                        <a:t>3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D94545"/>
                          </a:solidFill>
                          <a:latin typeface="Aptos"/>
                        </a:rPr>
                        <a:t>Turno fixo + SA p/ pico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533400" y="4914900"/>
            <a:ext cx="6286500" cy="590550"/>
          </a:xfrm>
          <a:prstGeom prst="roundRect">
            <a:avLst>
              <a:gd name="adj" fmla="val 6000"/>
            </a:avLst>
          </a:prstGeom>
          <a:solidFill>
            <a:srgbClr val="FDE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3900" y="5010150"/>
            <a:ext cx="28575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1">
                <a:solidFill>
                  <a:srgbClr val="D94545"/>
                </a:solidFill>
                <a:latin typeface="Aptos"/>
              </a:rPr>
              <a:t>REGRA DE PISO (RISCO)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5162550"/>
            <a:ext cx="592455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182238"/>
                </a:solidFill>
                <a:latin typeface="Aptos"/>
              </a:rPr>
              <a:t>Nenhuma GA reduz plantão abaixo do p90 de acionados simultâneos sem turno fixo no lugar. O pico raro (máx) é coberto por backup combinado entre GAs vizinhas.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8500" y="1447800"/>
            <a:ext cx="4591050" cy="1809750"/>
          </a:xfrm>
          <a:prstGeom prst="roundRect">
            <a:avLst>
              <a:gd name="adj" fmla="val 6000"/>
            </a:avLst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58050" y="1562100"/>
            <a:ext cx="3810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9FC9EE"/>
                </a:solidFill>
                <a:latin typeface="Aptos"/>
              </a:rPr>
              <a:t>A CONTA DA CONVERSÃO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8050" y="1771650"/>
            <a:ext cx="11239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FFFFFF"/>
                </a:solidFill>
                <a:latin typeface="Aptos Display"/>
              </a:rPr>
              <a:t>R$ 26,68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0" y="1771650"/>
            <a:ext cx="29718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C9D6EF"/>
                </a:solidFill>
                <a:latin typeface="Aptos"/>
              </a:rPr>
              <a:t>por hora acionada em sobreaviso (HE + adicionais)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8050" y="2114550"/>
            <a:ext cx="112395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42DF4B"/>
                </a:solidFill>
                <a:latin typeface="Aptos Display"/>
              </a:rPr>
              <a:t>R$ 13,81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7250" y="2114550"/>
            <a:ext cx="2971800" cy="285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0">
                <a:solidFill>
                  <a:srgbClr val="C9D6EF"/>
                </a:solidFill>
                <a:latin typeface="Aptos"/>
              </a:rPr>
              <a:t>por hora em turno fixo noturno (estimado*)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58050" y="2495550"/>
            <a:ext cx="41910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FFFFFF"/>
                </a:solidFill>
                <a:latin typeface="Aptos"/>
              </a:rPr>
              <a:t>Converter a demanda diária das GAs estruturais economiza R$ 16,7 mil/mês — sem perder cobertura.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8050" y="2971800"/>
            <a:ext cx="419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850" b="0">
                <a:solidFill>
                  <a:srgbClr val="8FA3CE"/>
                </a:solidFill>
                <a:latin typeface="Aptos"/>
              </a:rPr>
              <a:t>*hora-base derivada da própria espera (1/3 da hora normal) + 20% de adicional noturno. Validar com RH.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048500" y="3390900"/>
            <a:ext cx="4591050" cy="21145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258050" y="3505200"/>
            <a:ext cx="419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081551"/>
                </a:solidFill>
                <a:latin typeface="Aptos"/>
              </a:rPr>
              <a:t>Quem já trabalha o turno — só que pago como HE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58050" y="3695700"/>
            <a:ext cx="4191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Top 10 técnicos = 44% de todas as horas de acionamento. Os 5 maiores: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58050" y="386715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Jose Jorge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724900" y="388620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724900" y="3886200"/>
            <a:ext cx="1714500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386715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86 h · 10 dias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050" y="411480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Jose Carlos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24900" y="41338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24900" y="4133850"/>
            <a:ext cx="1291338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0" y="411480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65 h · 9 dias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58050" y="436245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Luis Gustavo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724900" y="438150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724900" y="4381500"/>
            <a:ext cx="1261538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15600" y="436245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64 h · 10 dias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58050" y="461010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Aquilino Marcelino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724900" y="462915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24900" y="4629150"/>
            <a:ext cx="1193991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0" y="461010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60 h · 11 dias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58050" y="4857750"/>
            <a:ext cx="1428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182238"/>
                </a:solidFill>
                <a:latin typeface="Aptos"/>
              </a:rPr>
              <a:t>Paulo Manoel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724900" y="4876800"/>
            <a:ext cx="1714500" cy="114300"/>
          </a:xfrm>
          <a:prstGeom prst="rect">
            <a:avLst/>
          </a:prstGeom>
          <a:solidFill>
            <a:srgbClr val="E7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24900" y="4876800"/>
            <a:ext cx="1062870" cy="114300"/>
          </a:xfrm>
          <a:prstGeom prst="rect">
            <a:avLst/>
          </a:prstGeom>
          <a:solidFill>
            <a:srgbClr val="3E6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515600" y="4857750"/>
            <a:ext cx="10477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50" b="1">
                <a:solidFill>
                  <a:srgbClr val="182238"/>
                </a:solidFill>
                <a:latin typeface="Aptos"/>
              </a:rPr>
              <a:t>54 h · 11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58050" y="5143500"/>
            <a:ext cx="4191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00" b="0">
                <a:solidFill>
                  <a:srgbClr val="667085"/>
                </a:solidFill>
                <a:latin typeface="Aptos"/>
              </a:rPr>
              <a:t>Formalizar o turno primeiro para esse grupo: a demanda já é diária e comprovada.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477500" cy="76200"/>
          </a:xfrm>
          <a:prstGeom prst="rect">
            <a:avLst/>
          </a:prstGeom>
          <a:solidFill>
            <a:srgbClr val="08155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477500" y="0"/>
            <a:ext cx="1714500" cy="76200"/>
          </a:xfrm>
          <a:prstGeom prst="rect">
            <a:avLst/>
          </a:prstGeom>
          <a:solidFill>
            <a:srgbClr val="42DF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382250" y="285750"/>
            <a:ext cx="1238250" cy="342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2700" b="0">
                <a:solidFill>
                  <a:srgbClr val="081551"/>
                </a:solidFill>
                <a:latin typeface="Aptos Display"/>
              </a:rPr>
              <a:t>alloha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82250" y="628650"/>
            <a:ext cx="123825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800" b="1">
                <a:solidFill>
                  <a:srgbClr val="13853A"/>
                </a:solidFill>
                <a:latin typeface="Aptos"/>
              </a:rPr>
              <a:t>F I B R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400" y="6572250"/>
            <a:ext cx="9906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HUB de Horas Extras · Power BI · R7.1 NORDESTE: AL / BA / PB / PE / SE / RN · foto de 10/07/2026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0" y="6572250"/>
            <a:ext cx="70485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</a:pPr>
            <a:r>
              <a:rPr sz="900" b="0">
                <a:solidFill>
                  <a:srgbClr val="8B94A6"/>
                </a:solidFill>
                <a:latin typeface="Aptos"/>
              </a:rPr>
              <a:t>5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23850"/>
            <a:ext cx="9334500" cy="190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1">
                <a:solidFill>
                  <a:srgbClr val="1476C9"/>
                </a:solidFill>
                <a:latin typeface="Aptos"/>
              </a:rPr>
              <a:t>PROPOSTA DO PRÓXIMO CICLO · FCA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552450"/>
            <a:ext cx="10001250" cy="7239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081551"/>
                </a:solidFill>
                <a:latin typeface="Aptos Display"/>
              </a:rPr>
              <a:t>Fechar o gap de R$ 36,8 mil/mês com ações distribuídas por área — não com corte cego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3400" y="1428750"/>
            <a:ext cx="3429000" cy="142875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9E0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3900" y="1543050"/>
            <a:ext cx="3048000" cy="1333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050" b="1">
                <a:solidFill>
                  <a:srgbClr val="1476C9"/>
                </a:solidFill>
                <a:latin typeface="Aptos"/>
              </a:rPr>
              <a:t>DO ORÇADO À PROPOSTA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179070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Orçado do ciclo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3900" y="1943100"/>
            <a:ext cx="3048000" cy="2095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700" b="1">
                <a:solidFill>
                  <a:srgbClr val="182238"/>
                </a:solidFill>
                <a:latin typeface="Aptos"/>
              </a:rPr>
              <a:t>R$ 56,4 mil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3900" y="2228850"/>
            <a:ext cx="19050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100" b="0">
                <a:solidFill>
                  <a:srgbClr val="667085"/>
                </a:solidFill>
                <a:latin typeface="Aptos"/>
              </a:rPr>
              <a:t>Proposta · −50%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900" y="2381250"/>
            <a:ext cx="2286000" cy="266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100" b="1">
                <a:solidFill>
                  <a:srgbClr val="13853A"/>
                </a:solidFill>
                <a:latin typeface="Aptos Display"/>
              </a:rPr>
              <a:t>R$ 28,2 mil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57500" y="2381250"/>
            <a:ext cx="914400" cy="247650"/>
          </a:xfrm>
          <a:prstGeom prst="roundRect">
            <a:avLst>
              <a:gd name="adj" fmla="val 6000"/>
            </a:avLst>
          </a:prstGeom>
          <a:solidFill>
            <a:srgbClr val="E8F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7500" y="2381250"/>
            <a:ext cx="876300" cy="2476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1100" b="1">
                <a:solidFill>
                  <a:srgbClr val="13853A"/>
                </a:solidFill>
                <a:latin typeface="Aptos"/>
              </a:rPr>
              <a:t>−R$ 36,8 mil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52900" y="1428750"/>
            <a:ext cx="2438400" cy="14287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24350" y="154305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13853A"/>
                </a:solidFill>
                <a:latin typeface="Aptos Display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24350" y="1866900"/>
            <a:ext cx="2133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081551"/>
                </a:solidFill>
                <a:latin typeface="Aptos"/>
              </a:rPr>
              <a:t>Converter demanda quase diária em turno fixo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4350" y="2247900"/>
            <a:ext cx="21336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82238"/>
                </a:solidFill>
                <a:latin typeface="Aptos"/>
              </a:rPr>
              <a:t>Nas 3 GAs estruturais: turno noturno fixo cobre a mediana de acionados; sobreaviso residual cobre o p90. Hora acionada: R$ 26,68 → turno: R$ 13,81. Economia: R$ 16,7 mil/mês.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8450" y="1428750"/>
            <a:ext cx="2438400" cy="14287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9900" y="154305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13853A"/>
                </a:solidFill>
                <a:latin typeface="Aptos Display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9900" y="1866900"/>
            <a:ext cx="2133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081551"/>
                </a:solidFill>
                <a:latin typeface="Aptos"/>
              </a:rPr>
              <a:t>Escala regular de fim de semana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9900" y="2247900"/>
            <a:ext cx="21336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82238"/>
                </a:solidFill>
                <a:latin typeface="Aptos"/>
              </a:rPr>
              <a:t>42% das horas acionadas caem no sáb/dom, de dia (515 h) — hoje cobertas por sobreaviso, a forma mais cara. Revezamento de FDS (folguista/12x36) nas GAs de maior custo elimina esse gasto recorrente.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1428750"/>
            <a:ext cx="2438400" cy="1428750"/>
          </a:xfrm>
          <a:prstGeom prst="roundRect">
            <a:avLst>
              <a:gd name="adj" fmla="val 600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15450" y="1543050"/>
            <a:ext cx="571500" cy="285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2200" b="1">
                <a:solidFill>
                  <a:srgbClr val="13853A"/>
                </a:solidFill>
                <a:latin typeface="Aptos Display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15450" y="1866900"/>
            <a:ext cx="2133600" cy="381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</a:pPr>
            <a:r>
              <a:rPr sz="1200" b="1">
                <a:solidFill>
                  <a:srgbClr val="081551"/>
                </a:solidFill>
                <a:latin typeface="Aptos"/>
              </a:rPr>
              <a:t>Redimensionar as demais GAs pelo p90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15450" y="2247900"/>
            <a:ext cx="2133600" cy="552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50" b="0">
                <a:solidFill>
                  <a:srgbClr val="182238"/>
                </a:solidFill>
                <a:latin typeface="Aptos"/>
              </a:rPr>
              <a:t>Nenhuma área tem pico acima de 5 acionados simultâneos. Ajustar plantão de cada GA intermediária ao seu próprio p90 — sem depender de um único corte central.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400" y="3009900"/>
            <a:ext cx="5715000" cy="1714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</a:pPr>
            <a:r>
              <a:rPr sz="1250" b="1">
                <a:solidFill>
                  <a:srgbClr val="081551"/>
                </a:solidFill>
                <a:latin typeface="Aptos"/>
              </a:rPr>
              <a:t>FCA — Fato · Causa · Ação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33400" y="3238500"/>
          <a:ext cx="11106150" cy="28575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81250"/>
                <a:gridCol w="2857500"/>
                <a:gridCol w="3009900"/>
                <a:gridCol w="1047750"/>
                <a:gridCol w="1428750"/>
                <a:gridCol w="381000"/>
              </a:tblGrid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Fato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Causa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Ação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Prazo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>Responsável</a:t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Aptos"/>
                        </a:rPr>
                        <a:t/>
                      </a:r>
                    </a:p>
                  </a:txBody>
                  <a:tcPr anchor="ctr" marL="85725" marR="76200" marT="47625" marB="47625">
                    <a:solidFill>
                      <a:srgbClr val="081551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42% das horas acionadas caem no fim de semana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Sem escala regular de sáb/dom, a cobertura diurna do FDS (515 h) é feita via acionamento com adicional maior.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Implantar revezamento de fim de semana nas GAs de maior custo (folguista/12x36) e retirar o FDS diurno do sobreaviso.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82238"/>
                          </a:solidFill>
                          <a:latin typeface="Aptos"/>
                        </a:rPr>
                        <a:t>Próximo ciclo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Planejamento de escala + Coordenação de campo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200" b="0">
                          <a:solidFill>
                            <a:srgbClr val="D94545"/>
                          </a:solidFill>
                          <a:latin typeface="Aptos"/>
                        </a:rPr>
                        <a:t>●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3 GAs acionam quase todo dia, sem uma única concentradora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Demanda diária pulverizada entre várias áreas — paga como sobreaviso + HE de acionamento em vez de turno fixo.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Dimensionar turno noturno fixo pela mediana de acionados em cada GA estrutural; sobreaviso residual para o excedente (p90).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82238"/>
                          </a:solidFill>
                          <a:latin typeface="Aptos"/>
                        </a:rPr>
                        <a:t>Próximo ciclo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Gerência regional + RH + Planejamento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200" b="0">
                          <a:solidFill>
                            <a:srgbClr val="1476C9"/>
                          </a:solidFill>
                          <a:latin typeface="Aptos"/>
                        </a:rPr>
                        <a:t>●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Custo de horas em R$ 65,0 mil/mês, ante meta de R$ 28,2 mil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Sobreaviso responde por 83% da cesta e o realizado já supera o orçado (15% acima).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Definir a meta de R$ 28,2 mil/mês por regional e ratear o gap de R$ 36,8 mil por GA, proporcional ao custo de cada área.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82238"/>
                          </a:solidFill>
                          <a:latin typeface="Aptos"/>
                        </a:rPr>
                        <a:t>Início imediato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Gerência da regional + Planejamento</a:t>
                      </a:r>
                    </a:p>
                  </a:txBody>
                  <a:tcPr anchor="t" marL="85725" marR="76200" marT="47625" marB="47625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200" b="0">
                          <a:solidFill>
                            <a:srgbClr val="1476C9"/>
                          </a:solidFill>
                          <a:latin typeface="Aptos"/>
                        </a:rPr>
                        <a:t>●</a:t>
                      </a:r>
                    </a:p>
                  </a:txBody>
                  <a:tcPr anchor="ctr" marL="85725" marR="76200" marT="47625" marB="47625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1000" b="1">
                          <a:solidFill>
                            <a:srgbClr val="081551"/>
                          </a:solidFill>
                          <a:latin typeface="Aptos"/>
                        </a:rPr>
                        <a:t>Risco de descobertura se houver corte cego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O pico de acionados simultâneos chega a 5 técnicos — sem folga se o plantão for cortado sem critério.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Regra de piso: nenhuma GA reduz plantão abaixo do p90 de acionados simultâneos sem turno fixo no lugar; pico raro coberto por backup entre GAs vizinhas.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1">
                          <a:solidFill>
                            <a:srgbClr val="182238"/>
                          </a:solidFill>
                          <a:latin typeface="Aptos"/>
                        </a:rPr>
                        <a:t>Regra permanente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4000"/>
                        </a:lnSpc>
                      </a:pPr>
                      <a:r>
                        <a:rPr sz="950" b="0">
                          <a:solidFill>
                            <a:srgbClr val="182238"/>
                          </a:solidFill>
                          <a:latin typeface="Aptos"/>
                        </a:rPr>
                        <a:t>Gerência regional</a:t>
                      </a:r>
                    </a:p>
                  </a:txBody>
                  <a:tcPr anchor="t" marL="85725" marR="76200" marT="47625" marB="47625">
                    <a:solidFill>
                      <a:srgbClr val="F3F6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4000"/>
                        </a:lnSpc>
                      </a:pPr>
                      <a:r>
                        <a:rPr sz="1200" b="0">
                          <a:solidFill>
                            <a:srgbClr val="E4BD30"/>
                          </a:solidFill>
                          <a:latin typeface="Aptos"/>
                        </a:rPr>
                        <a:t>●</a:t>
                      </a:r>
                    </a:p>
                  </a:txBody>
                  <a:tcPr anchor="ctr" marL="85725" marR="76200" marT="47625" marB="47625">
                    <a:solidFill>
                      <a:srgbClr val="F3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