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Realizado</c:v>
                </c:pt>
              </c:strCache>
            </c:strRef>
          </c:tx>
          <c:spPr>
            <a:ln w="31750">
              <a:solidFill>
                <a:srgbClr val="081551"/>
              </a:solidFill>
            </a:ln>
          </c:spPr>
          <c:marker>
            <c:symbol val="circle"/>
            <c:size val="5"/>
            <c:spPr>
              <a:solidFill>
                <a:srgbClr val="081551"/>
              </a:solidFill>
              <a:ln>
                <a:solidFill>
                  <a:srgbClr val="08155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173.75227999999998</c:v>
                </c:pt>
                <c:pt idx="1">
                  <c:v>155.4607</c:v>
                </c:pt>
                <c:pt idx="2">
                  <c:v>160.45763</c:v>
                </c:pt>
                <c:pt idx="3">
                  <c:v>296.10756</c:v>
                </c:pt>
                <c:pt idx="4">
                  <c:v>243.25226</c:v>
                </c:pt>
                <c:pt idx="5">
                  <c:v>222.67766</c:v>
                </c:pt>
                <c:pt idx="6">
                  <c:v>119.066857522217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Orçado</c:v>
                </c:pt>
              </c:strCache>
            </c:strRef>
          </c:tx>
          <c:spPr>
            <a:ln w="22225">
              <a:solidFill>
                <a:srgbClr val="667085"/>
              </a:solidFill>
            </a:ln>
          </c:spPr>
          <c:marker>
            <c:symbol val="diamond"/>
            <c:size val="5"/>
            <c:spPr>
              <a:solidFill>
                <a:srgbClr val="667085"/>
              </a:solidFill>
              <a:ln>
                <a:solidFill>
                  <a:srgbClr val="667085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116.576143061617</c:v>
                </c:pt>
                <c:pt idx="1">
                  <c:v>112.370160433068</c:v>
                </c:pt>
                <c:pt idx="2">
                  <c:v>110.014102395986</c:v>
                </c:pt>
                <c:pt idx="3">
                  <c:v>147.244894961845</c:v>
                </c:pt>
                <c:pt idx="4">
                  <c:v>151.489197449074</c:v>
                </c:pt>
                <c:pt idx="5">
                  <c:v>132.33501031261798</c:v>
                </c:pt>
                <c:pt idx="6">
                  <c:v>125.54375451986901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 −50%</c:v>
                </c:pt>
              </c:strCache>
            </c:strRef>
          </c:tx>
          <c:spPr>
            <a:ln w="22225">
              <a:solidFill>
                <a:srgbClr val="13853A"/>
              </a:solidFill>
            </a:ln>
          </c:spPr>
          <c:marker>
            <c:symbol val="diamond"/>
            <c:size val="5"/>
            <c:spPr>
              <a:solidFill>
                <a:srgbClr val="13853A"/>
              </a:solidFill>
              <a:ln>
                <a:solidFill>
                  <a:srgbClr val="13853A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62.771879999999996</c:v>
                </c:pt>
                <c:pt idx="1">
                  <c:v>62.771879999999996</c:v>
                </c:pt>
                <c:pt idx="2">
                  <c:v>62.771879999999996</c:v>
                </c:pt>
                <c:pt idx="3">
                  <c:v>62.771879999999996</c:v>
                </c:pt>
                <c:pt idx="4">
                  <c:v>62.771879999999996</c:v>
                </c:pt>
                <c:pt idx="5">
                  <c:v>62.771879999999996</c:v>
                </c:pt>
                <c:pt idx="6">
                  <c:v>62.771879999999996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E0EA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DF1F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Apto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INDICADOR (Fato). Números vêm de dados_&lt;regiao&gt;.json; textos de narrativa_&lt;regiao&gt;.json (s1). Meta = -50% do orçado.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CAUSA/ondе (ociosidade). HC/dia e horas de espera x acionamento; faixa horária orienta o redimensionamento. Números do JSON (ociosidade, faixa_horaria).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CAUSA/quem (por GA). Ranking de horas de sobreaviso por gestor, espera x acionamento, e a concentração nas 3 primeiras áreas. Do JSON (sobreaviso_por_ga).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AÇÃO (proposta + FCA). Orçado-&gt;Proposta (-50%), 3 alavancas e a tabela FCA. Edite textos em narrativa_&lt;regiao&gt;.json (s4).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CUSTO DE HORAS · Ceará · 10/07/2026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A meta é cortar o custo de horas pela metade — e o dinheiro está no sobreaviso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ORÇADO DO CICLO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R$ 125,5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8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por mês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86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META · −50%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86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FFFFFF"/>
                </a:solidFill>
                <a:latin typeface="Aptos Display"/>
              </a:rPr>
              <a:t>R$ 62,8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86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C9D6EF"/>
                </a:solidFill>
                <a:latin typeface="Aptos"/>
              </a:rPr>
              <a:t>compromisso do próximo ciclo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24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REALIZADO (FOTO)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R$ 118,4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24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6% abaixo vs orçado · falta cortar 47%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28194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Custo mensal de horas — R$ mil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19100" y="3009900"/>
          <a:ext cx="5572125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286500" y="28194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Composição do custo (mês-foto)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6500" y="3048000"/>
            <a:ext cx="2858292" cy="32385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792" y="3048000"/>
            <a:ext cx="1413033" cy="3238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57825" y="3048000"/>
            <a:ext cx="762676" cy="32385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320501" y="3048000"/>
            <a:ext cx="268091" cy="323850"/>
          </a:xfrm>
          <a:prstGeom prst="rect">
            <a:avLst/>
          </a:prstGeom>
          <a:solidFill>
            <a:srgbClr val="98A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88593" y="3048000"/>
            <a:ext cx="50956" cy="323850"/>
          </a:xfrm>
          <a:prstGeom prst="rect">
            <a:avLst/>
          </a:prstGeom>
          <a:solidFill>
            <a:srgbClr val="C9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792" y="3409950"/>
            <a:ext cx="2175709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792" y="3448050"/>
            <a:ext cx="2175709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13853A"/>
                </a:solidFill>
                <a:latin typeface="Aptos"/>
              </a:rPr>
              <a:t>Sobreaviso = 41%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86500" y="3714750"/>
            <a:ext cx="1143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0" y="36957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DSR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0" y="36957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R$ 63,2 mil  ·  53%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86500" y="3924300"/>
            <a:ext cx="114300" cy="1143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7000" y="390525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Acionamento sobreaviso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0" y="390525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R$ 31,3 mil  ·  26%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86500" y="4133850"/>
            <a:ext cx="114300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0" y="41148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Espera sobreaviso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7000" y="41148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R$ 16,9 mil  ·  14%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86500" y="4343400"/>
            <a:ext cx="114300" cy="114300"/>
          </a:xfrm>
          <a:prstGeom prst="rect">
            <a:avLst/>
          </a:prstGeom>
          <a:solidFill>
            <a:srgbClr val="98A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7000" y="432435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Banco de horas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0" y="432435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R$ 5,9 mil  ·  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86500" y="4552950"/>
            <a:ext cx="114300" cy="114300"/>
          </a:xfrm>
          <a:prstGeom prst="rect">
            <a:avLst/>
          </a:prstGeom>
          <a:solidFill>
            <a:srgbClr val="C9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7000" y="45339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Feriados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0" y="45339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R$ 1,1 mil  ·  1%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86500" y="4876800"/>
            <a:ext cx="5353050" cy="121920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0" y="49911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DECISÃO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7000" y="5181600"/>
            <a:ext cx="49911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82238"/>
                </a:solidFill>
                <a:latin typeface="Aptos"/>
              </a:rPr>
              <a:t>Atacar o sobreaviso, que responde por 41% da cesta e é a parte mais controlável do custo. É onde o realizado historicamente estoura o orçado e onde há mais gordura de plantão ocioso para cortar sem afetar a operação.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DO CUSTO · ONDE ESTÁ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Paga-se muito plantão em espera e aciona-se pouco: só 19% do sobreaviso vira trabalho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33400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Técnicos por dia: em espera x acionados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1790700"/>
            <a:ext cx="495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Média por dia no período de sobreaviso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1907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Em espera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2209800"/>
            <a:ext cx="285750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09800"/>
            <a:ext cx="2857500" cy="12382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1100" y="2190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24,8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5336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552700"/>
            <a:ext cx="285750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57400" y="2552700"/>
            <a:ext cx="1002429" cy="12382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1100" y="2533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8,7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" y="2971800"/>
            <a:ext cx="4953000" cy="6286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067050"/>
            <a:ext cx="1428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3853A"/>
                </a:solidFill>
                <a:latin typeface="Aptos Display"/>
              </a:rPr>
              <a:t>35%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1250" y="3067050"/>
            <a:ext cx="31623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82238"/>
                </a:solidFill>
                <a:latin typeface="Aptos"/>
              </a:rPr>
              <a:t>dos técnicos de sobreaviso são de fato acionados por dia — o restante é plantão pago em espera.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7900" y="1428750"/>
            <a:ext cx="558165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7450" y="1581150"/>
            <a:ext cx="514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Horas de sobreaviso: espera x acionamento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450" y="1790700"/>
            <a:ext cx="5143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Soma do período (analítico nominal)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7450" y="20002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Espera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7450" y="2171700"/>
            <a:ext cx="5143500" cy="2476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7450" y="2171700"/>
            <a:ext cx="5143500" cy="24765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7450" y="2200275"/>
            <a:ext cx="502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4.598 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7450" y="25336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Acionamento efetivo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7450" y="2705100"/>
            <a:ext cx="5143500" cy="2476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7450" y="2705100"/>
            <a:ext cx="989909" cy="2476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33559" y="27336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081551"/>
                </a:solidFill>
                <a:latin typeface="Aptos"/>
              </a:rPr>
              <a:t>1.096 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7450" y="3162300"/>
            <a:ext cx="5143500" cy="5143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8900" y="3162300"/>
            <a:ext cx="9144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400" b="1">
                <a:solidFill>
                  <a:srgbClr val="42DF4B"/>
                </a:solidFill>
                <a:latin typeface="Aptos Display"/>
              </a:rPr>
              <a:t>19%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91400" y="3162300"/>
            <a:ext cx="386715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Aptos"/>
              </a:rPr>
              <a:t>do custo de sobreaviso vira acionamento — o resto é plantão em espera.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3962400"/>
            <a:ext cx="11106150" cy="2076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762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Quando o acionamento realmente acontece — horas por faixa horária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305300"/>
            <a:ext cx="857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Base para redimensionar a escala: manter plantão onde a demanda existe, enxugar nas faixas de baixo acionamento.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950" y="461010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Dia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33550" y="462915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733550" y="4629150"/>
            <a:ext cx="4476750" cy="12382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86500" y="46101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411 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24700" y="46101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38%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950" y="493395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Noite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733550" y="495300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33550" y="4953000"/>
            <a:ext cx="2798286" cy="12382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86500" y="49339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257 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24700" y="49339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23%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2950" y="525780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Madrugada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33550" y="527685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33550" y="5276850"/>
            <a:ext cx="2443712" cy="12382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86500" y="52578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224 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24700" y="52578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20%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2950" y="558165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Tarde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33550" y="560070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733550" y="5600700"/>
            <a:ext cx="2216588" cy="12382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6500" y="5581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203 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24700" y="5581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19%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58250" y="4629150"/>
            <a:ext cx="2552700" cy="12382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48750" y="4743450"/>
            <a:ext cx="2190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1476C9"/>
                </a:solidFill>
                <a:latin typeface="Aptos"/>
              </a:rPr>
              <a:t>POR QUE IMPORTA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48750" y="4914900"/>
            <a:ext cx="2209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 cada dia há em média 24,8 técnicos de sobreaviso e apenas 8,7 são acionados (35%). Em horas, são 4.598 h pagas em espera para 1.096 h de acionamento efetivo. Redimensionar a escala pela demanda real é o maior lever de custo.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ONDE DÓI · POR ÁREA DE GESTÃO (GA)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O custo de sobreaviso está concentrado em poucas áreas — a recuperação começa por elas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5905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Horas de sobreaviso por Área de Gestão (GA)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657350"/>
            <a:ext cx="5905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Barra = espera + acionamento · maior no topo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9050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Marcos Davi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09800" y="1924050"/>
            <a:ext cx="3619500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09800" y="1924050"/>
            <a:ext cx="3072446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1990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1907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Guilherme Magalhaes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9800" y="2209800"/>
            <a:ext cx="2468469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09800" y="2209800"/>
            <a:ext cx="2109283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469" y="2190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1357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4765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David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09800" y="2495550"/>
            <a:ext cx="1710814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9800" y="2495550"/>
            <a:ext cx="1377817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96814" y="24765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941 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27622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Bruno Santos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09800" y="2781300"/>
            <a:ext cx="60343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09800" y="2781300"/>
            <a:ext cx="428840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9431" y="27622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332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30480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Lindemberg Costa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09800" y="3067050"/>
            <a:ext cx="43775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09800" y="3067050"/>
            <a:ext cx="285347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23751" y="30480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241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" y="33337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Max Weber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09800" y="3352800"/>
            <a:ext cx="32663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09800" y="3352800"/>
            <a:ext cx="158041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12631" y="3333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180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400" y="36195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Fabbio Mardem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09800" y="3638550"/>
            <a:ext cx="275709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09800" y="3638550"/>
            <a:ext cx="233152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1709" y="36195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152 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00" y="39052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Mauro Jose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09800" y="3924300"/>
            <a:ext cx="268798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09800" y="3924300"/>
            <a:ext cx="212419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54798" y="39052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148 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09800" y="4248150"/>
            <a:ext cx="104775" cy="1047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62200" y="4229100"/>
            <a:ext cx="666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espera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248150"/>
            <a:ext cx="104775" cy="1047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24200" y="4229100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acionamento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67500" y="1428750"/>
            <a:ext cx="4972050" cy="14287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77050" y="1581150"/>
            <a:ext cx="2857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CONCENTRAÇÃO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7050" y="1771650"/>
            <a:ext cx="152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42DF4B"/>
                </a:solidFill>
                <a:latin typeface="Aptos Display"/>
              </a:rPr>
              <a:t>75%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7050" y="2286000"/>
            <a:ext cx="4572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FFFFFF"/>
                </a:solidFill>
                <a:latin typeface="Aptos"/>
              </a:rPr>
              <a:t>As 3 primeiras GAs concentram 75% de todas as horas de sobreaviso da regional. Não é problema difuso: é onde a escala precisa ser revista primeiro.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6667500" y="3048000"/>
          <a:ext cx="497205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0750"/>
                <a:gridCol w="838200"/>
                <a:gridCol w="952500"/>
                <a:gridCol w="990600"/>
              </a:tblGrid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Área de gestão (GA)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Horas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% acion.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Marcos Davi Freitas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18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1990 h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Guilherme Magalhaes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17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1357 h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David De Sousa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941 h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19%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Bruno Santos Lopes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332 h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29%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Lindemberg Costa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241 h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3853A"/>
                          </a:solidFill>
                          <a:latin typeface="Aptos"/>
                        </a:rPr>
                        <a:t>35%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Max Weber Alves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180 h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3853A"/>
                          </a:solidFill>
                          <a:latin typeface="Aptos"/>
                        </a:rPr>
                        <a:t>52%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PROPOSTA DO PRÓXIMO CICLO · FCA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Fechar o gap de R$ 55,7 mil/mês com três alavancas sobre a escala de sobreaviso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3429000" cy="1428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1543050"/>
            <a:ext cx="3048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DO ORÇADO À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179070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Orçado do ciclo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1943100"/>
            <a:ext cx="304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1">
                <a:solidFill>
                  <a:srgbClr val="182238"/>
                </a:solidFill>
                <a:latin typeface="Aptos"/>
              </a:rPr>
              <a:t>R$ 125,5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22288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Proposta · −50%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2381250"/>
            <a:ext cx="228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100" b="1">
                <a:solidFill>
                  <a:srgbClr val="13853A"/>
                </a:solidFill>
                <a:latin typeface="Aptos Display"/>
              </a:rPr>
              <a:t>R$ 62,8 mil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7500" y="2381250"/>
            <a:ext cx="914400" cy="247650"/>
          </a:xfrm>
          <a:prstGeom prst="roundRect">
            <a:avLst>
              <a:gd name="adj" fmla="val 6000"/>
            </a:avLst>
          </a:prstGeom>
          <a:solidFill>
            <a:srgbClr val="E8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7500" y="2381250"/>
            <a:ext cx="8763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13853A"/>
                </a:solidFill>
                <a:latin typeface="Aptos"/>
              </a:rPr>
              <a:t>−R$ 55,7 mil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5290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435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435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Dimensionar o plantão pela demanda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435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Só 35% dos técnicos de sobreaviso são acionados por dia. Reduzir o nº de plantonistas nas faixas de baixo acionamento, ajustando a escala ao histórico de chamados por dia e faixa horária.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845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990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990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Concentrar a escala na faixa que aciona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990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O acionamento se concentra na faixa Dia (38%). Enxugar plantão nas faixas de menor acionamento (madrugada e tarde) e manter cobertura só onde a demanda real justifica.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1545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Cobrar as GAs que concentram o custo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545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Meta global de redução distribuída como acompanhamento pelas áreas líderes de horas de sobreaviso, com revisão semanal de escala versus acionamento efetivo.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3048000"/>
            <a:ext cx="571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FCA — Fato · Causa · Ação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33400" y="3276600"/>
          <a:ext cx="11106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1250"/>
                <a:gridCol w="2857500"/>
                <a:gridCol w="3009900"/>
                <a:gridCol w="1047750"/>
                <a:gridCol w="1428750"/>
                <a:gridCol w="381000"/>
              </a:tblGrid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/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Custo de horas em R$ 118,4 mil/mês, ante meta de R$ 62,8 mil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Cesta puxada por DSR (53%) e sobreaviso (41%); o sobreaviso é a parte controlável e onde o realizado supera o orçado.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Definir a meta de R$ 62,8 mil/mês por regional e abrir o gap de R$ 55,7 mil em plano de escala por GA.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Início imediato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Gerência da regional + Planejamento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D94545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Só 19% do sobreaviso vira acionamento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24,8 técnicos/dia em espera para 8,7 acionados; escala dimensionada acima da demanda real.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Redimensionar a escala de sobreaviso pela demanda por dia e faixa horária; reduzir plantonistas nas faixas de baixo acionamento.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Próximo ciclo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Coordenação de campo + Planejamento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1476C9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Custo concentrado em poucas GAs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As 3 primeiras áreas concentram 75% das horas de sobreaviso.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Revisão semanal de escala versus acionamento nas GAs líderes; meta de redução acompanhada por área.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Semanal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das áreas (GA)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9A6200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