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Realizado</c:v>
                </c:pt>
              </c:strCache>
            </c:strRef>
          </c:tx>
          <c:spPr>
            <a:ln w="31750">
              <a:solidFill>
                <a:srgbClr val="081551"/>
              </a:solidFill>
            </a:ln>
          </c:spPr>
          <c:marker>
            <c:symbol val="circle"/>
            <c:size val="5"/>
            <c:spPr>
              <a:solidFill>
                <a:srgbClr val="081551"/>
              </a:solidFill>
              <a:ln>
                <a:solidFill>
                  <a:srgbClr val="081551"/>
                </a:solidFill>
              </a:ln>
            </c:spPr>
          </c:marker>
          <c:cat>
            <c:strRef>
              <c:f>Sheet1!$A$2:$A$8</c:f>
              <c:strCache>
                <c:ptCount val="7"/>
                <c:pt idx="0">
                  <c:v>Jan</c:v>
                </c:pt>
                <c:pt idx="1">
                  <c:v>Fev</c:v>
                </c:pt>
                <c:pt idx="2">
                  <c:v>Mar</c:v>
                </c:pt>
                <c:pt idx="3">
                  <c:v>Abr</c:v>
                </c:pt>
                <c:pt idx="4">
                  <c:v>Mai</c:v>
                </c:pt>
                <c:pt idx="5">
                  <c:v>Jun</c:v>
                </c:pt>
                <c:pt idx="6">
                  <c:v>Jul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173.75227999999998</c:v>
                </c:pt>
                <c:pt idx="1">
                  <c:v>155.4607</c:v>
                </c:pt>
                <c:pt idx="2">
                  <c:v>160.45763</c:v>
                </c:pt>
                <c:pt idx="3">
                  <c:v>296.10756</c:v>
                </c:pt>
                <c:pt idx="4">
                  <c:v>243.25226</c:v>
                </c:pt>
                <c:pt idx="5">
                  <c:v>222.67766</c:v>
                </c:pt>
                <c:pt idx="6">
                  <c:v>119.066857522217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Orçado</c:v>
                </c:pt>
              </c:strCache>
            </c:strRef>
          </c:tx>
          <c:spPr>
            <a:ln w="22225">
              <a:solidFill>
                <a:srgbClr val="667085"/>
              </a:solidFill>
            </a:ln>
          </c:spPr>
          <c:marker>
            <c:symbol val="diamond"/>
            <c:size val="5"/>
            <c:spPr>
              <a:solidFill>
                <a:srgbClr val="667085"/>
              </a:solidFill>
              <a:ln>
                <a:solidFill>
                  <a:srgbClr val="667085"/>
                </a:solidFill>
              </a:ln>
            </c:spPr>
          </c:marker>
          <c:cat>
            <c:strRef>
              <c:f>Sheet1!$A$2:$A$8</c:f>
              <c:strCache>
                <c:ptCount val="7"/>
                <c:pt idx="0">
                  <c:v>Jan</c:v>
                </c:pt>
                <c:pt idx="1">
                  <c:v>Fev</c:v>
                </c:pt>
                <c:pt idx="2">
                  <c:v>Mar</c:v>
                </c:pt>
                <c:pt idx="3">
                  <c:v>Abr</c:v>
                </c:pt>
                <c:pt idx="4">
                  <c:v>Mai</c:v>
                </c:pt>
                <c:pt idx="5">
                  <c:v>Jun</c:v>
                </c:pt>
                <c:pt idx="6">
                  <c:v>Jul</c:v>
                </c:pt>
              </c:strCache>
            </c: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116.576143061617</c:v>
                </c:pt>
                <c:pt idx="1">
                  <c:v>112.370160433068</c:v>
                </c:pt>
                <c:pt idx="2">
                  <c:v>110.014102395986</c:v>
                </c:pt>
                <c:pt idx="3">
                  <c:v>147.244894961845</c:v>
                </c:pt>
                <c:pt idx="4">
                  <c:v>151.489197449074</c:v>
                </c:pt>
                <c:pt idx="5">
                  <c:v>132.33501031261798</c:v>
                </c:pt>
                <c:pt idx="6">
                  <c:v>125.54375451986901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Meta −50%</c:v>
                </c:pt>
              </c:strCache>
            </c:strRef>
          </c:tx>
          <c:spPr>
            <a:ln w="22225">
              <a:solidFill>
                <a:srgbClr val="13853A"/>
              </a:solidFill>
            </a:ln>
          </c:spPr>
          <c:marker>
            <c:symbol val="diamond"/>
            <c:size val="5"/>
            <c:spPr>
              <a:solidFill>
                <a:srgbClr val="13853A"/>
              </a:solidFill>
              <a:ln>
                <a:solidFill>
                  <a:srgbClr val="13853A"/>
                </a:solidFill>
              </a:ln>
            </c:spPr>
          </c:marker>
          <c:cat>
            <c:strRef>
              <c:f>Sheet1!$A$2:$A$8</c:f>
              <c:strCache>
                <c:ptCount val="7"/>
                <c:pt idx="0">
                  <c:v>Jan</c:v>
                </c:pt>
                <c:pt idx="1">
                  <c:v>Fev</c:v>
                </c:pt>
                <c:pt idx="2">
                  <c:v>Mar</c:v>
                </c:pt>
                <c:pt idx="3">
                  <c:v>Abr</c:v>
                </c:pt>
                <c:pt idx="4">
                  <c:v>Mai</c:v>
                </c:pt>
                <c:pt idx="5">
                  <c:v>Jun</c:v>
                </c:pt>
                <c:pt idx="6">
                  <c:v>Jul</c:v>
                </c:pt>
              </c:strCache>
            </c: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62.771879999999996</c:v>
                </c:pt>
                <c:pt idx="1">
                  <c:v>62.771879999999996</c:v>
                </c:pt>
                <c:pt idx="2">
                  <c:v>62.771879999999996</c:v>
                </c:pt>
                <c:pt idx="3">
                  <c:v>62.771879999999996</c:v>
                </c:pt>
                <c:pt idx="4">
                  <c:v>62.771879999999996</c:v>
                </c:pt>
                <c:pt idx="5">
                  <c:v>62.771879999999996</c:v>
                </c:pt>
                <c:pt idx="6">
                  <c:v>62.771879999999996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D9E0EA"/>
            </a:solidFill>
          </a:ln>
        </c:spPr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>
          <c:spPr>
            <a:ln>
              <a:solidFill>
                <a:srgbClr val="EDF1F6"/>
              </a:solidFill>
            </a:ln>
          </c:spPr>
        </c:majorGridlines>
        <c:numFmt formatCode="#,##0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900">
          <a:latin typeface="Aptos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 — INDICADOR (Fato). Números vêm de dados_&lt;regiao&gt;.json; textos de narrativa_&lt;regiao&gt;.json (s1). Meta = -50% do orçado.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2 — CAUSA/onde (ociosidade + regimes). HC/dia e horas de espera x acionamento; painel C mostra dia útil (noturno) x FDS (diurno). Números do JSON (ociosidade, inteligencia.regimes).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3 — CAUSA/quem (por GA). Ranking de horas + frequência de acionamento: GA que aciona todo dia tem demanda estrutural (instrumento errado: sobreaviso); GA eventual usa sobreaviso corretamente. Do JSON (sobreaviso_por_ga, inteligencia.gas).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4 — RISCO x CUSTO-BENEFÍCIO. Dimensionamento por GA (mediana=turno fixo, p90=sobreaviso residual, máx=backup), regra de piso, conta da conversão e nominal dos técnicos mais acionados. Do JSON (inteligencia).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5 — AÇÃO (proposta + FCA cirúrgico). Orçado-&gt;Proposta (-50%), 3 alavancas e a tabela FCA com ações específicas por GA. Edite textos em narrativa_&lt;regiao&gt;.json (s5).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477500" cy="76200"/>
          </a:xfrm>
          <a:prstGeom prst="rect">
            <a:avLst/>
          </a:prstGeom>
          <a:solidFill>
            <a:srgbClr val="0815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477500" y="0"/>
            <a:ext cx="1714500" cy="76200"/>
          </a:xfrm>
          <a:prstGeom prst="rect">
            <a:avLst/>
          </a:prstGeom>
          <a:solidFill>
            <a:srgbClr val="42D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82250" y="285750"/>
            <a:ext cx="1238250" cy="34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</a:pPr>
            <a:r>
              <a:rPr sz="2700" b="0">
                <a:solidFill>
                  <a:srgbClr val="081551"/>
                </a:solidFill>
                <a:latin typeface="Aptos Display"/>
              </a:rPr>
              <a:t>alloha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82250" y="628650"/>
            <a:ext cx="1238250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</a:pPr>
            <a:r>
              <a:rPr sz="800" b="1">
                <a:solidFill>
                  <a:srgbClr val="13853A"/>
                </a:solidFill>
                <a:latin typeface="Aptos"/>
              </a:rPr>
              <a:t>F I B R 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3400" y="6572250"/>
            <a:ext cx="99060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900" b="0">
                <a:solidFill>
                  <a:srgbClr val="8B94A6"/>
                </a:solidFill>
                <a:latin typeface="Aptos"/>
              </a:rPr>
              <a:t>HUB de Horas Extras · Power BI · SUB BU R6 - CEARA · foto de 10/07/2026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53750" y="6572250"/>
            <a:ext cx="70485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</a:pPr>
            <a:r>
              <a:rPr sz="900" b="0">
                <a:solidFill>
                  <a:srgbClr val="8B94A6"/>
                </a:solidFill>
                <a:latin typeface="Aptos"/>
              </a:rPr>
              <a:t>1 / 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3400" y="323850"/>
            <a:ext cx="93345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200" b="1">
                <a:solidFill>
                  <a:srgbClr val="1476C9"/>
                </a:solidFill>
                <a:latin typeface="Aptos"/>
              </a:rPr>
              <a:t>CUSTO DE HORAS · Ceará · 10/07/2026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3400" y="552450"/>
            <a:ext cx="10001250" cy="723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081551"/>
                </a:solidFill>
                <a:latin typeface="Aptos Display"/>
              </a:rPr>
              <a:t>A meta é cortar o custo de horas pela metade — e o dinheiro está no sobreaviso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33400" y="1695450"/>
            <a:ext cx="354330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850" y="1828800"/>
            <a:ext cx="32004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1">
                <a:solidFill>
                  <a:srgbClr val="1476C9"/>
                </a:solidFill>
                <a:latin typeface="Aptos"/>
              </a:rPr>
              <a:t>ORÇADO DO CICLO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4850" y="2000250"/>
            <a:ext cx="32004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3000" b="1">
                <a:solidFill>
                  <a:srgbClr val="081551"/>
                </a:solidFill>
                <a:latin typeface="Aptos Display"/>
              </a:rPr>
              <a:t>R$ 125,5 mil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4850" y="2381250"/>
            <a:ext cx="320040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0">
                <a:solidFill>
                  <a:srgbClr val="667085"/>
                </a:solidFill>
                <a:latin typeface="Aptos"/>
              </a:rPr>
              <a:t>por mês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67200" y="1695450"/>
            <a:ext cx="3543300" cy="914400"/>
          </a:xfrm>
          <a:prstGeom prst="roundRect">
            <a:avLst>
              <a:gd name="adj" fmla="val 6000"/>
            </a:avLst>
          </a:prstGeom>
          <a:solidFill>
            <a:srgbClr val="0815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38650" y="1828800"/>
            <a:ext cx="32004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1">
                <a:solidFill>
                  <a:srgbClr val="9FC9EE"/>
                </a:solidFill>
                <a:latin typeface="Aptos"/>
              </a:rPr>
              <a:t>META · −50%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38650" y="2000250"/>
            <a:ext cx="32004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3000" b="1">
                <a:solidFill>
                  <a:srgbClr val="FFFFFF"/>
                </a:solidFill>
                <a:latin typeface="Aptos Display"/>
              </a:rPr>
              <a:t>R$ 62,8 mil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38650" y="2381250"/>
            <a:ext cx="320040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0">
                <a:solidFill>
                  <a:srgbClr val="C9D6EF"/>
                </a:solidFill>
                <a:latin typeface="Aptos"/>
              </a:rPr>
              <a:t>compromisso do próximo ciclo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01000" y="1695450"/>
            <a:ext cx="354330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172450" y="1828800"/>
            <a:ext cx="32004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1">
                <a:solidFill>
                  <a:srgbClr val="1476C9"/>
                </a:solidFill>
                <a:latin typeface="Aptos"/>
              </a:rPr>
              <a:t>REALIZADO (FOTO)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72450" y="2000250"/>
            <a:ext cx="32004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3000" b="1">
                <a:solidFill>
                  <a:srgbClr val="081551"/>
                </a:solidFill>
                <a:latin typeface="Aptos Display"/>
              </a:rPr>
              <a:t>R$ 118,4 mil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72450" y="2381250"/>
            <a:ext cx="320040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0">
                <a:solidFill>
                  <a:srgbClr val="667085"/>
                </a:solidFill>
                <a:latin typeface="Aptos"/>
              </a:rPr>
              <a:t>6% abaixo vs orçado · falta cortar 47%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3400" y="2819400"/>
            <a:ext cx="533400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250" b="1">
                <a:solidFill>
                  <a:srgbClr val="081551"/>
                </a:solidFill>
                <a:latin typeface="Aptos"/>
              </a:rPr>
              <a:t>Custo mensal de horas — R$ mil</a:t>
            </a:r>
          </a:p>
        </p:txBody>
      </p:sp>
      <p:graphicFrame>
        <p:nvGraphicFramePr>
          <p:cNvPr id="23" name="Chart 22"/>
          <p:cNvGraphicFramePr>
            <a:graphicFrameLocks noGrp="1"/>
          </p:cNvGraphicFramePr>
          <p:nvPr/>
        </p:nvGraphicFramePr>
        <p:xfrm>
          <a:off x="419100" y="3009900"/>
          <a:ext cx="5572125" cy="32004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4" name="TextBox 23"/>
          <p:cNvSpPr txBox="1"/>
          <p:nvPr/>
        </p:nvSpPr>
        <p:spPr>
          <a:xfrm>
            <a:off x="6286500" y="2819400"/>
            <a:ext cx="533400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250" b="1">
                <a:solidFill>
                  <a:srgbClr val="081551"/>
                </a:solidFill>
                <a:latin typeface="Aptos"/>
              </a:rPr>
              <a:t>Composição do custo (mês-foto)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286500" y="3048000"/>
            <a:ext cx="2858292" cy="323850"/>
          </a:xfrm>
          <a:prstGeom prst="rect">
            <a:avLst/>
          </a:prstGeom>
          <a:solidFill>
            <a:srgbClr val="1476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144792" y="3048000"/>
            <a:ext cx="1413033" cy="323850"/>
          </a:xfrm>
          <a:prstGeom prst="rect">
            <a:avLst/>
          </a:prstGeom>
          <a:solidFill>
            <a:srgbClr val="0815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0557825" y="3048000"/>
            <a:ext cx="762676" cy="323850"/>
          </a:xfrm>
          <a:prstGeom prst="rect">
            <a:avLst/>
          </a:prstGeom>
          <a:solidFill>
            <a:srgbClr val="3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1320501" y="3048000"/>
            <a:ext cx="268091" cy="323850"/>
          </a:xfrm>
          <a:prstGeom prst="rect">
            <a:avLst/>
          </a:prstGeom>
          <a:solidFill>
            <a:srgbClr val="98A2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1588593" y="3048000"/>
            <a:ext cx="50956" cy="323850"/>
          </a:xfrm>
          <a:prstGeom prst="rect">
            <a:avLst/>
          </a:prstGeom>
          <a:solidFill>
            <a:srgbClr val="C9D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9144792" y="3409950"/>
            <a:ext cx="2175709" cy="28575"/>
          </a:xfrm>
          <a:prstGeom prst="rect">
            <a:avLst/>
          </a:prstGeom>
          <a:solidFill>
            <a:srgbClr val="138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144792" y="3448050"/>
            <a:ext cx="2175709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050" b="1">
                <a:solidFill>
                  <a:srgbClr val="13853A"/>
                </a:solidFill>
                <a:latin typeface="Aptos"/>
              </a:rPr>
              <a:t>Sobreaviso = 41%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86500" y="3714750"/>
            <a:ext cx="114300" cy="114300"/>
          </a:xfrm>
          <a:prstGeom prst="rect">
            <a:avLst/>
          </a:prstGeom>
          <a:solidFill>
            <a:srgbClr val="1476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77000" y="3695700"/>
            <a:ext cx="28575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0">
                <a:solidFill>
                  <a:srgbClr val="182238"/>
                </a:solidFill>
                <a:latin typeface="Aptos"/>
              </a:rPr>
              <a:t>DSR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77000" y="3695700"/>
            <a:ext cx="52578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</a:pPr>
            <a:r>
              <a:rPr sz="1050" b="0">
                <a:solidFill>
                  <a:srgbClr val="667085"/>
                </a:solidFill>
                <a:latin typeface="Aptos"/>
              </a:rPr>
              <a:t>R$ 63,2 mil  ·  53%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286500" y="3924300"/>
            <a:ext cx="114300" cy="114300"/>
          </a:xfrm>
          <a:prstGeom prst="rect">
            <a:avLst/>
          </a:prstGeom>
          <a:solidFill>
            <a:srgbClr val="0815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77000" y="3905250"/>
            <a:ext cx="28575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0">
                <a:solidFill>
                  <a:srgbClr val="182238"/>
                </a:solidFill>
                <a:latin typeface="Aptos"/>
              </a:rPr>
              <a:t>Acionamento sobreaviso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77000" y="3905250"/>
            <a:ext cx="52578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</a:pPr>
            <a:r>
              <a:rPr sz="1050" b="0">
                <a:solidFill>
                  <a:srgbClr val="667085"/>
                </a:solidFill>
                <a:latin typeface="Aptos"/>
              </a:rPr>
              <a:t>R$ 31,3 mil  ·  26%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286500" y="4133850"/>
            <a:ext cx="114300" cy="114300"/>
          </a:xfrm>
          <a:prstGeom prst="rect">
            <a:avLst/>
          </a:prstGeom>
          <a:solidFill>
            <a:srgbClr val="3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477000" y="4114800"/>
            <a:ext cx="28575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0">
                <a:solidFill>
                  <a:srgbClr val="182238"/>
                </a:solidFill>
                <a:latin typeface="Aptos"/>
              </a:rPr>
              <a:t>Espera sobreaviso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477000" y="4114800"/>
            <a:ext cx="52578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</a:pPr>
            <a:r>
              <a:rPr sz="1050" b="0">
                <a:solidFill>
                  <a:srgbClr val="667085"/>
                </a:solidFill>
                <a:latin typeface="Aptos"/>
              </a:rPr>
              <a:t>R$ 16,9 mil  ·  14%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286500" y="4343400"/>
            <a:ext cx="114300" cy="114300"/>
          </a:xfrm>
          <a:prstGeom prst="rect">
            <a:avLst/>
          </a:prstGeom>
          <a:solidFill>
            <a:srgbClr val="98A2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477000" y="4324350"/>
            <a:ext cx="28575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0">
                <a:solidFill>
                  <a:srgbClr val="182238"/>
                </a:solidFill>
                <a:latin typeface="Aptos"/>
              </a:rPr>
              <a:t>Banco de horas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77000" y="4324350"/>
            <a:ext cx="52578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</a:pPr>
            <a:r>
              <a:rPr sz="1050" b="0">
                <a:solidFill>
                  <a:srgbClr val="667085"/>
                </a:solidFill>
                <a:latin typeface="Aptos"/>
              </a:rPr>
              <a:t>R$ 5,9 mil  ·  5%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286500" y="4552950"/>
            <a:ext cx="114300" cy="114300"/>
          </a:xfrm>
          <a:prstGeom prst="rect">
            <a:avLst/>
          </a:prstGeom>
          <a:solidFill>
            <a:srgbClr val="C9D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477000" y="4533900"/>
            <a:ext cx="28575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0">
                <a:solidFill>
                  <a:srgbClr val="182238"/>
                </a:solidFill>
                <a:latin typeface="Aptos"/>
              </a:rPr>
              <a:t>Feriados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477000" y="4533900"/>
            <a:ext cx="52578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</a:pPr>
            <a:r>
              <a:rPr sz="1050" b="0">
                <a:solidFill>
                  <a:srgbClr val="667085"/>
                </a:solidFill>
                <a:latin typeface="Aptos"/>
              </a:rPr>
              <a:t>R$ 1,1 mil  ·  1%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6286500" y="4876800"/>
            <a:ext cx="5353050" cy="1219200"/>
          </a:xfrm>
          <a:prstGeom prst="roundRect">
            <a:avLst>
              <a:gd name="adj" fmla="val 6000"/>
            </a:avLst>
          </a:prstGeom>
          <a:solidFill>
            <a:srgbClr val="F3F6FA"/>
          </a:solidFill>
          <a:ln w="12700">
            <a:solidFill>
              <a:srgbClr val="D9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477000" y="4991100"/>
            <a:ext cx="28575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1">
                <a:solidFill>
                  <a:srgbClr val="1476C9"/>
                </a:solidFill>
                <a:latin typeface="Aptos"/>
              </a:rPr>
              <a:t>DECISÃO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477000" y="5181600"/>
            <a:ext cx="4991100" cy="8572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1">
                <a:solidFill>
                  <a:srgbClr val="182238"/>
                </a:solidFill>
                <a:latin typeface="Aptos"/>
              </a:rPr>
              <a:t>Atacar o sobreaviso, que responde por 41% da cesta e é a parte mais controlável do custo. E o alvo principal aqui é o fim de semana: 65% das horas acionadas caem no sáb/dom — sinal de falta de escala regular de FDS, não de falta de plantão.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477500" cy="76200"/>
          </a:xfrm>
          <a:prstGeom prst="rect">
            <a:avLst/>
          </a:prstGeom>
          <a:solidFill>
            <a:srgbClr val="0815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477500" y="0"/>
            <a:ext cx="1714500" cy="76200"/>
          </a:xfrm>
          <a:prstGeom prst="rect">
            <a:avLst/>
          </a:prstGeom>
          <a:solidFill>
            <a:srgbClr val="42D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82250" y="285750"/>
            <a:ext cx="1238250" cy="34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</a:pPr>
            <a:r>
              <a:rPr sz="2700" b="0">
                <a:solidFill>
                  <a:srgbClr val="081551"/>
                </a:solidFill>
                <a:latin typeface="Aptos Display"/>
              </a:rPr>
              <a:t>alloha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82250" y="628650"/>
            <a:ext cx="1238250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</a:pPr>
            <a:r>
              <a:rPr sz="800" b="1">
                <a:solidFill>
                  <a:srgbClr val="13853A"/>
                </a:solidFill>
                <a:latin typeface="Aptos"/>
              </a:rPr>
              <a:t>F I B R 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3400" y="6572250"/>
            <a:ext cx="99060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900" b="0">
                <a:solidFill>
                  <a:srgbClr val="8B94A6"/>
                </a:solidFill>
                <a:latin typeface="Aptos"/>
              </a:rPr>
              <a:t>HUB de Horas Extras · Power BI · SUB BU R6 - CEARA · foto de 10/07/2026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53750" y="6572250"/>
            <a:ext cx="70485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</a:pPr>
            <a:r>
              <a:rPr sz="900" b="0">
                <a:solidFill>
                  <a:srgbClr val="8B94A6"/>
                </a:solidFill>
                <a:latin typeface="Aptos"/>
              </a:rPr>
              <a:t>2 / 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3400" y="323850"/>
            <a:ext cx="93345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200" b="1">
                <a:solidFill>
                  <a:srgbClr val="1476C9"/>
                </a:solidFill>
                <a:latin typeface="Aptos"/>
              </a:rPr>
              <a:t>DIAGNÓSTICO DO CUSTO · ONDE ESTÁ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3400" y="552450"/>
            <a:ext cx="10001250" cy="723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>
                <a:solidFill>
                  <a:srgbClr val="081551"/>
                </a:solidFill>
                <a:latin typeface="Aptos Display"/>
              </a:rPr>
              <a:t>Paga-se muito plantão em espera — e o acionamento tem dois padrões distintos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33400" y="1428750"/>
            <a:ext cx="5334000" cy="238125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2950" y="1581150"/>
            <a:ext cx="495300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300" b="1">
                <a:solidFill>
                  <a:srgbClr val="081551"/>
                </a:solidFill>
                <a:latin typeface="Aptos"/>
              </a:rPr>
              <a:t>Técnicos por dia: em espera x acionados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2950" y="1790700"/>
            <a:ext cx="4953000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0">
                <a:solidFill>
                  <a:srgbClr val="667085"/>
                </a:solidFill>
                <a:latin typeface="Aptos"/>
              </a:rPr>
              <a:t>Média por dia no período de sobreaviso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2950" y="2190750"/>
            <a:ext cx="123825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0">
                <a:solidFill>
                  <a:srgbClr val="182238"/>
                </a:solidFill>
                <a:latin typeface="Aptos"/>
              </a:rPr>
              <a:t>Em espera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057400" y="2209800"/>
            <a:ext cx="2857500" cy="123825"/>
          </a:xfrm>
          <a:prstGeom prst="rect">
            <a:avLst/>
          </a:prstGeom>
          <a:solidFill>
            <a:srgbClr val="E7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057400" y="2209800"/>
            <a:ext cx="2857500" cy="123825"/>
          </a:xfrm>
          <a:prstGeom prst="rect">
            <a:avLst/>
          </a:prstGeom>
          <a:solidFill>
            <a:srgbClr val="3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991100" y="2190750"/>
            <a:ext cx="66675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100" b="1">
                <a:solidFill>
                  <a:srgbClr val="182238"/>
                </a:solidFill>
                <a:latin typeface="Aptos"/>
              </a:rPr>
              <a:t>24,8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2950" y="2533650"/>
            <a:ext cx="123825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0">
                <a:solidFill>
                  <a:srgbClr val="182238"/>
                </a:solidFill>
                <a:latin typeface="Aptos"/>
              </a:rPr>
              <a:t>Acionados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057400" y="2552700"/>
            <a:ext cx="2857500" cy="123825"/>
          </a:xfrm>
          <a:prstGeom prst="rect">
            <a:avLst/>
          </a:prstGeom>
          <a:solidFill>
            <a:srgbClr val="E7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057400" y="2552700"/>
            <a:ext cx="1002429" cy="123825"/>
          </a:xfrm>
          <a:prstGeom prst="rect">
            <a:avLst/>
          </a:prstGeom>
          <a:solidFill>
            <a:srgbClr val="0815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91100" y="2533650"/>
            <a:ext cx="66675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100" b="1">
                <a:solidFill>
                  <a:srgbClr val="182238"/>
                </a:solidFill>
                <a:latin typeface="Aptos"/>
              </a:rPr>
              <a:t>8,7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42950" y="2971800"/>
            <a:ext cx="4953000" cy="628650"/>
          </a:xfrm>
          <a:prstGeom prst="roundRect">
            <a:avLst>
              <a:gd name="adj" fmla="val 6000"/>
            </a:avLst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4400" y="3067050"/>
            <a:ext cx="1428750" cy="4381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3000" b="1">
                <a:solidFill>
                  <a:srgbClr val="13853A"/>
                </a:solidFill>
                <a:latin typeface="Aptos Display"/>
              </a:rPr>
              <a:t>35%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381250" y="3067050"/>
            <a:ext cx="31623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150" b="0">
                <a:solidFill>
                  <a:srgbClr val="182238"/>
                </a:solidFill>
                <a:latin typeface="Aptos"/>
              </a:rPr>
              <a:t>dos técnicos de sobreaviso são de fato acionados por dia — o restante é plantão pago em espera.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057900" y="1428750"/>
            <a:ext cx="5581650" cy="238125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67450" y="1581150"/>
            <a:ext cx="514350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300" b="1">
                <a:solidFill>
                  <a:srgbClr val="081551"/>
                </a:solidFill>
                <a:latin typeface="Aptos"/>
              </a:rPr>
              <a:t>Horas de sobreaviso: espera x acionamento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7450" y="1790700"/>
            <a:ext cx="5143500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0">
                <a:solidFill>
                  <a:srgbClr val="667085"/>
                </a:solidFill>
                <a:latin typeface="Aptos"/>
              </a:rPr>
              <a:t>Soma do período (analítico nominal)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67450" y="2000250"/>
            <a:ext cx="11430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0">
                <a:solidFill>
                  <a:srgbClr val="182238"/>
                </a:solidFill>
                <a:latin typeface="Aptos"/>
              </a:rPr>
              <a:t>Espera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267450" y="2171700"/>
            <a:ext cx="5143500" cy="247650"/>
          </a:xfrm>
          <a:prstGeom prst="rect">
            <a:avLst/>
          </a:prstGeom>
          <a:solidFill>
            <a:srgbClr val="E7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267450" y="2171700"/>
            <a:ext cx="5143500" cy="247650"/>
          </a:xfrm>
          <a:prstGeom prst="rect">
            <a:avLst/>
          </a:prstGeom>
          <a:solidFill>
            <a:srgbClr val="3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267450" y="2200275"/>
            <a:ext cx="502920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</a:pPr>
            <a:r>
              <a:rPr sz="1100" b="1">
                <a:solidFill>
                  <a:srgbClr val="FFFFFF"/>
                </a:solidFill>
                <a:latin typeface="Aptos"/>
              </a:rPr>
              <a:t>4.598 h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67450" y="2533650"/>
            <a:ext cx="19050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0">
                <a:solidFill>
                  <a:srgbClr val="182238"/>
                </a:solidFill>
                <a:latin typeface="Aptos"/>
              </a:rPr>
              <a:t>Acionamento efetivo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67450" y="2705100"/>
            <a:ext cx="5143500" cy="247650"/>
          </a:xfrm>
          <a:prstGeom prst="rect">
            <a:avLst/>
          </a:prstGeom>
          <a:solidFill>
            <a:srgbClr val="E7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67450" y="2705100"/>
            <a:ext cx="989909" cy="247650"/>
          </a:xfrm>
          <a:prstGeom prst="rect">
            <a:avLst/>
          </a:prstGeom>
          <a:solidFill>
            <a:srgbClr val="0815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333559" y="2733675"/>
            <a:ext cx="114300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100" b="1">
                <a:solidFill>
                  <a:srgbClr val="081551"/>
                </a:solidFill>
                <a:latin typeface="Aptos"/>
              </a:rPr>
              <a:t>1.096 h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267450" y="3162300"/>
            <a:ext cx="5143500" cy="514350"/>
          </a:xfrm>
          <a:prstGeom prst="roundRect">
            <a:avLst>
              <a:gd name="adj" fmla="val 6000"/>
            </a:avLst>
          </a:prstGeom>
          <a:solidFill>
            <a:srgbClr val="0815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38900" y="3162300"/>
            <a:ext cx="914400" cy="5143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2400" b="1">
                <a:solidFill>
                  <a:srgbClr val="42DF4B"/>
                </a:solidFill>
                <a:latin typeface="Aptos Display"/>
              </a:rPr>
              <a:t>19%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391400" y="3162300"/>
            <a:ext cx="3867150" cy="5143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150" b="0">
                <a:solidFill>
                  <a:srgbClr val="FFFFFF"/>
                </a:solidFill>
                <a:latin typeface="Aptos"/>
              </a:rPr>
              <a:t>do custo de sobreaviso vira acionamento — o resto é plantão em espera.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33400" y="3962400"/>
            <a:ext cx="11106150" cy="207645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42950" y="4095750"/>
            <a:ext cx="857250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300" b="1">
                <a:solidFill>
                  <a:srgbClr val="081551"/>
                </a:solidFill>
                <a:latin typeface="Aptos"/>
              </a:rPr>
              <a:t>Não é um problema só: no dia útil o acionamento é noturno; no fim de semana, diurno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42950" y="4305300"/>
            <a:ext cx="85725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0">
                <a:solidFill>
                  <a:srgbClr val="667085"/>
                </a:solidFill>
                <a:latin typeface="Aptos"/>
              </a:rPr>
              <a:t>Horas de acionamento por faixa horária, separadas em dia útil × sábado/domingo.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42950" y="4610100"/>
            <a:ext cx="8763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0">
                <a:solidFill>
                  <a:srgbClr val="182238"/>
                </a:solidFill>
                <a:latin typeface="Aptos"/>
              </a:rPr>
              <a:t>Noite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657350" y="4629150"/>
            <a:ext cx="4191000" cy="133350"/>
          </a:xfrm>
          <a:prstGeom prst="rect">
            <a:avLst/>
          </a:prstGeom>
          <a:solidFill>
            <a:srgbClr val="E7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1657350" y="4629150"/>
            <a:ext cx="1516674" cy="133350"/>
          </a:xfrm>
          <a:prstGeom prst="rect">
            <a:avLst/>
          </a:prstGeom>
          <a:solidFill>
            <a:srgbClr val="0815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3174024" y="4629150"/>
            <a:ext cx="803725" cy="133350"/>
          </a:xfrm>
          <a:prstGeom prst="rect">
            <a:avLst/>
          </a:prstGeom>
          <a:solidFill>
            <a:srgbClr val="138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943600" y="4610100"/>
            <a:ext cx="6096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1">
                <a:solidFill>
                  <a:srgbClr val="182238"/>
                </a:solidFill>
                <a:latin typeface="Aptos"/>
              </a:rPr>
              <a:t>228 h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572250" y="4610100"/>
            <a:ext cx="7620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0">
                <a:solidFill>
                  <a:srgbClr val="667085"/>
                </a:solidFill>
                <a:latin typeface="Aptos"/>
              </a:rPr>
              <a:t>35% FDS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42950" y="4933950"/>
            <a:ext cx="8763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0">
                <a:solidFill>
                  <a:srgbClr val="182238"/>
                </a:solidFill>
                <a:latin typeface="Aptos"/>
              </a:rPr>
              <a:t>Madrugada</a:t>
            </a:r>
          </a:p>
        </p:txBody>
      </p:sp>
      <p:sp>
        <p:nvSpPr>
          <p:cNvPr id="48" name="Rectangle 47"/>
          <p:cNvSpPr/>
          <p:nvPr/>
        </p:nvSpPr>
        <p:spPr>
          <a:xfrm>
            <a:off x="1657350" y="4953000"/>
            <a:ext cx="4191000" cy="133350"/>
          </a:xfrm>
          <a:prstGeom prst="rect">
            <a:avLst/>
          </a:prstGeom>
          <a:solidFill>
            <a:srgbClr val="E7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1657350" y="4953000"/>
            <a:ext cx="2041952" cy="133350"/>
          </a:xfrm>
          <a:prstGeom prst="rect">
            <a:avLst/>
          </a:prstGeom>
          <a:solidFill>
            <a:srgbClr val="0815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3699302" y="4953000"/>
            <a:ext cx="1556453" cy="133350"/>
          </a:xfrm>
          <a:prstGeom prst="rect">
            <a:avLst/>
          </a:prstGeom>
          <a:solidFill>
            <a:srgbClr val="138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943600" y="4933950"/>
            <a:ext cx="6096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1">
                <a:solidFill>
                  <a:srgbClr val="182238"/>
                </a:solidFill>
                <a:latin typeface="Aptos"/>
              </a:rPr>
              <a:t>353 h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572250" y="4933950"/>
            <a:ext cx="7620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0">
                <a:solidFill>
                  <a:srgbClr val="667085"/>
                </a:solidFill>
                <a:latin typeface="Aptos"/>
              </a:rPr>
              <a:t>43% FDS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42950" y="5257800"/>
            <a:ext cx="8763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0">
                <a:solidFill>
                  <a:srgbClr val="182238"/>
                </a:solidFill>
                <a:latin typeface="Aptos"/>
              </a:rPr>
              <a:t>Dia</a:t>
            </a:r>
          </a:p>
        </p:txBody>
      </p:sp>
      <p:sp>
        <p:nvSpPr>
          <p:cNvPr id="54" name="Rectangle 53"/>
          <p:cNvSpPr/>
          <p:nvPr/>
        </p:nvSpPr>
        <p:spPr>
          <a:xfrm>
            <a:off x="1657350" y="5276850"/>
            <a:ext cx="4191000" cy="133350"/>
          </a:xfrm>
          <a:prstGeom prst="rect">
            <a:avLst/>
          </a:prstGeom>
          <a:solidFill>
            <a:srgbClr val="E7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1657350" y="5276850"/>
            <a:ext cx="19050" cy="133350"/>
          </a:xfrm>
          <a:prstGeom prst="rect">
            <a:avLst/>
          </a:prstGeom>
          <a:solidFill>
            <a:srgbClr val="0815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1669589" y="5276850"/>
            <a:ext cx="4178760" cy="133350"/>
          </a:xfrm>
          <a:prstGeom prst="rect">
            <a:avLst/>
          </a:prstGeom>
          <a:solidFill>
            <a:srgbClr val="138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943600" y="5257800"/>
            <a:ext cx="6096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1">
                <a:solidFill>
                  <a:srgbClr val="182238"/>
                </a:solidFill>
                <a:latin typeface="Aptos"/>
              </a:rPr>
              <a:t>411 h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572250" y="5257800"/>
            <a:ext cx="7620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1">
                <a:solidFill>
                  <a:srgbClr val="13853A"/>
                </a:solidFill>
                <a:latin typeface="Aptos"/>
              </a:rPr>
              <a:t>100% FDS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42950" y="5581650"/>
            <a:ext cx="8763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0">
                <a:solidFill>
                  <a:srgbClr val="182238"/>
                </a:solidFill>
                <a:latin typeface="Aptos"/>
              </a:rPr>
              <a:t>Tarde</a:t>
            </a:r>
          </a:p>
        </p:txBody>
      </p:sp>
      <p:sp>
        <p:nvSpPr>
          <p:cNvPr id="60" name="Rectangle 59"/>
          <p:cNvSpPr/>
          <p:nvPr/>
        </p:nvSpPr>
        <p:spPr>
          <a:xfrm>
            <a:off x="1657350" y="5600700"/>
            <a:ext cx="4191000" cy="133350"/>
          </a:xfrm>
          <a:prstGeom prst="rect">
            <a:avLst/>
          </a:prstGeom>
          <a:solidFill>
            <a:srgbClr val="E7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1657350" y="5600700"/>
            <a:ext cx="304966" cy="133350"/>
          </a:xfrm>
          <a:prstGeom prst="rect">
            <a:avLst/>
          </a:prstGeom>
          <a:solidFill>
            <a:srgbClr val="0815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1962316" y="5600700"/>
            <a:ext cx="758847" cy="133350"/>
          </a:xfrm>
          <a:prstGeom prst="rect">
            <a:avLst/>
          </a:prstGeom>
          <a:solidFill>
            <a:srgbClr val="138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5943600" y="5581650"/>
            <a:ext cx="6096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1">
                <a:solidFill>
                  <a:srgbClr val="182238"/>
                </a:solidFill>
                <a:latin typeface="Aptos"/>
              </a:rPr>
              <a:t>104 h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572250" y="5581650"/>
            <a:ext cx="7620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1">
                <a:solidFill>
                  <a:srgbClr val="13853A"/>
                </a:solidFill>
                <a:latin typeface="Aptos"/>
              </a:rPr>
              <a:t>71% FDS</a:t>
            </a:r>
          </a:p>
        </p:txBody>
      </p:sp>
      <p:sp>
        <p:nvSpPr>
          <p:cNvPr id="65" name="Rectangle 64"/>
          <p:cNvSpPr/>
          <p:nvPr/>
        </p:nvSpPr>
        <p:spPr>
          <a:xfrm>
            <a:off x="1657350" y="5943600"/>
            <a:ext cx="104775" cy="104775"/>
          </a:xfrm>
          <a:prstGeom prst="rect">
            <a:avLst/>
          </a:prstGeom>
          <a:solidFill>
            <a:srgbClr val="0815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1809750" y="5924550"/>
            <a:ext cx="666750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950" b="0">
                <a:solidFill>
                  <a:srgbClr val="667085"/>
                </a:solidFill>
                <a:latin typeface="Aptos"/>
              </a:rPr>
              <a:t>dia útil</a:t>
            </a:r>
          </a:p>
        </p:txBody>
      </p:sp>
      <p:sp>
        <p:nvSpPr>
          <p:cNvPr id="67" name="Rectangle 66"/>
          <p:cNvSpPr/>
          <p:nvPr/>
        </p:nvSpPr>
        <p:spPr>
          <a:xfrm>
            <a:off x="2419350" y="5943600"/>
            <a:ext cx="104775" cy="104775"/>
          </a:xfrm>
          <a:prstGeom prst="rect">
            <a:avLst/>
          </a:prstGeom>
          <a:solidFill>
            <a:srgbClr val="138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2571750" y="5924550"/>
            <a:ext cx="1047750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950" b="0">
                <a:solidFill>
                  <a:srgbClr val="667085"/>
                </a:solidFill>
                <a:latin typeface="Aptos"/>
              </a:rPr>
              <a:t>fim de semana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8096250" y="4572000"/>
            <a:ext cx="3314700" cy="1428750"/>
          </a:xfrm>
          <a:prstGeom prst="roundRect">
            <a:avLst>
              <a:gd name="adj" fmla="val 6000"/>
            </a:avLst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8286750" y="4667250"/>
            <a:ext cx="2952750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1">
                <a:solidFill>
                  <a:srgbClr val="1476C9"/>
                </a:solidFill>
                <a:latin typeface="Aptos"/>
              </a:rPr>
              <a:t>DOIS REGIMES, DUAS SOLUÇÕES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286750" y="4838700"/>
            <a:ext cx="2971800" cy="1104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</a:pPr>
            <a:r>
              <a:rPr sz="1000" b="0">
                <a:solidFill>
                  <a:srgbClr val="182238"/>
                </a:solidFill>
                <a:latin typeface="Aptos"/>
              </a:rPr>
              <a:t>No dia útil o acionamento é noturno (349 h pós-jornada). No fim de semana é diurno (484 h), porque não há escala regular de sáb/dom — 65% das horas acionadas caem no FDS, pagas com adicional maior. Plantão noturno e cobertura de FDS são problemas diferentes, com soluções diferentes.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477500" cy="76200"/>
          </a:xfrm>
          <a:prstGeom prst="rect">
            <a:avLst/>
          </a:prstGeom>
          <a:solidFill>
            <a:srgbClr val="0815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477500" y="0"/>
            <a:ext cx="1714500" cy="76200"/>
          </a:xfrm>
          <a:prstGeom prst="rect">
            <a:avLst/>
          </a:prstGeom>
          <a:solidFill>
            <a:srgbClr val="42D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82250" y="285750"/>
            <a:ext cx="1238250" cy="34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</a:pPr>
            <a:r>
              <a:rPr sz="2700" b="0">
                <a:solidFill>
                  <a:srgbClr val="081551"/>
                </a:solidFill>
                <a:latin typeface="Aptos Display"/>
              </a:rPr>
              <a:t>alloha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82250" y="628650"/>
            <a:ext cx="1238250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</a:pPr>
            <a:r>
              <a:rPr sz="800" b="1">
                <a:solidFill>
                  <a:srgbClr val="13853A"/>
                </a:solidFill>
                <a:latin typeface="Aptos"/>
              </a:rPr>
              <a:t>F I B R 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3400" y="6572250"/>
            <a:ext cx="99060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900" b="0">
                <a:solidFill>
                  <a:srgbClr val="8B94A6"/>
                </a:solidFill>
                <a:latin typeface="Aptos"/>
              </a:rPr>
              <a:t>HUB de Horas Extras · Power BI · SUB BU R6 - CEARA · foto de 10/07/2026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53750" y="6572250"/>
            <a:ext cx="70485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</a:pPr>
            <a:r>
              <a:rPr sz="900" b="0">
                <a:solidFill>
                  <a:srgbClr val="8B94A6"/>
                </a:solidFill>
                <a:latin typeface="Aptos"/>
              </a:rPr>
              <a:t>3 / 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3400" y="323850"/>
            <a:ext cx="93345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200" b="1">
                <a:solidFill>
                  <a:srgbClr val="1476C9"/>
                </a:solidFill>
                <a:latin typeface="Aptos"/>
              </a:rPr>
              <a:t>ONDE DÓI · POR ÁREA DE GESTÃO (GA)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3400" y="552450"/>
            <a:ext cx="10001250" cy="723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>
                <a:solidFill>
                  <a:srgbClr val="081551"/>
                </a:solidFill>
                <a:latin typeface="Aptos Display"/>
              </a:rPr>
              <a:t>O custo está concentrado — e a frequência de acionamento diz qual é o remédio certo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3400" y="1447800"/>
            <a:ext cx="590550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300" b="1">
                <a:solidFill>
                  <a:srgbClr val="081551"/>
                </a:solidFill>
                <a:latin typeface="Aptos"/>
              </a:rPr>
              <a:t>Horas de sobreaviso por Área de Gestão (GA)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3400" y="1657350"/>
            <a:ext cx="5905500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0">
                <a:solidFill>
                  <a:srgbClr val="667085"/>
                </a:solidFill>
                <a:latin typeface="Aptos"/>
              </a:rPr>
              <a:t>Barra = espera + acionamento · maior no topo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3400" y="1905000"/>
            <a:ext cx="161925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0">
                <a:solidFill>
                  <a:srgbClr val="182238"/>
                </a:solidFill>
                <a:latin typeface="Aptos"/>
              </a:rPr>
              <a:t>Marcos Davi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209800" y="1924050"/>
            <a:ext cx="3619500" cy="142875"/>
          </a:xfrm>
          <a:prstGeom prst="rect">
            <a:avLst/>
          </a:prstGeom>
          <a:solidFill>
            <a:srgbClr val="3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209800" y="1924050"/>
            <a:ext cx="3072446" cy="142875"/>
          </a:xfrm>
          <a:prstGeom prst="rect">
            <a:avLst/>
          </a:prstGeom>
          <a:solidFill>
            <a:srgbClr val="0815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05500" y="1905000"/>
            <a:ext cx="66675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1">
                <a:solidFill>
                  <a:srgbClr val="182238"/>
                </a:solidFill>
                <a:latin typeface="Aptos"/>
              </a:rPr>
              <a:t>1990 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3400" y="2190750"/>
            <a:ext cx="161925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0">
                <a:solidFill>
                  <a:srgbClr val="182238"/>
                </a:solidFill>
                <a:latin typeface="Aptos"/>
              </a:rPr>
              <a:t>Guilherme Magalhaes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209800" y="2209800"/>
            <a:ext cx="2468469" cy="142875"/>
          </a:xfrm>
          <a:prstGeom prst="rect">
            <a:avLst/>
          </a:prstGeom>
          <a:solidFill>
            <a:srgbClr val="3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209800" y="2209800"/>
            <a:ext cx="2109283" cy="142875"/>
          </a:xfrm>
          <a:prstGeom prst="rect">
            <a:avLst/>
          </a:prstGeom>
          <a:solidFill>
            <a:srgbClr val="0815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754469" y="2190750"/>
            <a:ext cx="66675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1">
                <a:solidFill>
                  <a:srgbClr val="182238"/>
                </a:solidFill>
                <a:latin typeface="Aptos"/>
              </a:rPr>
              <a:t>1357 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3400" y="2476500"/>
            <a:ext cx="161925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0">
                <a:solidFill>
                  <a:srgbClr val="182238"/>
                </a:solidFill>
                <a:latin typeface="Aptos"/>
              </a:rPr>
              <a:t>David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209800" y="2495550"/>
            <a:ext cx="1710814" cy="142875"/>
          </a:xfrm>
          <a:prstGeom prst="rect">
            <a:avLst/>
          </a:prstGeom>
          <a:solidFill>
            <a:srgbClr val="3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209800" y="2495550"/>
            <a:ext cx="1377817" cy="142875"/>
          </a:xfrm>
          <a:prstGeom prst="rect">
            <a:avLst/>
          </a:prstGeom>
          <a:solidFill>
            <a:srgbClr val="0815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996814" y="2476500"/>
            <a:ext cx="66675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1">
                <a:solidFill>
                  <a:srgbClr val="182238"/>
                </a:solidFill>
                <a:latin typeface="Aptos"/>
              </a:rPr>
              <a:t>941 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3400" y="2762250"/>
            <a:ext cx="161925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0">
                <a:solidFill>
                  <a:srgbClr val="182238"/>
                </a:solidFill>
                <a:latin typeface="Aptos"/>
              </a:rPr>
              <a:t>Bruno Santos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209800" y="2781300"/>
            <a:ext cx="603431" cy="142875"/>
          </a:xfrm>
          <a:prstGeom prst="rect">
            <a:avLst/>
          </a:prstGeom>
          <a:solidFill>
            <a:srgbClr val="3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2209800" y="2781300"/>
            <a:ext cx="428840" cy="142875"/>
          </a:xfrm>
          <a:prstGeom prst="rect">
            <a:avLst/>
          </a:prstGeom>
          <a:solidFill>
            <a:srgbClr val="0815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889431" y="2762250"/>
            <a:ext cx="66675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1">
                <a:solidFill>
                  <a:srgbClr val="182238"/>
                </a:solidFill>
                <a:latin typeface="Aptos"/>
              </a:rPr>
              <a:t>332 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33400" y="3048000"/>
            <a:ext cx="161925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0">
                <a:solidFill>
                  <a:srgbClr val="182238"/>
                </a:solidFill>
                <a:latin typeface="Aptos"/>
              </a:rPr>
              <a:t>Lindemberg Costa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209800" y="3067050"/>
            <a:ext cx="437751" cy="142875"/>
          </a:xfrm>
          <a:prstGeom prst="rect">
            <a:avLst/>
          </a:prstGeom>
          <a:solidFill>
            <a:srgbClr val="3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2209800" y="3067050"/>
            <a:ext cx="285347" cy="142875"/>
          </a:xfrm>
          <a:prstGeom prst="rect">
            <a:avLst/>
          </a:prstGeom>
          <a:solidFill>
            <a:srgbClr val="0815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723751" y="3048000"/>
            <a:ext cx="66675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1">
                <a:solidFill>
                  <a:srgbClr val="182238"/>
                </a:solidFill>
                <a:latin typeface="Aptos"/>
              </a:rPr>
              <a:t>241 h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33400" y="3333750"/>
            <a:ext cx="161925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0">
                <a:solidFill>
                  <a:srgbClr val="182238"/>
                </a:solidFill>
                <a:latin typeface="Aptos"/>
              </a:rPr>
              <a:t>Max Weber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209800" y="3352800"/>
            <a:ext cx="326631" cy="142875"/>
          </a:xfrm>
          <a:prstGeom prst="rect">
            <a:avLst/>
          </a:prstGeom>
          <a:solidFill>
            <a:srgbClr val="3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2209800" y="3352800"/>
            <a:ext cx="158041" cy="142875"/>
          </a:xfrm>
          <a:prstGeom prst="rect">
            <a:avLst/>
          </a:prstGeom>
          <a:solidFill>
            <a:srgbClr val="0815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612631" y="3333750"/>
            <a:ext cx="66675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1">
                <a:solidFill>
                  <a:srgbClr val="182238"/>
                </a:solidFill>
                <a:latin typeface="Aptos"/>
              </a:rPr>
              <a:t>180 h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33400" y="3619500"/>
            <a:ext cx="161925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0">
                <a:solidFill>
                  <a:srgbClr val="182238"/>
                </a:solidFill>
                <a:latin typeface="Aptos"/>
              </a:rPr>
              <a:t>Fabbio Mardem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209800" y="3638550"/>
            <a:ext cx="275709" cy="142875"/>
          </a:xfrm>
          <a:prstGeom prst="rect">
            <a:avLst/>
          </a:prstGeom>
          <a:solidFill>
            <a:srgbClr val="3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2209800" y="3638550"/>
            <a:ext cx="233152" cy="142875"/>
          </a:xfrm>
          <a:prstGeom prst="rect">
            <a:avLst/>
          </a:prstGeom>
          <a:solidFill>
            <a:srgbClr val="0815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561709" y="3619500"/>
            <a:ext cx="66675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1">
                <a:solidFill>
                  <a:srgbClr val="182238"/>
                </a:solidFill>
                <a:latin typeface="Aptos"/>
              </a:rPr>
              <a:t>152 h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33400" y="3905250"/>
            <a:ext cx="161925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0">
                <a:solidFill>
                  <a:srgbClr val="182238"/>
                </a:solidFill>
                <a:latin typeface="Aptos"/>
              </a:rPr>
              <a:t>Mauro Jose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209800" y="3924300"/>
            <a:ext cx="268798" cy="142875"/>
          </a:xfrm>
          <a:prstGeom prst="rect">
            <a:avLst/>
          </a:prstGeom>
          <a:solidFill>
            <a:srgbClr val="3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2209800" y="3924300"/>
            <a:ext cx="212419" cy="142875"/>
          </a:xfrm>
          <a:prstGeom prst="rect">
            <a:avLst/>
          </a:prstGeom>
          <a:solidFill>
            <a:srgbClr val="0815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554798" y="3905250"/>
            <a:ext cx="66675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1">
                <a:solidFill>
                  <a:srgbClr val="182238"/>
                </a:solidFill>
                <a:latin typeface="Aptos"/>
              </a:rPr>
              <a:t>148 h</a:t>
            </a:r>
          </a:p>
        </p:txBody>
      </p:sp>
      <p:sp>
        <p:nvSpPr>
          <p:cNvPr id="44" name="Rectangle 43"/>
          <p:cNvSpPr/>
          <p:nvPr/>
        </p:nvSpPr>
        <p:spPr>
          <a:xfrm>
            <a:off x="2209800" y="4248150"/>
            <a:ext cx="104775" cy="104775"/>
          </a:xfrm>
          <a:prstGeom prst="rect">
            <a:avLst/>
          </a:prstGeom>
          <a:solidFill>
            <a:srgbClr val="0815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362200" y="4229100"/>
            <a:ext cx="666750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950" b="0">
                <a:solidFill>
                  <a:srgbClr val="667085"/>
                </a:solidFill>
                <a:latin typeface="Aptos"/>
              </a:rPr>
              <a:t>espera</a:t>
            </a:r>
          </a:p>
        </p:txBody>
      </p:sp>
      <p:sp>
        <p:nvSpPr>
          <p:cNvPr id="46" name="Rectangle 45"/>
          <p:cNvSpPr/>
          <p:nvPr/>
        </p:nvSpPr>
        <p:spPr>
          <a:xfrm>
            <a:off x="2971800" y="4248150"/>
            <a:ext cx="104775" cy="104775"/>
          </a:xfrm>
          <a:prstGeom prst="rect">
            <a:avLst/>
          </a:prstGeom>
          <a:solidFill>
            <a:srgbClr val="3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3124200" y="4229100"/>
            <a:ext cx="952500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950" b="0">
                <a:solidFill>
                  <a:srgbClr val="667085"/>
                </a:solidFill>
                <a:latin typeface="Aptos"/>
              </a:rPr>
              <a:t>acionamento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6667500" y="1428750"/>
            <a:ext cx="4972050" cy="1428750"/>
          </a:xfrm>
          <a:prstGeom prst="roundRect">
            <a:avLst>
              <a:gd name="adj" fmla="val 6000"/>
            </a:avLst>
          </a:prstGeom>
          <a:solidFill>
            <a:srgbClr val="0815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877050" y="1581150"/>
            <a:ext cx="2857500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1">
                <a:solidFill>
                  <a:srgbClr val="9FC9EE"/>
                </a:solidFill>
                <a:latin typeface="Aptos"/>
              </a:rPr>
              <a:t>CONCENTRAÇÃO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877050" y="1771650"/>
            <a:ext cx="152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3800" b="1">
                <a:solidFill>
                  <a:srgbClr val="42DF4B"/>
                </a:solidFill>
                <a:latin typeface="Aptos Display"/>
              </a:rPr>
              <a:t>75%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877050" y="2266950"/>
            <a:ext cx="4572000" cy="533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100" b="0">
                <a:solidFill>
                  <a:srgbClr val="FFFFFF"/>
                </a:solidFill>
                <a:latin typeface="Aptos"/>
              </a:rPr>
              <a:t>As 3 primeiras GAs concentram 75% das horas. Onde o acionamento é quase diário, o instrumento certo é turno fixo; nas demais, enxugar o plantão pela demanda real.</a:t>
            </a:r>
          </a:p>
        </p:txBody>
      </p:sp>
      <p:graphicFrame>
        <p:nvGraphicFramePr>
          <p:cNvPr id="52" name="Table 51"/>
          <p:cNvGraphicFramePr>
            <a:graphicFrameLocks noGrp="1"/>
          </p:cNvGraphicFramePr>
          <p:nvPr/>
        </p:nvGraphicFramePr>
        <p:xfrm>
          <a:off x="6667500" y="3048000"/>
          <a:ext cx="4972050" cy="28575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943100"/>
                <a:gridCol w="1066800"/>
                <a:gridCol w="914400"/>
                <a:gridCol w="1047750"/>
              </a:tblGrid>
              <a:tr h="408214">
                <a:tc>
                  <a:txBody>
                    <a:bodyPr wrap="square"/>
                    <a:lstStyle/>
                    <a:p>
                      <a:pPr algn="l">
                        <a:lnSpc>
                          <a:spcPct val="104000"/>
                        </a:lnSpc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Aptos"/>
                        </a:rPr>
                        <a:t>Área de gestão (GA)</a:t>
                      </a:r>
                    </a:p>
                  </a:txBody>
                  <a:tcPr anchor="ctr" marL="85725" marR="76200" marT="47625" marB="47625">
                    <a:solidFill>
                      <a:srgbClr val="08155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4000"/>
                        </a:lnSpc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Aptos"/>
                        </a:rPr>
                        <a:t>Aciona em</a:t>
                      </a:r>
                    </a:p>
                  </a:txBody>
                  <a:tcPr anchor="ctr" marL="85725" marR="76200" marT="47625" marB="47625">
                    <a:solidFill>
                      <a:srgbClr val="08155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4000"/>
                        </a:lnSpc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Aptos"/>
                        </a:rPr>
                        <a:t>Custo</a:t>
                      </a:r>
                    </a:p>
                  </a:txBody>
                  <a:tcPr anchor="ctr" marL="85725" marR="76200" marT="47625" marB="47625">
                    <a:solidFill>
                      <a:srgbClr val="08155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4000"/>
                        </a:lnSpc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Aptos"/>
                        </a:rPr>
                        <a:t>Padrão</a:t>
                      </a:r>
                    </a:p>
                  </a:txBody>
                  <a:tcPr anchor="ctr" marL="85725" marR="76200" marT="47625" marB="47625">
                    <a:solidFill>
                      <a:srgbClr val="081551"/>
                    </a:solidFill>
                  </a:tcPr>
                </a:tc>
              </a:tr>
              <a:tr h="408214">
                <a:tc>
                  <a:txBody>
                    <a:bodyPr wrap="square"/>
                    <a:lstStyle/>
                    <a:p>
                      <a:pPr algn="l">
                        <a:lnSpc>
                          <a:spcPct val="104000"/>
                        </a:lnSpc>
                      </a:pPr>
                      <a:r>
                        <a:rPr sz="1050" b="0">
                          <a:solidFill>
                            <a:srgbClr val="182238"/>
                          </a:solidFill>
                          <a:latin typeface="Aptos"/>
                        </a:rPr>
                        <a:t>Marcos Davi Freitas</a:t>
                      </a:r>
                    </a:p>
                  </a:txBody>
                  <a:tcPr anchor="ctr" marL="85725" marR="76200" marT="47625" marB="47625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4000"/>
                        </a:lnSpc>
                      </a:pPr>
                      <a:r>
                        <a:rPr sz="1050" b="1">
                          <a:solidFill>
                            <a:srgbClr val="182238"/>
                          </a:solidFill>
                          <a:latin typeface="Aptos"/>
                        </a:rPr>
                        <a:t>22 de 25 d</a:t>
                      </a:r>
                    </a:p>
                  </a:txBody>
                  <a:tcPr anchor="ctr" marL="85725" marR="76200" marT="47625" marB="47625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4000"/>
                        </a:lnSpc>
                      </a:pPr>
                      <a:r>
                        <a:rPr sz="1050" b="0">
                          <a:solidFill>
                            <a:srgbClr val="182238"/>
                          </a:solidFill>
                          <a:latin typeface="Aptos"/>
                        </a:rPr>
                        <a:t>R$ 13,9 mil</a:t>
                      </a:r>
                    </a:p>
                  </a:txBody>
                  <a:tcPr anchor="ctr" marL="85725" marR="76200" marT="47625" marB="47625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4000"/>
                        </a:lnSpc>
                      </a:pPr>
                      <a:r>
                        <a:rPr sz="950" b="1">
                          <a:solidFill>
                            <a:srgbClr val="D94545"/>
                          </a:solidFill>
                          <a:latin typeface="Aptos"/>
                        </a:rPr>
                        <a:t>TODO DIA</a:t>
                      </a:r>
                    </a:p>
                  </a:txBody>
                  <a:tcPr anchor="ctr" marL="85725" marR="76200" marT="47625" marB="47625">
                    <a:solidFill>
                      <a:srgbClr val="FFFFFF"/>
                    </a:solidFill>
                  </a:tcPr>
                </a:tc>
              </a:tr>
              <a:tr h="408214">
                <a:tc>
                  <a:txBody>
                    <a:bodyPr wrap="square"/>
                    <a:lstStyle/>
                    <a:p>
                      <a:pPr algn="l">
                        <a:lnSpc>
                          <a:spcPct val="104000"/>
                        </a:lnSpc>
                      </a:pPr>
                      <a:r>
                        <a:rPr sz="1050" b="0">
                          <a:solidFill>
                            <a:srgbClr val="182238"/>
                          </a:solidFill>
                          <a:latin typeface="Aptos"/>
                        </a:rPr>
                        <a:t>Guilherme Magalhaes</a:t>
                      </a:r>
                    </a:p>
                  </a:txBody>
                  <a:tcPr anchor="ctr" marL="85725" marR="76200" marT="47625" marB="47625">
                    <a:solidFill>
                      <a:srgbClr val="F3F6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4000"/>
                        </a:lnSpc>
                      </a:pPr>
                      <a:r>
                        <a:rPr sz="1050" b="1">
                          <a:solidFill>
                            <a:srgbClr val="182238"/>
                          </a:solidFill>
                          <a:latin typeface="Aptos"/>
                        </a:rPr>
                        <a:t>19 de 25 d</a:t>
                      </a:r>
                    </a:p>
                  </a:txBody>
                  <a:tcPr anchor="ctr" marL="85725" marR="76200" marT="47625" marB="47625">
                    <a:solidFill>
                      <a:srgbClr val="F3F6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4000"/>
                        </a:lnSpc>
                      </a:pPr>
                      <a:r>
                        <a:rPr sz="1050" b="0">
                          <a:solidFill>
                            <a:srgbClr val="182238"/>
                          </a:solidFill>
                          <a:latin typeface="Aptos"/>
                        </a:rPr>
                        <a:t>R$ 11,0 mil</a:t>
                      </a:r>
                    </a:p>
                  </a:txBody>
                  <a:tcPr anchor="ctr" marL="85725" marR="76200" marT="47625" marB="47625">
                    <a:solidFill>
                      <a:srgbClr val="F3F6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4000"/>
                        </a:lnSpc>
                      </a:pPr>
                      <a:r>
                        <a:rPr sz="950" b="1">
                          <a:solidFill>
                            <a:srgbClr val="9A6200"/>
                          </a:solidFill>
                          <a:latin typeface="Aptos"/>
                        </a:rPr>
                        <a:t>FREQUENTE</a:t>
                      </a:r>
                    </a:p>
                  </a:txBody>
                  <a:tcPr anchor="ctr" marL="85725" marR="76200" marT="47625" marB="47625">
                    <a:solidFill>
                      <a:srgbClr val="F3F6FA"/>
                    </a:solidFill>
                  </a:tcPr>
                </a:tc>
              </a:tr>
              <a:tr h="408214">
                <a:tc>
                  <a:txBody>
                    <a:bodyPr wrap="square"/>
                    <a:lstStyle/>
                    <a:p>
                      <a:pPr algn="l">
                        <a:lnSpc>
                          <a:spcPct val="104000"/>
                        </a:lnSpc>
                      </a:pPr>
                      <a:r>
                        <a:rPr sz="1050" b="0">
                          <a:solidFill>
                            <a:srgbClr val="182238"/>
                          </a:solidFill>
                          <a:latin typeface="Aptos"/>
                        </a:rPr>
                        <a:t>David De Sousa</a:t>
                      </a:r>
                    </a:p>
                  </a:txBody>
                  <a:tcPr anchor="ctr" marL="85725" marR="76200" marT="47625" marB="47625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4000"/>
                        </a:lnSpc>
                      </a:pPr>
                      <a:r>
                        <a:rPr sz="1050" b="1">
                          <a:solidFill>
                            <a:srgbClr val="182238"/>
                          </a:solidFill>
                          <a:latin typeface="Aptos"/>
                        </a:rPr>
                        <a:t>16 de 25 d</a:t>
                      </a:r>
                    </a:p>
                  </a:txBody>
                  <a:tcPr anchor="ctr" marL="85725" marR="76200" marT="47625" marB="47625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4000"/>
                        </a:lnSpc>
                      </a:pPr>
                      <a:r>
                        <a:rPr sz="1050" b="0">
                          <a:solidFill>
                            <a:srgbClr val="182238"/>
                          </a:solidFill>
                          <a:latin typeface="Aptos"/>
                        </a:rPr>
                        <a:t>R$ 7,5 mil</a:t>
                      </a:r>
                    </a:p>
                  </a:txBody>
                  <a:tcPr anchor="ctr" marL="85725" marR="76200" marT="47625" marB="47625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4000"/>
                        </a:lnSpc>
                      </a:pPr>
                      <a:r>
                        <a:rPr sz="950" b="1">
                          <a:solidFill>
                            <a:srgbClr val="9A6200"/>
                          </a:solidFill>
                          <a:latin typeface="Aptos"/>
                        </a:rPr>
                        <a:t>FREQUENTE</a:t>
                      </a:r>
                    </a:p>
                  </a:txBody>
                  <a:tcPr anchor="ctr" marL="85725" marR="76200" marT="47625" marB="47625">
                    <a:solidFill>
                      <a:srgbClr val="FFFFFF"/>
                    </a:solidFill>
                  </a:tcPr>
                </a:tc>
              </a:tr>
              <a:tr h="408214">
                <a:tc>
                  <a:txBody>
                    <a:bodyPr wrap="square"/>
                    <a:lstStyle/>
                    <a:p>
                      <a:pPr algn="l">
                        <a:lnSpc>
                          <a:spcPct val="104000"/>
                        </a:lnSpc>
                      </a:pPr>
                      <a:r>
                        <a:rPr sz="1050" b="0">
                          <a:solidFill>
                            <a:srgbClr val="182238"/>
                          </a:solidFill>
                          <a:latin typeface="Aptos"/>
                        </a:rPr>
                        <a:t>Lindemberg Costa</a:t>
                      </a:r>
                    </a:p>
                  </a:txBody>
                  <a:tcPr anchor="ctr" marL="85725" marR="76200" marT="47625" marB="47625">
                    <a:solidFill>
                      <a:srgbClr val="F3F6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4000"/>
                        </a:lnSpc>
                      </a:pPr>
                      <a:r>
                        <a:rPr sz="1050" b="1">
                          <a:solidFill>
                            <a:srgbClr val="182238"/>
                          </a:solidFill>
                          <a:latin typeface="Aptos"/>
                        </a:rPr>
                        <a:t>10 de 15 d</a:t>
                      </a:r>
                    </a:p>
                  </a:txBody>
                  <a:tcPr anchor="ctr" marL="85725" marR="76200" marT="47625" marB="47625">
                    <a:solidFill>
                      <a:srgbClr val="F3F6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4000"/>
                        </a:lnSpc>
                      </a:pPr>
                      <a:r>
                        <a:rPr sz="1050" b="0">
                          <a:solidFill>
                            <a:srgbClr val="182238"/>
                          </a:solidFill>
                          <a:latin typeface="Aptos"/>
                        </a:rPr>
                        <a:t>R$ 3,5 mil</a:t>
                      </a:r>
                    </a:p>
                  </a:txBody>
                  <a:tcPr anchor="ctr" marL="85725" marR="76200" marT="47625" marB="47625">
                    <a:solidFill>
                      <a:srgbClr val="F3F6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4000"/>
                        </a:lnSpc>
                      </a:pPr>
                      <a:r>
                        <a:rPr sz="950" b="1">
                          <a:solidFill>
                            <a:srgbClr val="9A6200"/>
                          </a:solidFill>
                          <a:latin typeface="Aptos"/>
                        </a:rPr>
                        <a:t>FREQUENTE</a:t>
                      </a:r>
                    </a:p>
                  </a:txBody>
                  <a:tcPr anchor="ctr" marL="85725" marR="76200" marT="47625" marB="47625">
                    <a:solidFill>
                      <a:srgbClr val="F3F6FA"/>
                    </a:solidFill>
                  </a:tcPr>
                </a:tc>
              </a:tr>
              <a:tr h="408214">
                <a:tc>
                  <a:txBody>
                    <a:bodyPr wrap="square"/>
                    <a:lstStyle/>
                    <a:p>
                      <a:pPr algn="l">
                        <a:lnSpc>
                          <a:spcPct val="104000"/>
                        </a:lnSpc>
                      </a:pPr>
                      <a:r>
                        <a:rPr sz="1050" b="0">
                          <a:solidFill>
                            <a:srgbClr val="182238"/>
                          </a:solidFill>
                          <a:latin typeface="Aptos"/>
                        </a:rPr>
                        <a:t>Bruno Santos Lopes</a:t>
                      </a:r>
                    </a:p>
                  </a:txBody>
                  <a:tcPr anchor="ctr" marL="85725" marR="76200" marT="47625" marB="47625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4000"/>
                        </a:lnSpc>
                      </a:pPr>
                      <a:r>
                        <a:rPr sz="1050" b="1">
                          <a:solidFill>
                            <a:srgbClr val="182238"/>
                          </a:solidFill>
                          <a:latin typeface="Aptos"/>
                        </a:rPr>
                        <a:t>19 de 23 d</a:t>
                      </a:r>
                    </a:p>
                  </a:txBody>
                  <a:tcPr anchor="ctr" marL="85725" marR="76200" marT="47625" marB="47625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4000"/>
                        </a:lnSpc>
                      </a:pPr>
                      <a:r>
                        <a:rPr sz="1050" b="0">
                          <a:solidFill>
                            <a:srgbClr val="182238"/>
                          </a:solidFill>
                          <a:latin typeface="Aptos"/>
                        </a:rPr>
                        <a:t>R$ 3,4 mil</a:t>
                      </a:r>
                    </a:p>
                  </a:txBody>
                  <a:tcPr anchor="ctr" marL="85725" marR="76200" marT="47625" marB="47625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4000"/>
                        </a:lnSpc>
                      </a:pPr>
                      <a:r>
                        <a:rPr sz="950" b="1">
                          <a:solidFill>
                            <a:srgbClr val="D94545"/>
                          </a:solidFill>
                          <a:latin typeface="Aptos"/>
                        </a:rPr>
                        <a:t>TODO DIA</a:t>
                      </a:r>
                    </a:p>
                  </a:txBody>
                  <a:tcPr anchor="ctr" marL="85725" marR="76200" marT="47625" marB="47625">
                    <a:solidFill>
                      <a:srgbClr val="FFFFFF"/>
                    </a:solidFill>
                  </a:tcPr>
                </a:tc>
              </a:tr>
              <a:tr h="408216">
                <a:tc>
                  <a:txBody>
                    <a:bodyPr wrap="square"/>
                    <a:lstStyle/>
                    <a:p>
                      <a:pPr algn="l">
                        <a:lnSpc>
                          <a:spcPct val="104000"/>
                        </a:lnSpc>
                      </a:pPr>
                      <a:r>
                        <a:rPr sz="1050" b="0">
                          <a:solidFill>
                            <a:srgbClr val="182238"/>
                          </a:solidFill>
                          <a:latin typeface="Aptos"/>
                        </a:rPr>
                        <a:t>Max Weber Alves</a:t>
                      </a:r>
                    </a:p>
                  </a:txBody>
                  <a:tcPr anchor="ctr" marL="85725" marR="76200" marT="47625" marB="47625">
                    <a:solidFill>
                      <a:srgbClr val="F3F6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4000"/>
                        </a:lnSpc>
                      </a:pPr>
                      <a:r>
                        <a:rPr sz="1050" b="1">
                          <a:solidFill>
                            <a:srgbClr val="182238"/>
                          </a:solidFill>
                          <a:latin typeface="Aptos"/>
                        </a:rPr>
                        <a:t>14 de 16 d</a:t>
                      </a:r>
                    </a:p>
                  </a:txBody>
                  <a:tcPr anchor="ctr" marL="85725" marR="76200" marT="47625" marB="47625">
                    <a:solidFill>
                      <a:srgbClr val="F3F6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4000"/>
                        </a:lnSpc>
                      </a:pPr>
                      <a:r>
                        <a:rPr sz="1050" b="0">
                          <a:solidFill>
                            <a:srgbClr val="182238"/>
                          </a:solidFill>
                          <a:latin typeface="Aptos"/>
                        </a:rPr>
                        <a:t>R$ 3,3 mil</a:t>
                      </a:r>
                    </a:p>
                  </a:txBody>
                  <a:tcPr anchor="ctr" marL="85725" marR="76200" marT="47625" marB="47625">
                    <a:solidFill>
                      <a:srgbClr val="F3F6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4000"/>
                        </a:lnSpc>
                      </a:pPr>
                      <a:r>
                        <a:rPr sz="950" b="1">
                          <a:solidFill>
                            <a:srgbClr val="D94545"/>
                          </a:solidFill>
                          <a:latin typeface="Aptos"/>
                        </a:rPr>
                        <a:t>TODO DIA</a:t>
                      </a:r>
                    </a:p>
                  </a:txBody>
                  <a:tcPr anchor="ctr" marL="85725" marR="76200" marT="47625" marB="47625">
                    <a:solidFill>
                      <a:srgbClr val="F3F6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477500" cy="76200"/>
          </a:xfrm>
          <a:prstGeom prst="rect">
            <a:avLst/>
          </a:prstGeom>
          <a:solidFill>
            <a:srgbClr val="0815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477500" y="0"/>
            <a:ext cx="1714500" cy="76200"/>
          </a:xfrm>
          <a:prstGeom prst="rect">
            <a:avLst/>
          </a:prstGeom>
          <a:solidFill>
            <a:srgbClr val="42D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82250" y="285750"/>
            <a:ext cx="1238250" cy="34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</a:pPr>
            <a:r>
              <a:rPr sz="2700" b="0">
                <a:solidFill>
                  <a:srgbClr val="081551"/>
                </a:solidFill>
                <a:latin typeface="Aptos Display"/>
              </a:rPr>
              <a:t>alloha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82250" y="628650"/>
            <a:ext cx="1238250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</a:pPr>
            <a:r>
              <a:rPr sz="800" b="1">
                <a:solidFill>
                  <a:srgbClr val="13853A"/>
                </a:solidFill>
                <a:latin typeface="Aptos"/>
              </a:rPr>
              <a:t>F I B R 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3400" y="6572250"/>
            <a:ext cx="99060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900" b="0">
                <a:solidFill>
                  <a:srgbClr val="8B94A6"/>
                </a:solidFill>
                <a:latin typeface="Aptos"/>
              </a:rPr>
              <a:t>HUB de Horas Extras · Power BI · SUB BU R6 - CEARA · foto de 10/07/2026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53750" y="6572250"/>
            <a:ext cx="70485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</a:pPr>
            <a:r>
              <a:rPr sz="900" b="0">
                <a:solidFill>
                  <a:srgbClr val="8B94A6"/>
                </a:solidFill>
                <a:latin typeface="Aptos"/>
              </a:rPr>
              <a:t>4 / 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3400" y="323850"/>
            <a:ext cx="93345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200" b="1">
                <a:solidFill>
                  <a:srgbClr val="1476C9"/>
                </a:solidFill>
                <a:latin typeface="Aptos"/>
              </a:rPr>
              <a:t>RISCO × CUSTO-BENEFÍCIO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3400" y="552450"/>
            <a:ext cx="10001250" cy="723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>
                <a:solidFill>
                  <a:srgbClr val="081551"/>
                </a:solidFill>
                <a:latin typeface="Aptos Display"/>
              </a:rPr>
              <a:t>Trocar o instrumento sem perder cobertura: turno fixo onde a demanda é diária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3400" y="1447800"/>
            <a:ext cx="628650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300" b="1">
                <a:solidFill>
                  <a:srgbClr val="081551"/>
                </a:solidFill>
                <a:latin typeface="Aptos"/>
              </a:rPr>
              <a:t>Dimensionamento seguro por GA — plantão hoje × demanda real de acionados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3400" y="1657350"/>
            <a:ext cx="62865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0">
                <a:solidFill>
                  <a:srgbClr val="667085"/>
                </a:solidFill>
                <a:latin typeface="Aptos"/>
              </a:rPr>
              <a:t>Mediana e pico (p90/máx) de técnicos acionados no mesmo dia. A cobertura não cai: muda o instrumento.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533400" y="1905000"/>
          <a:ext cx="6286500" cy="28575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809750"/>
                <a:gridCol w="1009650"/>
                <a:gridCol w="1123950"/>
                <a:gridCol w="781050"/>
                <a:gridCol w="1562100"/>
              </a:tblGrid>
              <a:tr h="408214">
                <a:tc>
                  <a:txBody>
                    <a:bodyPr wrap="square"/>
                    <a:lstStyle/>
                    <a:p>
                      <a:pPr algn="l">
                        <a:lnSpc>
                          <a:spcPct val="104000"/>
                        </a:lnSpc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Aptos"/>
                        </a:rPr>
                        <a:t>GA</a:t>
                      </a:r>
                    </a:p>
                  </a:txBody>
                  <a:tcPr anchor="ctr" marL="85725" marR="76200" marT="47625" marB="47625">
                    <a:solidFill>
                      <a:srgbClr val="08155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4000"/>
                        </a:lnSpc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Aptos"/>
                        </a:rPr>
                        <a:t>Plantão hoje</a:t>
                      </a:r>
                    </a:p>
                  </a:txBody>
                  <a:tcPr anchor="ctr" marL="85725" marR="76200" marT="47625" marB="47625">
                    <a:solidFill>
                      <a:srgbClr val="08155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4000"/>
                        </a:lnSpc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Aptos"/>
                        </a:rPr>
                        <a:t>Acionados/dia</a:t>
                      </a:r>
                    </a:p>
                  </a:txBody>
                  <a:tcPr anchor="ctr" marL="85725" marR="76200" marT="47625" marB="47625">
                    <a:solidFill>
                      <a:srgbClr val="08155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4000"/>
                        </a:lnSpc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Aptos"/>
                        </a:rPr>
                        <a:t>Pico</a:t>
                      </a:r>
                    </a:p>
                  </a:txBody>
                  <a:tcPr anchor="ctr" marL="85725" marR="76200" marT="47625" marB="47625">
                    <a:solidFill>
                      <a:srgbClr val="08155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4000"/>
                        </a:lnSpc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Aptos"/>
                        </a:rPr>
                        <a:t>Proposta</a:t>
                      </a:r>
                    </a:p>
                  </a:txBody>
                  <a:tcPr anchor="ctr" marL="85725" marR="76200" marT="47625" marB="47625">
                    <a:solidFill>
                      <a:srgbClr val="081551"/>
                    </a:solidFill>
                  </a:tcPr>
                </a:tc>
              </a:tr>
              <a:tr h="408214">
                <a:tc>
                  <a:txBody>
                    <a:bodyPr wrap="square"/>
                    <a:lstStyle/>
                    <a:p>
                      <a:pPr algn="l">
                        <a:lnSpc>
                          <a:spcPct val="104000"/>
                        </a:lnSpc>
                      </a:pPr>
                      <a:r>
                        <a:rPr sz="1000" b="0">
                          <a:solidFill>
                            <a:srgbClr val="182238"/>
                          </a:solidFill>
                          <a:latin typeface="Aptos"/>
                        </a:rPr>
                        <a:t>Marcos Davi</a:t>
                      </a:r>
                    </a:p>
                  </a:txBody>
                  <a:tcPr anchor="ctr" marL="85725" marR="76200" marT="47625" marB="47625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4000"/>
                        </a:lnSpc>
                      </a:pPr>
                      <a:r>
                        <a:rPr sz="1000" b="0">
                          <a:solidFill>
                            <a:srgbClr val="182238"/>
                          </a:solidFill>
                          <a:latin typeface="Aptos"/>
                        </a:rPr>
                        <a:t>9 téc/dia</a:t>
                      </a:r>
                    </a:p>
                  </a:txBody>
                  <a:tcPr anchor="ctr" marL="85725" marR="76200" marT="47625" marB="47625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4000"/>
                        </a:lnSpc>
                      </a:pPr>
                      <a:r>
                        <a:rPr sz="1000" b="1">
                          <a:solidFill>
                            <a:srgbClr val="182238"/>
                          </a:solidFill>
                          <a:latin typeface="Aptos"/>
                        </a:rPr>
                        <a:t>med 3 · p90 5</a:t>
                      </a:r>
                    </a:p>
                  </a:txBody>
                  <a:tcPr anchor="ctr" marL="85725" marR="76200" marT="47625" marB="47625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4000"/>
                        </a:lnSpc>
                      </a:pPr>
                      <a:r>
                        <a:rPr sz="1000" b="0">
                          <a:solidFill>
                            <a:srgbClr val="182238"/>
                          </a:solidFill>
                          <a:latin typeface="Aptos"/>
                        </a:rPr>
                        <a:t>8</a:t>
                      </a:r>
                    </a:p>
                  </a:txBody>
                  <a:tcPr anchor="ctr" marL="85725" marR="76200" marT="47625" marB="47625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4000"/>
                        </a:lnSpc>
                      </a:pPr>
                      <a:r>
                        <a:rPr sz="950" b="1">
                          <a:solidFill>
                            <a:srgbClr val="D94545"/>
                          </a:solidFill>
                          <a:latin typeface="Aptos"/>
                        </a:rPr>
                        <a:t>Turno fixo + SA p/ pico</a:t>
                      </a:r>
                    </a:p>
                  </a:txBody>
                  <a:tcPr anchor="ctr" marL="85725" marR="76200" marT="47625" marB="47625">
                    <a:solidFill>
                      <a:srgbClr val="FFFFFF"/>
                    </a:solidFill>
                  </a:tcPr>
                </a:tc>
              </a:tr>
              <a:tr h="408214">
                <a:tc>
                  <a:txBody>
                    <a:bodyPr wrap="square"/>
                    <a:lstStyle/>
                    <a:p>
                      <a:pPr algn="l">
                        <a:lnSpc>
                          <a:spcPct val="104000"/>
                        </a:lnSpc>
                      </a:pPr>
                      <a:r>
                        <a:rPr sz="1000" b="0">
                          <a:solidFill>
                            <a:srgbClr val="182238"/>
                          </a:solidFill>
                          <a:latin typeface="Aptos"/>
                        </a:rPr>
                        <a:t>Guilherme Magalhaes</a:t>
                      </a:r>
                    </a:p>
                  </a:txBody>
                  <a:tcPr anchor="ctr" marL="85725" marR="76200" marT="47625" marB="47625">
                    <a:solidFill>
                      <a:srgbClr val="F3F6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4000"/>
                        </a:lnSpc>
                      </a:pPr>
                      <a:r>
                        <a:rPr sz="1000" b="0">
                          <a:solidFill>
                            <a:srgbClr val="182238"/>
                          </a:solidFill>
                          <a:latin typeface="Aptos"/>
                        </a:rPr>
                        <a:t>6 téc/dia</a:t>
                      </a:r>
                    </a:p>
                  </a:txBody>
                  <a:tcPr anchor="ctr" marL="85725" marR="76200" marT="47625" marB="47625">
                    <a:solidFill>
                      <a:srgbClr val="F3F6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4000"/>
                        </a:lnSpc>
                      </a:pPr>
                      <a:r>
                        <a:rPr sz="1000" b="1">
                          <a:solidFill>
                            <a:srgbClr val="182238"/>
                          </a:solidFill>
                          <a:latin typeface="Aptos"/>
                        </a:rPr>
                        <a:t>med 2 · p90 4</a:t>
                      </a:r>
                    </a:p>
                  </a:txBody>
                  <a:tcPr anchor="ctr" marL="85725" marR="76200" marT="47625" marB="47625">
                    <a:solidFill>
                      <a:srgbClr val="F3F6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4000"/>
                        </a:lnSpc>
                      </a:pPr>
                      <a:r>
                        <a:rPr sz="1000" b="0">
                          <a:solidFill>
                            <a:srgbClr val="182238"/>
                          </a:solidFill>
                          <a:latin typeface="Aptos"/>
                        </a:rPr>
                        <a:t>7</a:t>
                      </a:r>
                    </a:p>
                  </a:txBody>
                  <a:tcPr anchor="ctr" marL="85725" marR="76200" marT="47625" marB="47625">
                    <a:solidFill>
                      <a:srgbClr val="F3F6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4000"/>
                        </a:lnSpc>
                      </a:pPr>
                      <a:r>
                        <a:rPr sz="950" b="1">
                          <a:solidFill>
                            <a:srgbClr val="9A6200"/>
                          </a:solidFill>
                          <a:latin typeface="Aptos"/>
                        </a:rPr>
                        <a:t>SA enxuto (p90)</a:t>
                      </a:r>
                    </a:p>
                  </a:txBody>
                  <a:tcPr anchor="ctr" marL="85725" marR="76200" marT="47625" marB="47625">
                    <a:solidFill>
                      <a:srgbClr val="F3F6FA"/>
                    </a:solidFill>
                  </a:tcPr>
                </a:tc>
              </a:tr>
              <a:tr h="408214">
                <a:tc>
                  <a:txBody>
                    <a:bodyPr wrap="square"/>
                    <a:lstStyle/>
                    <a:p>
                      <a:pPr algn="l">
                        <a:lnSpc>
                          <a:spcPct val="104000"/>
                        </a:lnSpc>
                      </a:pPr>
                      <a:r>
                        <a:rPr sz="1000" b="0">
                          <a:solidFill>
                            <a:srgbClr val="182238"/>
                          </a:solidFill>
                          <a:latin typeface="Aptos"/>
                        </a:rPr>
                        <a:t>David</a:t>
                      </a:r>
                    </a:p>
                  </a:txBody>
                  <a:tcPr anchor="ctr" marL="85725" marR="76200" marT="47625" marB="47625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4000"/>
                        </a:lnSpc>
                      </a:pPr>
                      <a:r>
                        <a:rPr sz="1000" b="0">
                          <a:solidFill>
                            <a:srgbClr val="182238"/>
                          </a:solidFill>
                          <a:latin typeface="Aptos"/>
                        </a:rPr>
                        <a:t>4 téc/dia</a:t>
                      </a:r>
                    </a:p>
                  </a:txBody>
                  <a:tcPr anchor="ctr" marL="85725" marR="76200" marT="47625" marB="47625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4000"/>
                        </a:lnSpc>
                      </a:pPr>
                      <a:r>
                        <a:rPr sz="1000" b="1">
                          <a:solidFill>
                            <a:srgbClr val="182238"/>
                          </a:solidFill>
                          <a:latin typeface="Aptos"/>
                        </a:rPr>
                        <a:t>med 2 · p90 3</a:t>
                      </a:r>
                    </a:p>
                  </a:txBody>
                  <a:tcPr anchor="ctr" marL="85725" marR="76200" marT="47625" marB="47625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4000"/>
                        </a:lnSpc>
                      </a:pPr>
                      <a:r>
                        <a:rPr sz="1000" b="0">
                          <a:solidFill>
                            <a:srgbClr val="182238"/>
                          </a:solidFill>
                          <a:latin typeface="Aptos"/>
                        </a:rPr>
                        <a:t>5</a:t>
                      </a:r>
                    </a:p>
                  </a:txBody>
                  <a:tcPr anchor="ctr" marL="85725" marR="76200" marT="47625" marB="47625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4000"/>
                        </a:lnSpc>
                      </a:pPr>
                      <a:r>
                        <a:rPr sz="950" b="1">
                          <a:solidFill>
                            <a:srgbClr val="9A6200"/>
                          </a:solidFill>
                          <a:latin typeface="Aptos"/>
                        </a:rPr>
                        <a:t>SA enxuto (p90)</a:t>
                      </a:r>
                    </a:p>
                  </a:txBody>
                  <a:tcPr anchor="ctr" marL="85725" marR="76200" marT="47625" marB="47625">
                    <a:solidFill>
                      <a:srgbClr val="FFFFFF"/>
                    </a:solidFill>
                  </a:tcPr>
                </a:tc>
              </a:tr>
              <a:tr h="408214">
                <a:tc>
                  <a:txBody>
                    <a:bodyPr wrap="square"/>
                    <a:lstStyle/>
                    <a:p>
                      <a:pPr algn="l">
                        <a:lnSpc>
                          <a:spcPct val="104000"/>
                        </a:lnSpc>
                      </a:pPr>
                      <a:r>
                        <a:rPr sz="1000" b="0">
                          <a:solidFill>
                            <a:srgbClr val="182238"/>
                          </a:solidFill>
                          <a:latin typeface="Aptos"/>
                        </a:rPr>
                        <a:t>Lindemberg Costa</a:t>
                      </a:r>
                    </a:p>
                  </a:txBody>
                  <a:tcPr anchor="ctr" marL="85725" marR="76200" marT="47625" marB="47625">
                    <a:solidFill>
                      <a:srgbClr val="F3F6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4000"/>
                        </a:lnSpc>
                      </a:pPr>
                      <a:r>
                        <a:rPr sz="1000" b="0">
                          <a:solidFill>
                            <a:srgbClr val="182238"/>
                          </a:solidFill>
                          <a:latin typeface="Aptos"/>
                        </a:rPr>
                        <a:t>2 téc/dia</a:t>
                      </a:r>
                    </a:p>
                  </a:txBody>
                  <a:tcPr anchor="ctr" marL="85725" marR="76200" marT="47625" marB="47625">
                    <a:solidFill>
                      <a:srgbClr val="F3F6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4000"/>
                        </a:lnSpc>
                      </a:pPr>
                      <a:r>
                        <a:rPr sz="1000" b="1">
                          <a:solidFill>
                            <a:srgbClr val="182238"/>
                          </a:solidFill>
                          <a:latin typeface="Aptos"/>
                        </a:rPr>
                        <a:t>med 1 · p90 2</a:t>
                      </a:r>
                    </a:p>
                  </a:txBody>
                  <a:tcPr anchor="ctr" marL="85725" marR="76200" marT="47625" marB="47625">
                    <a:solidFill>
                      <a:srgbClr val="F3F6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4000"/>
                        </a:lnSpc>
                      </a:pPr>
                      <a:r>
                        <a:rPr sz="1000" b="0">
                          <a:solidFill>
                            <a:srgbClr val="182238"/>
                          </a:solidFill>
                          <a:latin typeface="Aptos"/>
                        </a:rPr>
                        <a:t>2</a:t>
                      </a:r>
                    </a:p>
                  </a:txBody>
                  <a:tcPr anchor="ctr" marL="85725" marR="76200" marT="47625" marB="47625">
                    <a:solidFill>
                      <a:srgbClr val="F3F6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4000"/>
                        </a:lnSpc>
                      </a:pPr>
                      <a:r>
                        <a:rPr sz="950" b="1">
                          <a:solidFill>
                            <a:srgbClr val="9A6200"/>
                          </a:solidFill>
                          <a:latin typeface="Aptos"/>
                        </a:rPr>
                        <a:t>SA enxuto (p90)</a:t>
                      </a:r>
                    </a:p>
                  </a:txBody>
                  <a:tcPr anchor="ctr" marL="85725" marR="76200" marT="47625" marB="47625">
                    <a:solidFill>
                      <a:srgbClr val="F3F6FA"/>
                    </a:solidFill>
                  </a:tcPr>
                </a:tc>
              </a:tr>
              <a:tr h="408214">
                <a:tc>
                  <a:txBody>
                    <a:bodyPr wrap="square"/>
                    <a:lstStyle/>
                    <a:p>
                      <a:pPr algn="l">
                        <a:lnSpc>
                          <a:spcPct val="104000"/>
                        </a:lnSpc>
                      </a:pPr>
                      <a:r>
                        <a:rPr sz="1000" b="0">
                          <a:solidFill>
                            <a:srgbClr val="182238"/>
                          </a:solidFill>
                          <a:latin typeface="Aptos"/>
                        </a:rPr>
                        <a:t>Bruno Santos</a:t>
                      </a:r>
                    </a:p>
                  </a:txBody>
                  <a:tcPr anchor="ctr" marL="85725" marR="76200" marT="47625" marB="47625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4000"/>
                        </a:lnSpc>
                      </a:pPr>
                      <a:r>
                        <a:rPr sz="1000" b="0">
                          <a:solidFill>
                            <a:srgbClr val="182238"/>
                          </a:solidFill>
                          <a:latin typeface="Aptos"/>
                        </a:rPr>
                        <a:t>2 téc/dia</a:t>
                      </a:r>
                    </a:p>
                  </a:txBody>
                  <a:tcPr anchor="ctr" marL="85725" marR="76200" marT="47625" marB="47625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4000"/>
                        </a:lnSpc>
                      </a:pPr>
                      <a:r>
                        <a:rPr sz="1000" b="1">
                          <a:solidFill>
                            <a:srgbClr val="182238"/>
                          </a:solidFill>
                          <a:latin typeface="Aptos"/>
                        </a:rPr>
                        <a:t>med 1 · p90 2</a:t>
                      </a:r>
                    </a:p>
                  </a:txBody>
                  <a:tcPr anchor="ctr" marL="85725" marR="76200" marT="47625" marB="47625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4000"/>
                        </a:lnSpc>
                      </a:pPr>
                      <a:r>
                        <a:rPr sz="1000" b="0">
                          <a:solidFill>
                            <a:srgbClr val="182238"/>
                          </a:solidFill>
                          <a:latin typeface="Aptos"/>
                        </a:rPr>
                        <a:t>3</a:t>
                      </a:r>
                    </a:p>
                  </a:txBody>
                  <a:tcPr anchor="ctr" marL="85725" marR="76200" marT="47625" marB="47625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4000"/>
                        </a:lnSpc>
                      </a:pPr>
                      <a:r>
                        <a:rPr sz="950" b="1">
                          <a:solidFill>
                            <a:srgbClr val="D94545"/>
                          </a:solidFill>
                          <a:latin typeface="Aptos"/>
                        </a:rPr>
                        <a:t>Turno fixo + SA p/ pico</a:t>
                      </a:r>
                    </a:p>
                  </a:txBody>
                  <a:tcPr anchor="ctr" marL="85725" marR="76200" marT="47625" marB="47625">
                    <a:solidFill>
                      <a:srgbClr val="FFFFFF"/>
                    </a:solidFill>
                  </a:tcPr>
                </a:tc>
              </a:tr>
              <a:tr h="408216">
                <a:tc>
                  <a:txBody>
                    <a:bodyPr wrap="square"/>
                    <a:lstStyle/>
                    <a:p>
                      <a:pPr algn="l">
                        <a:lnSpc>
                          <a:spcPct val="104000"/>
                        </a:lnSpc>
                      </a:pPr>
                      <a:r>
                        <a:rPr sz="1000" b="0">
                          <a:solidFill>
                            <a:srgbClr val="182238"/>
                          </a:solidFill>
                          <a:latin typeface="Aptos"/>
                        </a:rPr>
                        <a:t>Max Weber</a:t>
                      </a:r>
                    </a:p>
                  </a:txBody>
                  <a:tcPr anchor="ctr" marL="85725" marR="76200" marT="47625" marB="47625">
                    <a:solidFill>
                      <a:srgbClr val="F3F6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4000"/>
                        </a:lnSpc>
                      </a:pPr>
                      <a:r>
                        <a:rPr sz="1000" b="0">
                          <a:solidFill>
                            <a:srgbClr val="182238"/>
                          </a:solidFill>
                          <a:latin typeface="Aptos"/>
                        </a:rPr>
                        <a:t>1 téc/dia</a:t>
                      </a:r>
                    </a:p>
                  </a:txBody>
                  <a:tcPr anchor="ctr" marL="85725" marR="76200" marT="47625" marB="47625">
                    <a:solidFill>
                      <a:srgbClr val="F3F6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4000"/>
                        </a:lnSpc>
                      </a:pPr>
                      <a:r>
                        <a:rPr sz="1000" b="1">
                          <a:solidFill>
                            <a:srgbClr val="182238"/>
                          </a:solidFill>
                          <a:latin typeface="Aptos"/>
                        </a:rPr>
                        <a:t>med 1 · p90 2</a:t>
                      </a:r>
                    </a:p>
                  </a:txBody>
                  <a:tcPr anchor="ctr" marL="85725" marR="76200" marT="47625" marB="47625">
                    <a:solidFill>
                      <a:srgbClr val="F3F6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4000"/>
                        </a:lnSpc>
                      </a:pPr>
                      <a:r>
                        <a:rPr sz="1000" b="0">
                          <a:solidFill>
                            <a:srgbClr val="182238"/>
                          </a:solidFill>
                          <a:latin typeface="Aptos"/>
                        </a:rPr>
                        <a:t>2</a:t>
                      </a:r>
                    </a:p>
                  </a:txBody>
                  <a:tcPr anchor="ctr" marL="85725" marR="76200" marT="47625" marB="47625">
                    <a:solidFill>
                      <a:srgbClr val="F3F6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4000"/>
                        </a:lnSpc>
                      </a:pPr>
                      <a:r>
                        <a:rPr sz="950" b="1">
                          <a:solidFill>
                            <a:srgbClr val="D94545"/>
                          </a:solidFill>
                          <a:latin typeface="Aptos"/>
                        </a:rPr>
                        <a:t>Turno fixo + SA p/ pico</a:t>
                      </a:r>
                    </a:p>
                  </a:txBody>
                  <a:tcPr anchor="ctr" marL="85725" marR="76200" marT="47625" marB="47625">
                    <a:solidFill>
                      <a:srgbClr val="F3F6FA"/>
                    </a:solidFill>
                  </a:tcPr>
                </a:tc>
              </a:tr>
            </a:tbl>
          </a:graphicData>
        </a:graphic>
      </p:graphicFrame>
      <p:sp>
        <p:nvSpPr>
          <p:cNvPr id="13" name="Rounded Rectangle 12"/>
          <p:cNvSpPr/>
          <p:nvPr/>
        </p:nvSpPr>
        <p:spPr>
          <a:xfrm>
            <a:off x="533400" y="4914900"/>
            <a:ext cx="6286500" cy="590550"/>
          </a:xfrm>
          <a:prstGeom prst="roundRect">
            <a:avLst>
              <a:gd name="adj" fmla="val 6000"/>
            </a:avLst>
          </a:prstGeom>
          <a:solidFill>
            <a:srgbClr val="FDE2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23900" y="5010150"/>
            <a:ext cx="2857500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1">
                <a:solidFill>
                  <a:srgbClr val="D94545"/>
                </a:solidFill>
                <a:latin typeface="Aptos"/>
              </a:rPr>
              <a:t>REGRA DE PISO (RISCO)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3900" y="5162550"/>
            <a:ext cx="5924550" cy="30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0">
                <a:solidFill>
                  <a:srgbClr val="182238"/>
                </a:solidFill>
                <a:latin typeface="Aptos"/>
              </a:rPr>
              <a:t>Nenhuma GA reduz plantão abaixo do p90 de acionados simultâneos sem turno fixo no lugar. O pico raro (máx) é coberto por backup combinado entre GAs vizinhas.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048500" y="1447800"/>
            <a:ext cx="4591050" cy="1809750"/>
          </a:xfrm>
          <a:prstGeom prst="roundRect">
            <a:avLst>
              <a:gd name="adj" fmla="val 6000"/>
            </a:avLst>
          </a:prstGeom>
          <a:solidFill>
            <a:srgbClr val="0815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58050" y="1562100"/>
            <a:ext cx="3810000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1">
                <a:solidFill>
                  <a:srgbClr val="9FC9EE"/>
                </a:solidFill>
                <a:latin typeface="Aptos"/>
              </a:rPr>
              <a:t>A CONTA DA CONVERSÃO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58050" y="1771650"/>
            <a:ext cx="1123950" cy="285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2200" b="1">
                <a:solidFill>
                  <a:srgbClr val="FFFFFF"/>
                </a:solidFill>
                <a:latin typeface="Aptos Display"/>
              </a:rPr>
              <a:t>R$ 28,54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77250" y="1771650"/>
            <a:ext cx="2971800" cy="2857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0">
                <a:solidFill>
                  <a:srgbClr val="C9D6EF"/>
                </a:solidFill>
                <a:latin typeface="Aptos"/>
              </a:rPr>
              <a:t>por hora acionada em sobreaviso (HE + adicionais)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58050" y="2114550"/>
            <a:ext cx="1123950" cy="285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2200" b="1">
                <a:solidFill>
                  <a:srgbClr val="42DF4B"/>
                </a:solidFill>
                <a:latin typeface="Aptos Display"/>
              </a:rPr>
              <a:t>R$ 13,21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77250" y="2114550"/>
            <a:ext cx="2971800" cy="2857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0">
                <a:solidFill>
                  <a:srgbClr val="C9D6EF"/>
                </a:solidFill>
                <a:latin typeface="Aptos"/>
              </a:rPr>
              <a:t>por hora em turno fixo noturno (estimado*)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258050" y="2495550"/>
            <a:ext cx="41910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250" b="1">
                <a:solidFill>
                  <a:srgbClr val="FFFFFF"/>
                </a:solidFill>
                <a:latin typeface="Aptos"/>
              </a:rPr>
              <a:t>Converter a demanda diária das GAs estruturais economiza R$ 13,1 mil/mês — sem perder cobertura.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258050" y="2971800"/>
            <a:ext cx="4191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850" b="0">
                <a:solidFill>
                  <a:srgbClr val="8FA3CE"/>
                </a:solidFill>
                <a:latin typeface="Aptos"/>
              </a:rPr>
              <a:t>*hora-base derivada da própria espera (1/3 da hora normal) + 20% de adicional noturno. Validar com RH.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048500" y="3390900"/>
            <a:ext cx="4591050" cy="211455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258050" y="3505200"/>
            <a:ext cx="41910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200" b="1">
                <a:solidFill>
                  <a:srgbClr val="081551"/>
                </a:solidFill>
                <a:latin typeface="Aptos"/>
              </a:rPr>
              <a:t>Quem já trabalha o turno — só que pago como HE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58050" y="3695700"/>
            <a:ext cx="41910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0">
                <a:solidFill>
                  <a:srgbClr val="667085"/>
                </a:solidFill>
                <a:latin typeface="Aptos"/>
              </a:rPr>
              <a:t>Top 10 técnicos = 35% de todas as horas de acionamento. Os 5 maiores: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58050" y="3867150"/>
            <a:ext cx="142875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0">
                <a:solidFill>
                  <a:srgbClr val="182238"/>
                </a:solidFill>
                <a:latin typeface="Aptos"/>
              </a:rPr>
              <a:t>Gleydson Goncalves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724900" y="3886200"/>
            <a:ext cx="1714500" cy="114300"/>
          </a:xfrm>
          <a:prstGeom prst="rect">
            <a:avLst/>
          </a:prstGeom>
          <a:solidFill>
            <a:srgbClr val="E7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724900" y="3886200"/>
            <a:ext cx="1714500" cy="114300"/>
          </a:xfrm>
          <a:prstGeom prst="rect">
            <a:avLst/>
          </a:prstGeom>
          <a:solidFill>
            <a:srgbClr val="3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515600" y="3867150"/>
            <a:ext cx="104775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950" b="1">
                <a:solidFill>
                  <a:srgbClr val="182238"/>
                </a:solidFill>
                <a:latin typeface="Aptos"/>
              </a:rPr>
              <a:t>69 h · 12 dias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258050" y="4114800"/>
            <a:ext cx="142875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0">
                <a:solidFill>
                  <a:srgbClr val="182238"/>
                </a:solidFill>
                <a:latin typeface="Aptos"/>
              </a:rPr>
              <a:t>Laerte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724900" y="4133850"/>
            <a:ext cx="1714500" cy="114300"/>
          </a:xfrm>
          <a:prstGeom prst="rect">
            <a:avLst/>
          </a:prstGeom>
          <a:solidFill>
            <a:srgbClr val="E7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724900" y="4133850"/>
            <a:ext cx="1092622" cy="114300"/>
          </a:xfrm>
          <a:prstGeom prst="rect">
            <a:avLst/>
          </a:prstGeom>
          <a:solidFill>
            <a:srgbClr val="3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515600" y="4114800"/>
            <a:ext cx="104775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950" b="1">
                <a:solidFill>
                  <a:srgbClr val="182238"/>
                </a:solidFill>
                <a:latin typeface="Aptos"/>
              </a:rPr>
              <a:t>44 h · 7 dias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258050" y="4362450"/>
            <a:ext cx="142875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0">
                <a:solidFill>
                  <a:srgbClr val="182238"/>
                </a:solidFill>
                <a:latin typeface="Aptos"/>
              </a:rPr>
              <a:t>Francisco Marcio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724900" y="4381500"/>
            <a:ext cx="1714500" cy="114300"/>
          </a:xfrm>
          <a:prstGeom prst="rect">
            <a:avLst/>
          </a:prstGeom>
          <a:solidFill>
            <a:srgbClr val="E7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8724900" y="4381500"/>
            <a:ext cx="1055458" cy="114300"/>
          </a:xfrm>
          <a:prstGeom prst="rect">
            <a:avLst/>
          </a:prstGeom>
          <a:solidFill>
            <a:srgbClr val="3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515600" y="4362450"/>
            <a:ext cx="104775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950" b="1">
                <a:solidFill>
                  <a:srgbClr val="182238"/>
                </a:solidFill>
                <a:latin typeface="Aptos"/>
              </a:rPr>
              <a:t>43 h · 12 dias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258050" y="4610100"/>
            <a:ext cx="142875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0">
                <a:solidFill>
                  <a:srgbClr val="182238"/>
                </a:solidFill>
                <a:latin typeface="Aptos"/>
              </a:rPr>
              <a:t>Jose Roberto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724900" y="4629150"/>
            <a:ext cx="1714500" cy="114300"/>
          </a:xfrm>
          <a:prstGeom prst="rect">
            <a:avLst/>
          </a:prstGeom>
          <a:solidFill>
            <a:srgbClr val="E7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8724900" y="4629150"/>
            <a:ext cx="1028204" cy="114300"/>
          </a:xfrm>
          <a:prstGeom prst="rect">
            <a:avLst/>
          </a:prstGeom>
          <a:solidFill>
            <a:srgbClr val="3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0515600" y="4610100"/>
            <a:ext cx="104775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950" b="1">
                <a:solidFill>
                  <a:srgbClr val="182238"/>
                </a:solidFill>
                <a:latin typeface="Aptos"/>
              </a:rPr>
              <a:t>42 h · 4 dias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258050" y="4857750"/>
            <a:ext cx="142875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0">
                <a:solidFill>
                  <a:srgbClr val="182238"/>
                </a:solidFill>
                <a:latin typeface="Aptos"/>
              </a:rPr>
              <a:t>Antonio Marcos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724900" y="4876800"/>
            <a:ext cx="1714500" cy="114300"/>
          </a:xfrm>
          <a:prstGeom prst="rect">
            <a:avLst/>
          </a:prstGeom>
          <a:solidFill>
            <a:srgbClr val="E7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8724900" y="4876800"/>
            <a:ext cx="976174" cy="114300"/>
          </a:xfrm>
          <a:prstGeom prst="rect">
            <a:avLst/>
          </a:prstGeom>
          <a:solidFill>
            <a:srgbClr val="3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0515600" y="4857750"/>
            <a:ext cx="104775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950" b="1">
                <a:solidFill>
                  <a:srgbClr val="182238"/>
                </a:solidFill>
                <a:latin typeface="Aptos"/>
              </a:rPr>
              <a:t>39 h · 5 dias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258050" y="5143500"/>
            <a:ext cx="419100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0">
                <a:solidFill>
                  <a:srgbClr val="667085"/>
                </a:solidFill>
                <a:latin typeface="Aptos"/>
              </a:rPr>
              <a:t>Formalizar o turno primeiro para esse grupo: a demanda já é diária e comprovada.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477500" cy="76200"/>
          </a:xfrm>
          <a:prstGeom prst="rect">
            <a:avLst/>
          </a:prstGeom>
          <a:solidFill>
            <a:srgbClr val="0815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477500" y="0"/>
            <a:ext cx="1714500" cy="76200"/>
          </a:xfrm>
          <a:prstGeom prst="rect">
            <a:avLst/>
          </a:prstGeom>
          <a:solidFill>
            <a:srgbClr val="42D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82250" y="285750"/>
            <a:ext cx="1238250" cy="34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</a:pPr>
            <a:r>
              <a:rPr sz="2700" b="0">
                <a:solidFill>
                  <a:srgbClr val="081551"/>
                </a:solidFill>
                <a:latin typeface="Aptos Display"/>
              </a:rPr>
              <a:t>alloha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82250" y="628650"/>
            <a:ext cx="1238250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</a:pPr>
            <a:r>
              <a:rPr sz="800" b="1">
                <a:solidFill>
                  <a:srgbClr val="13853A"/>
                </a:solidFill>
                <a:latin typeface="Aptos"/>
              </a:rPr>
              <a:t>F I B R 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3400" y="6572250"/>
            <a:ext cx="99060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900" b="0">
                <a:solidFill>
                  <a:srgbClr val="8B94A6"/>
                </a:solidFill>
                <a:latin typeface="Aptos"/>
              </a:rPr>
              <a:t>HUB de Horas Extras · Power BI · SUB BU R6 - CEARA · foto de 10/07/2026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53750" y="6572250"/>
            <a:ext cx="70485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</a:pPr>
            <a:r>
              <a:rPr sz="900" b="0">
                <a:solidFill>
                  <a:srgbClr val="8B94A6"/>
                </a:solidFill>
                <a:latin typeface="Aptos"/>
              </a:rPr>
              <a:t>5 / 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3400" y="323850"/>
            <a:ext cx="93345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200" b="1">
                <a:solidFill>
                  <a:srgbClr val="1476C9"/>
                </a:solidFill>
                <a:latin typeface="Aptos"/>
              </a:rPr>
              <a:t>PROPOSTA DO PRÓXIMO CICLO · FCA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3400" y="552450"/>
            <a:ext cx="10001250" cy="723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>
                <a:solidFill>
                  <a:srgbClr val="081551"/>
                </a:solidFill>
                <a:latin typeface="Aptos Display"/>
              </a:rPr>
              <a:t>Fechar o gap de R$ 55,7 mil/mês com ações específicas por área — não com corte cego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33400" y="1428750"/>
            <a:ext cx="3429000" cy="142875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23900" y="1543050"/>
            <a:ext cx="3048000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1">
                <a:solidFill>
                  <a:srgbClr val="1476C9"/>
                </a:solidFill>
                <a:latin typeface="Aptos"/>
              </a:rPr>
              <a:t>DO ORÇADO À PROPOSTA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3900" y="1790700"/>
            <a:ext cx="19050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100" b="0">
                <a:solidFill>
                  <a:srgbClr val="667085"/>
                </a:solidFill>
                <a:latin typeface="Aptos"/>
              </a:rPr>
              <a:t>Orçado do ciclo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3900" y="1943100"/>
            <a:ext cx="304800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700" b="1">
                <a:solidFill>
                  <a:srgbClr val="182238"/>
                </a:solidFill>
                <a:latin typeface="Aptos"/>
              </a:rPr>
              <a:t>R$ 125,5 mil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3900" y="2228850"/>
            <a:ext cx="19050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100" b="0">
                <a:solidFill>
                  <a:srgbClr val="667085"/>
                </a:solidFill>
                <a:latin typeface="Aptos"/>
              </a:rPr>
              <a:t>Proposta · −50%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3900" y="2381250"/>
            <a:ext cx="2286000" cy="2667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2100" b="1">
                <a:solidFill>
                  <a:srgbClr val="13853A"/>
                </a:solidFill>
                <a:latin typeface="Aptos Display"/>
              </a:rPr>
              <a:t>R$ 62,8 mil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857500" y="2381250"/>
            <a:ext cx="914400" cy="247650"/>
          </a:xfrm>
          <a:prstGeom prst="roundRect">
            <a:avLst>
              <a:gd name="adj" fmla="val 6000"/>
            </a:avLst>
          </a:prstGeom>
          <a:solidFill>
            <a:srgbClr val="E8F6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857500" y="2381250"/>
            <a:ext cx="876300" cy="2476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100" b="1">
                <a:solidFill>
                  <a:srgbClr val="13853A"/>
                </a:solidFill>
                <a:latin typeface="Aptos"/>
              </a:rPr>
              <a:t>−R$ 55,7 mil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152900" y="1428750"/>
            <a:ext cx="2438400" cy="1428750"/>
          </a:xfrm>
          <a:prstGeom prst="roundRect">
            <a:avLst>
              <a:gd name="adj" fmla="val 6000"/>
            </a:avLst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324350" y="1543050"/>
            <a:ext cx="571500" cy="285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2200" b="1">
                <a:solidFill>
                  <a:srgbClr val="13853A"/>
                </a:solidFill>
                <a:latin typeface="Aptos Display"/>
              </a:rPr>
              <a:t>01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24350" y="1866900"/>
            <a:ext cx="21336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</a:pPr>
            <a:r>
              <a:rPr sz="1200" b="1">
                <a:solidFill>
                  <a:srgbClr val="081551"/>
                </a:solidFill>
                <a:latin typeface="Aptos"/>
              </a:rPr>
              <a:t>Escala regular de fim de semana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24350" y="2247900"/>
            <a:ext cx="2133600" cy="552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>
                <a:solidFill>
                  <a:srgbClr val="182238"/>
                </a:solidFill>
                <a:latin typeface="Aptos"/>
              </a:rPr>
              <a:t>65% das horas acionadas caem no sáb/dom, de dia (484 h) — hoje cobertas por sobreaviso, a forma mais cara. Revezamento de FDS (folguista/12x36) nas GAs líderes elimina esse custo recorrente.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648450" y="1428750"/>
            <a:ext cx="2438400" cy="1428750"/>
          </a:xfrm>
          <a:prstGeom prst="roundRect">
            <a:avLst>
              <a:gd name="adj" fmla="val 6000"/>
            </a:avLst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19900" y="1543050"/>
            <a:ext cx="571500" cy="285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2200" b="1">
                <a:solidFill>
                  <a:srgbClr val="13853A"/>
                </a:solidFill>
                <a:latin typeface="Aptos Display"/>
              </a:rPr>
              <a:t>02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19900" y="1866900"/>
            <a:ext cx="21336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</a:pPr>
            <a:r>
              <a:rPr sz="1200" b="1">
                <a:solidFill>
                  <a:srgbClr val="081551"/>
                </a:solidFill>
                <a:latin typeface="Aptos"/>
              </a:rPr>
              <a:t>Turno fixo onde a demanda é diária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19900" y="2247900"/>
            <a:ext cx="2133600" cy="552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>
                <a:solidFill>
                  <a:srgbClr val="182238"/>
                </a:solidFill>
                <a:latin typeface="Aptos"/>
              </a:rPr>
              <a:t>Nas GAs de acionamento quase diário: turno fixo cobre a mediana de acionados; sobreaviso residual cobre o p90. Hora acionada: R$ 28,54 → turno: R$ 13,21. Economia: R$ 13,1 mil/mês.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144000" y="1428750"/>
            <a:ext cx="2438400" cy="1428750"/>
          </a:xfrm>
          <a:prstGeom prst="roundRect">
            <a:avLst>
              <a:gd name="adj" fmla="val 6000"/>
            </a:avLst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315450" y="1543050"/>
            <a:ext cx="571500" cy="285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2200" b="1">
                <a:solidFill>
                  <a:srgbClr val="13853A"/>
                </a:solidFill>
                <a:latin typeface="Aptos Display"/>
              </a:rPr>
              <a:t>03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315450" y="1866900"/>
            <a:ext cx="21336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</a:pPr>
            <a:r>
              <a:rPr sz="1200" b="1">
                <a:solidFill>
                  <a:srgbClr val="081551"/>
                </a:solidFill>
                <a:latin typeface="Aptos"/>
              </a:rPr>
              <a:t>Enxugar o plantão pela demanda real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315450" y="2247900"/>
            <a:ext cx="2133600" cy="552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>
                <a:solidFill>
                  <a:srgbClr val="182238"/>
                </a:solidFill>
                <a:latin typeface="Aptos"/>
              </a:rPr>
              <a:t>Só 35% dos técnicos de sobreaviso são acionados por dia. Reduzir plantonistas nas GAs intermediárias/eventuais pelo p90 e retirar da escala os técnicos em plantão frequente quase nunca acionados.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33400" y="3009900"/>
            <a:ext cx="571500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250" b="1">
                <a:solidFill>
                  <a:srgbClr val="081551"/>
                </a:solidFill>
                <a:latin typeface="Aptos"/>
              </a:rPr>
              <a:t>FCA — Fato · Causa · Ação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533400" y="3238500"/>
          <a:ext cx="11106150" cy="28575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81250"/>
                <a:gridCol w="2857500"/>
                <a:gridCol w="3009900"/>
                <a:gridCol w="1047750"/>
                <a:gridCol w="1428750"/>
                <a:gridCol w="381000"/>
              </a:tblGrid>
              <a:tr h="571500">
                <a:tc>
                  <a:txBody>
                    <a:bodyPr wrap="square"/>
                    <a:lstStyle/>
                    <a:p>
                      <a:pPr algn="l">
                        <a:lnSpc>
                          <a:spcPct val="104000"/>
                        </a:lnSpc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Aptos"/>
                        </a:rPr>
                        <a:t>Fato</a:t>
                      </a:r>
                    </a:p>
                  </a:txBody>
                  <a:tcPr anchor="ctr" marL="85725" marR="76200" marT="47625" marB="47625">
                    <a:solidFill>
                      <a:srgbClr val="08155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4000"/>
                        </a:lnSpc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Aptos"/>
                        </a:rPr>
                        <a:t>Causa</a:t>
                      </a:r>
                    </a:p>
                  </a:txBody>
                  <a:tcPr anchor="ctr" marL="85725" marR="76200" marT="47625" marB="47625">
                    <a:solidFill>
                      <a:srgbClr val="08155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4000"/>
                        </a:lnSpc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Aptos"/>
                        </a:rPr>
                        <a:t>Ação</a:t>
                      </a:r>
                    </a:p>
                  </a:txBody>
                  <a:tcPr anchor="ctr" marL="85725" marR="76200" marT="47625" marB="47625">
                    <a:solidFill>
                      <a:srgbClr val="08155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4000"/>
                        </a:lnSpc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Aptos"/>
                        </a:rPr>
                        <a:t>Prazo</a:t>
                      </a:r>
                    </a:p>
                  </a:txBody>
                  <a:tcPr anchor="ctr" marL="85725" marR="76200" marT="47625" marB="47625">
                    <a:solidFill>
                      <a:srgbClr val="08155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4000"/>
                        </a:lnSpc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Aptos"/>
                        </a:rPr>
                        <a:t>Responsável</a:t>
                      </a:r>
                    </a:p>
                  </a:txBody>
                  <a:tcPr anchor="ctr" marL="85725" marR="76200" marT="47625" marB="47625">
                    <a:solidFill>
                      <a:srgbClr val="08155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4000"/>
                        </a:lnSpc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Aptos"/>
                        </a:rPr>
                        <a:t/>
                      </a:r>
                    </a:p>
                  </a:txBody>
                  <a:tcPr anchor="ctr" marL="85725" marR="76200" marT="47625" marB="47625">
                    <a:solidFill>
                      <a:srgbClr val="081551"/>
                    </a:solidFill>
                  </a:tcPr>
                </a:tc>
              </a:tr>
              <a:tr h="571500">
                <a:tc>
                  <a:txBody>
                    <a:bodyPr wrap="square"/>
                    <a:lstStyle/>
                    <a:p>
                      <a:pPr algn="l">
                        <a:lnSpc>
                          <a:spcPct val="104000"/>
                        </a:lnSpc>
                      </a:pPr>
                      <a:r>
                        <a:rPr sz="1000" b="1">
                          <a:solidFill>
                            <a:srgbClr val="081551"/>
                          </a:solidFill>
                          <a:latin typeface="Aptos"/>
                        </a:rPr>
                        <a:t>65% das horas acionadas caem no fim de semana</a:t>
                      </a:r>
                    </a:p>
                  </a:txBody>
                  <a:tcPr anchor="t" marL="85725" marR="76200" marT="47625" marB="47625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4000"/>
                        </a:lnSpc>
                      </a:pPr>
                      <a:r>
                        <a:rPr sz="950" b="0">
                          <a:solidFill>
                            <a:srgbClr val="182238"/>
                          </a:solidFill>
                          <a:latin typeface="Aptos"/>
                        </a:rPr>
                        <a:t>Sem escala regular de sáb/dom, a cobertura diurna do FDS (484 h) é feita via acionamento com adicional maior.</a:t>
                      </a:r>
                    </a:p>
                  </a:txBody>
                  <a:tcPr anchor="t" marL="85725" marR="76200" marT="47625" marB="47625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4000"/>
                        </a:lnSpc>
                      </a:pPr>
                      <a:r>
                        <a:rPr sz="950" b="0">
                          <a:solidFill>
                            <a:srgbClr val="182238"/>
                          </a:solidFill>
                          <a:latin typeface="Aptos"/>
                        </a:rPr>
                        <a:t>Implantar revezamento de fim de semana nas GAs líderes (folguista/12x36) e retirar o FDS diurno do sobreaviso.</a:t>
                      </a:r>
                    </a:p>
                  </a:txBody>
                  <a:tcPr anchor="t" marL="85725" marR="76200" marT="47625" marB="47625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4000"/>
                        </a:lnSpc>
                      </a:pPr>
                      <a:r>
                        <a:rPr sz="950" b="1">
                          <a:solidFill>
                            <a:srgbClr val="182238"/>
                          </a:solidFill>
                          <a:latin typeface="Aptos"/>
                        </a:rPr>
                        <a:t>Próximo ciclo</a:t>
                      </a:r>
                    </a:p>
                  </a:txBody>
                  <a:tcPr anchor="t" marL="85725" marR="76200" marT="47625" marB="47625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4000"/>
                        </a:lnSpc>
                      </a:pPr>
                      <a:r>
                        <a:rPr sz="950" b="0">
                          <a:solidFill>
                            <a:srgbClr val="182238"/>
                          </a:solidFill>
                          <a:latin typeface="Aptos"/>
                        </a:rPr>
                        <a:t>Planejamento de escala + Coordenação de campo</a:t>
                      </a:r>
                    </a:p>
                  </a:txBody>
                  <a:tcPr anchor="t" marL="85725" marR="76200" marT="47625" marB="47625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4000"/>
                        </a:lnSpc>
                      </a:pPr>
                      <a:r>
                        <a:rPr sz="1200" b="0">
                          <a:solidFill>
                            <a:srgbClr val="D94545"/>
                          </a:solidFill>
                          <a:latin typeface="Aptos"/>
                        </a:rPr>
                        <a:t>●</a:t>
                      </a:r>
                    </a:p>
                  </a:txBody>
                  <a:tcPr anchor="ctr" marL="85725" marR="76200" marT="47625" marB="47625">
                    <a:solidFill>
                      <a:srgbClr val="FFFFFF"/>
                    </a:solidFill>
                  </a:tcPr>
                </a:tc>
              </a:tr>
              <a:tr h="571500">
                <a:tc>
                  <a:txBody>
                    <a:bodyPr wrap="square"/>
                    <a:lstStyle/>
                    <a:p>
                      <a:pPr algn="l">
                        <a:lnSpc>
                          <a:spcPct val="104000"/>
                        </a:lnSpc>
                      </a:pPr>
                      <a:r>
                        <a:rPr sz="1000" b="1">
                          <a:solidFill>
                            <a:srgbClr val="081551"/>
                          </a:solidFill>
                          <a:latin typeface="Aptos"/>
                        </a:rPr>
                        <a:t>GAs com acionamento quase diário (R$ 24,8 mil/mês)</a:t>
                      </a:r>
                    </a:p>
                  </a:txBody>
                  <a:tcPr anchor="t" marL="85725" marR="76200" marT="47625" marB="47625">
                    <a:solidFill>
                      <a:srgbClr val="F3F6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4000"/>
                        </a:lnSpc>
                      </a:pPr>
                      <a:r>
                        <a:rPr sz="950" b="0">
                          <a:solidFill>
                            <a:srgbClr val="182238"/>
                          </a:solidFill>
                          <a:latin typeface="Aptos"/>
                        </a:rPr>
                        <a:t>Demanda recorrente (Marcos Davi, Bruno Santos, Max Weber) paga como sobreaviso + HE de acionamento — instrumento errado para trabalho regular.</a:t>
                      </a:r>
                    </a:p>
                  </a:txBody>
                  <a:tcPr anchor="t" marL="85725" marR="76200" marT="47625" marB="47625">
                    <a:solidFill>
                      <a:srgbClr val="F3F6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4000"/>
                        </a:lnSpc>
                      </a:pPr>
                      <a:r>
                        <a:rPr sz="950" b="0">
                          <a:solidFill>
                            <a:srgbClr val="182238"/>
                          </a:solidFill>
                          <a:latin typeface="Aptos"/>
                        </a:rPr>
                        <a:t>Dimensionar turno fixo pela mediana de acionados e formalizar primeiro os técnicos já acionados toda semana; sobreaviso residual para o excedente (p90).</a:t>
                      </a:r>
                    </a:p>
                  </a:txBody>
                  <a:tcPr anchor="t" marL="85725" marR="76200" marT="47625" marB="47625">
                    <a:solidFill>
                      <a:srgbClr val="F3F6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4000"/>
                        </a:lnSpc>
                      </a:pPr>
                      <a:r>
                        <a:rPr sz="950" b="1">
                          <a:solidFill>
                            <a:srgbClr val="182238"/>
                          </a:solidFill>
                          <a:latin typeface="Aptos"/>
                        </a:rPr>
                        <a:t>Próximo ciclo</a:t>
                      </a:r>
                    </a:p>
                  </a:txBody>
                  <a:tcPr anchor="t" marL="85725" marR="76200" marT="47625" marB="47625">
                    <a:solidFill>
                      <a:srgbClr val="F3F6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4000"/>
                        </a:lnSpc>
                      </a:pPr>
                      <a:r>
                        <a:rPr sz="950" b="0">
                          <a:solidFill>
                            <a:srgbClr val="182238"/>
                          </a:solidFill>
                          <a:latin typeface="Aptos"/>
                        </a:rPr>
                        <a:t>Gerência regional + RH + Planejamento</a:t>
                      </a:r>
                    </a:p>
                  </a:txBody>
                  <a:tcPr anchor="t" marL="85725" marR="76200" marT="47625" marB="47625">
                    <a:solidFill>
                      <a:srgbClr val="F3F6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4000"/>
                        </a:lnSpc>
                      </a:pPr>
                      <a:r>
                        <a:rPr sz="1200" b="0">
                          <a:solidFill>
                            <a:srgbClr val="1476C9"/>
                          </a:solidFill>
                          <a:latin typeface="Aptos"/>
                        </a:rPr>
                        <a:t>●</a:t>
                      </a:r>
                    </a:p>
                  </a:txBody>
                  <a:tcPr anchor="ctr" marL="85725" marR="76200" marT="47625" marB="47625">
                    <a:solidFill>
                      <a:srgbClr val="F3F6FA"/>
                    </a:solidFill>
                  </a:tcPr>
                </a:tc>
              </a:tr>
              <a:tr h="571500">
                <a:tc>
                  <a:txBody>
                    <a:bodyPr wrap="square"/>
                    <a:lstStyle/>
                    <a:p>
                      <a:pPr algn="l">
                        <a:lnSpc>
                          <a:spcPct val="104000"/>
                        </a:lnSpc>
                      </a:pPr>
                      <a:r>
                        <a:rPr sz="1000" b="1">
                          <a:solidFill>
                            <a:srgbClr val="081551"/>
                          </a:solidFill>
                          <a:latin typeface="Aptos"/>
                        </a:rPr>
                        <a:t>Só 19% do sobreaviso vira acionamento</a:t>
                      </a:r>
                    </a:p>
                  </a:txBody>
                  <a:tcPr anchor="t" marL="85725" marR="76200" marT="47625" marB="47625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4000"/>
                        </a:lnSpc>
                      </a:pPr>
                      <a:r>
                        <a:rPr sz="950" b="0">
                          <a:solidFill>
                            <a:srgbClr val="182238"/>
                          </a:solidFill>
                          <a:latin typeface="Aptos"/>
                        </a:rPr>
                        <a:t>24,8 técnicos/dia em espera para 8,7 acionados; escala acima da demanda real nas GAs intermediárias e eventuais.</a:t>
                      </a:r>
                    </a:p>
                  </a:txBody>
                  <a:tcPr anchor="t" marL="85725" marR="76200" marT="47625" marB="47625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4000"/>
                        </a:lnSpc>
                      </a:pPr>
                      <a:r>
                        <a:rPr sz="950" b="0">
                          <a:solidFill>
                            <a:srgbClr val="182238"/>
                          </a:solidFill>
                          <a:latin typeface="Aptos"/>
                        </a:rPr>
                        <a:t>Reduzir plantonistas pelo p90 de acionados por GA; revisar nominalmente os técnicos em plantão frequente com acionamento raro.</a:t>
                      </a:r>
                    </a:p>
                  </a:txBody>
                  <a:tcPr anchor="t" marL="85725" marR="76200" marT="47625" marB="47625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4000"/>
                        </a:lnSpc>
                      </a:pPr>
                      <a:r>
                        <a:rPr sz="950" b="1">
                          <a:solidFill>
                            <a:srgbClr val="182238"/>
                          </a:solidFill>
                          <a:latin typeface="Aptos"/>
                        </a:rPr>
                        <a:t>Próximo ciclo</a:t>
                      </a:r>
                    </a:p>
                  </a:txBody>
                  <a:tcPr anchor="t" marL="85725" marR="76200" marT="47625" marB="47625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4000"/>
                        </a:lnSpc>
                      </a:pPr>
                      <a:r>
                        <a:rPr sz="950" b="0">
                          <a:solidFill>
                            <a:srgbClr val="182238"/>
                          </a:solidFill>
                          <a:latin typeface="Aptos"/>
                        </a:rPr>
                        <a:t>Gestores das áreas (GA) + Planejamento</a:t>
                      </a:r>
                    </a:p>
                  </a:txBody>
                  <a:tcPr anchor="t" marL="85725" marR="76200" marT="47625" marB="47625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4000"/>
                        </a:lnSpc>
                      </a:pPr>
                      <a:r>
                        <a:rPr sz="1200" b="0">
                          <a:solidFill>
                            <a:srgbClr val="1476C9"/>
                          </a:solidFill>
                          <a:latin typeface="Aptos"/>
                        </a:rPr>
                        <a:t>●</a:t>
                      </a:r>
                    </a:p>
                  </a:txBody>
                  <a:tcPr anchor="ctr" marL="85725" marR="76200" marT="47625" marB="47625">
                    <a:solidFill>
                      <a:srgbClr val="FFFFFF"/>
                    </a:solidFill>
                  </a:tcPr>
                </a:tc>
              </a:tr>
              <a:tr h="571500">
                <a:tc>
                  <a:txBody>
                    <a:bodyPr wrap="square"/>
                    <a:lstStyle/>
                    <a:p>
                      <a:pPr algn="l">
                        <a:lnSpc>
                          <a:spcPct val="104000"/>
                        </a:lnSpc>
                      </a:pPr>
                      <a:r>
                        <a:rPr sz="1000" b="1">
                          <a:solidFill>
                            <a:srgbClr val="081551"/>
                          </a:solidFill>
                          <a:latin typeface="Aptos"/>
                        </a:rPr>
                        <a:t>Risco de descobertura se houver corte cego</a:t>
                      </a:r>
                    </a:p>
                  </a:txBody>
                  <a:tcPr anchor="t" marL="85725" marR="76200" marT="47625" marB="47625">
                    <a:solidFill>
                      <a:srgbClr val="F3F6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4000"/>
                        </a:lnSpc>
                      </a:pPr>
                      <a:r>
                        <a:rPr sz="950" b="0">
                          <a:solidFill>
                            <a:srgbClr val="182238"/>
                          </a:solidFill>
                          <a:latin typeface="Aptos"/>
                        </a:rPr>
                        <a:t>Na maior GA o pico chegou a 8 técnicos acionados no mesmo dia — margem apertada sobre o plantão atual.</a:t>
                      </a:r>
                    </a:p>
                  </a:txBody>
                  <a:tcPr anchor="t" marL="85725" marR="76200" marT="47625" marB="47625">
                    <a:solidFill>
                      <a:srgbClr val="F3F6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4000"/>
                        </a:lnSpc>
                      </a:pPr>
                      <a:r>
                        <a:rPr sz="950" b="0">
                          <a:solidFill>
                            <a:srgbClr val="182238"/>
                          </a:solidFill>
                          <a:latin typeface="Aptos"/>
                        </a:rPr>
                        <a:t>Regra de piso: nenhuma GA reduz plantão abaixo do p90 de acionados simultâneos sem turno fixo no lugar; pico raro coberto por backup entre GAs vizinhas.</a:t>
                      </a:r>
                    </a:p>
                  </a:txBody>
                  <a:tcPr anchor="t" marL="85725" marR="76200" marT="47625" marB="47625">
                    <a:solidFill>
                      <a:srgbClr val="F3F6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4000"/>
                        </a:lnSpc>
                      </a:pPr>
                      <a:r>
                        <a:rPr sz="950" b="1">
                          <a:solidFill>
                            <a:srgbClr val="182238"/>
                          </a:solidFill>
                          <a:latin typeface="Aptos"/>
                        </a:rPr>
                        <a:t>Regra permanente</a:t>
                      </a:r>
                    </a:p>
                  </a:txBody>
                  <a:tcPr anchor="t" marL="85725" marR="76200" marT="47625" marB="47625">
                    <a:solidFill>
                      <a:srgbClr val="F3F6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4000"/>
                        </a:lnSpc>
                      </a:pPr>
                      <a:r>
                        <a:rPr sz="950" b="0">
                          <a:solidFill>
                            <a:srgbClr val="182238"/>
                          </a:solidFill>
                          <a:latin typeface="Aptos"/>
                        </a:rPr>
                        <a:t>Gerência regional</a:t>
                      </a:r>
                    </a:p>
                  </a:txBody>
                  <a:tcPr anchor="t" marL="85725" marR="76200" marT="47625" marB="47625">
                    <a:solidFill>
                      <a:srgbClr val="F3F6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4000"/>
                        </a:lnSpc>
                      </a:pPr>
                      <a:r>
                        <a:rPr sz="1200" b="0">
                          <a:solidFill>
                            <a:srgbClr val="E4BD30"/>
                          </a:solidFill>
                          <a:latin typeface="Aptos"/>
                        </a:rPr>
                        <a:t>●</a:t>
                      </a:r>
                    </a:p>
                  </a:txBody>
                  <a:tcPr anchor="ctr" marL="85725" marR="76200" marT="47625" marB="47625">
                    <a:solidFill>
                      <a:srgbClr val="F3F6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