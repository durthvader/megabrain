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ln w="31750">
              <a:solidFill>
                <a:srgbClr val="081551"/>
              </a:solidFill>
            </a:ln>
          </c:spPr>
          <c:marker>
            <c:symbol val="circle"/>
            <c:size val="5"/>
            <c:spPr>
              <a:solidFill>
                <a:srgbClr val="081551"/>
              </a:solidFill>
              <a:ln>
                <a:solidFill>
                  <a:srgbClr val="08155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173.75227999999998</c:v>
                </c:pt>
                <c:pt idx="1">
                  <c:v>155.4607</c:v>
                </c:pt>
                <c:pt idx="2">
                  <c:v>160.45763</c:v>
                </c:pt>
                <c:pt idx="3">
                  <c:v>296.10756</c:v>
                </c:pt>
                <c:pt idx="4">
                  <c:v>243.25226</c:v>
                </c:pt>
                <c:pt idx="5">
                  <c:v>222.67766</c:v>
                </c:pt>
                <c:pt idx="6">
                  <c:v>119.066857522217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Orçado</c:v>
                </c:pt>
              </c:strCache>
            </c:strRef>
          </c:tx>
          <c:spPr>
            <a:ln w="22225">
              <a:solidFill>
                <a:srgbClr val="667085"/>
              </a:solidFill>
            </a:ln>
          </c:spPr>
          <c:marker>
            <c:symbol val="diamond"/>
            <c:size val="5"/>
            <c:spPr>
              <a:solidFill>
                <a:srgbClr val="667085"/>
              </a:solidFill>
              <a:ln>
                <a:solidFill>
                  <a:srgbClr val="667085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116.576143061617</c:v>
                </c:pt>
                <c:pt idx="1">
                  <c:v>112.370160433068</c:v>
                </c:pt>
                <c:pt idx="2">
                  <c:v>110.014102395986</c:v>
                </c:pt>
                <c:pt idx="3">
                  <c:v>147.244894961845</c:v>
                </c:pt>
                <c:pt idx="4">
                  <c:v>151.489197449074</c:v>
                </c:pt>
                <c:pt idx="5">
                  <c:v>132.33501031261798</c:v>
                </c:pt>
                <c:pt idx="6">
                  <c:v>125.54375451986901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−50%</c:v>
                </c:pt>
              </c:strCache>
            </c:strRef>
          </c:tx>
          <c:spPr>
            <a:ln w="22225">
              <a:solidFill>
                <a:srgbClr val="13853A"/>
              </a:solidFill>
            </a:ln>
          </c:spPr>
          <c:marker>
            <c:symbol val="diamond"/>
            <c:size val="5"/>
            <c:spPr>
              <a:solidFill>
                <a:srgbClr val="13853A"/>
              </a:solidFill>
              <a:ln>
                <a:solidFill>
                  <a:srgbClr val="13853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62.771879999999996</c:v>
                </c:pt>
                <c:pt idx="1">
                  <c:v>62.771879999999996</c:v>
                </c:pt>
                <c:pt idx="2">
                  <c:v>62.771879999999996</c:v>
                </c:pt>
                <c:pt idx="3">
                  <c:v>62.771879999999996</c:v>
                </c:pt>
                <c:pt idx="4">
                  <c:v>62.771879999999996</c:v>
                </c:pt>
                <c:pt idx="5">
                  <c:v>62.771879999999996</c:v>
                </c:pt>
                <c:pt idx="6">
                  <c:v>62.771879999999996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0EA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INDICADOR (Fato). Números vêm de dados_&lt;regiao&gt;.json; textos de narrativa_&lt;regiao&gt;.json (s1). Meta = -50% do orçado.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CAUSA/onde (ociosidade + regimes). HC/dia e horas de espera x acionamento; painel C mostra dia útil (noturno) x FDS (diurno). Números do JSON (ociosidade, inteligencia.regimes).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CAUSA/quem (por GA). Ranking de horas + frequência de acionamento: GA que aciona todo dia tem demanda estrutural (instrumento errado: sobreaviso); GA eventual usa sobreaviso corretamente. Do JSON (sobreaviso_por_ga, inteligencia.gas).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RISCO x CUSTO-BENEFÍCIO. Dimensionamento por GA (mediana=turno fixo, p90=sobreaviso residual, máx=backup), regra de piso, conta da conversão e nominal dos técnicos mais acionados. Do JSON (inteligencia).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AÇÃO (proposta + FCA cirúrgico). Orçado-&gt;Proposta (-50%), 3 alavancas e a tabela FCA com ações específicas por GA. Edite textos em narrativa_&lt;regiao&gt;.json (s5).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SUB BU R6 - CEARA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CUSTO DE HORAS · Ceará · 10/07/2026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A meta é cortar o custo de horas pela metade — e o dinheiro está no sobreaviso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ORÇADO DO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R$ 125,5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por mês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86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META · −50%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6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FFFFF"/>
                </a:solidFill>
                <a:latin typeface="Aptos Display"/>
              </a:rPr>
              <a:t>R$ 62,8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86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D6EF"/>
                </a:solidFill>
                <a:latin typeface="Aptos"/>
              </a:rPr>
              <a:t>compromisso do próximo ciclo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24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REALIZADO (FOTO)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R$ 118,4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24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6% abaixo vs orçado · falta cortar 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Custo mensal de horas — R$ mil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19100" y="3009900"/>
          <a:ext cx="5572125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865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Composição do custo (mês-foto)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0" y="3048000"/>
            <a:ext cx="2858292" cy="32385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792" y="3048000"/>
            <a:ext cx="1413033" cy="3238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57825" y="3048000"/>
            <a:ext cx="762676" cy="3238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501" y="3048000"/>
            <a:ext cx="268091" cy="32385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88593" y="3048000"/>
            <a:ext cx="50956" cy="32385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792" y="3409950"/>
            <a:ext cx="2175709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792" y="3448050"/>
            <a:ext cx="2175709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Sobreaviso = 41%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6500" y="3714750"/>
            <a:ext cx="1143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0" y="36957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DSR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36957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R$ 63,2 mil  ·  53%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0" y="3924300"/>
            <a:ext cx="114300" cy="1143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0" y="39052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sobreaviso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0" y="39052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R$ 31,3 mil  ·  26%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4133850"/>
            <a:ext cx="1143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0" y="41148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 sobreaviso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41148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R$ 16,9 mil  ·  14%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500" y="4343400"/>
            <a:ext cx="114300" cy="11430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0" y="43243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Banco de horas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43243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R$ 5,9 mil  ·  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6500" y="4552950"/>
            <a:ext cx="114300" cy="11430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45339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Feriados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0" y="45339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R$ 1,1 mil  ·  1%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500" y="4876800"/>
            <a:ext cx="5353050" cy="1219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7000" y="49911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DECISÃO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0" y="5181600"/>
            <a:ext cx="49911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82238"/>
                </a:solidFill>
                <a:latin typeface="Aptos"/>
              </a:rPr>
              <a:t>Atacar o sobreaviso, que responde por 41% da cesta e é a parte mais controlável do custo. E o alvo principal aqui é o fim de semana: 65% das horas acionadas caem no sáb/dom — sinal de falta de escala regular de FDS, não de falta de plantão.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SUB BU R6 - CEARA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DO CUSTO · ONDE ESTÁ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Paga-se muito plantão em espera — e o acionamento tem dois padrões distintos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33400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495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Técnicos por dia: em espera x acionados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7907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Média por dia no período de sobreaviso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907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Em espera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1100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24,8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5336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5527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0" y="2552700"/>
            <a:ext cx="1002429" cy="12382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1100" y="2533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8,7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" y="2971800"/>
            <a:ext cx="4953000" cy="6286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67050"/>
            <a:ext cx="1428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3853A"/>
                </a:solidFill>
                <a:latin typeface="Aptos Display"/>
              </a:rPr>
              <a:t>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1250" y="3067050"/>
            <a:ext cx="3162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182238"/>
                </a:solidFill>
                <a:latin typeface="Aptos"/>
              </a:rPr>
              <a:t>dos técnicos de sobreaviso são de fato acionados por dia — o restante é plantão pago em espera.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7900" y="1428750"/>
            <a:ext cx="558165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7450" y="1581150"/>
            <a:ext cx="514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sobreaviso: espera x acionamento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450" y="1790700"/>
            <a:ext cx="5143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Soma do período (analítico nominal)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450" y="200025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7450" y="2200275"/>
            <a:ext cx="502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4.598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7450" y="25336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efetivo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7450" y="27051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7450" y="2705100"/>
            <a:ext cx="989909" cy="2476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559" y="2733675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81551"/>
                </a:solidFill>
                <a:latin typeface="Aptos"/>
              </a:rPr>
              <a:t>1.096 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7450" y="3162300"/>
            <a:ext cx="5143500" cy="5143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900" y="3162300"/>
            <a:ext cx="9144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42DF4B"/>
                </a:solidFill>
                <a:latin typeface="Aptos Display"/>
              </a:rPr>
              <a:t>19%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400" y="3162300"/>
            <a:ext cx="38671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do custo de sobreaviso vira acionamento — o resto é plantão em espera.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3962400"/>
            <a:ext cx="11106150" cy="2076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950" y="4095750"/>
            <a:ext cx="857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Não é um problema só: no dia útil o acionamento é noturno; no fim de semana, diurno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305300"/>
            <a:ext cx="857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Horas de acionamento por faixa horária, separadas em dia útil × sábado/domingo.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6101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Noite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57350" y="46291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57350" y="4629150"/>
            <a:ext cx="1516674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74024" y="4629150"/>
            <a:ext cx="803725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6101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228 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0" y="46101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35% FDS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9339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Madrugada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7350" y="49530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57350" y="4953000"/>
            <a:ext cx="2041952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99302" y="4953000"/>
            <a:ext cx="1556453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49339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353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50" y="49339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43% FDS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2578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57350" y="52768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57350" y="5276850"/>
            <a:ext cx="19050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69589" y="5276850"/>
            <a:ext cx="4178760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52578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411 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2250" y="52578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100% FDS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0" y="55816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Tarde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57350" y="56007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57350" y="5600700"/>
            <a:ext cx="304966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962316" y="5600700"/>
            <a:ext cx="758847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0" y="55816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104 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2250" y="55816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71% FDS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57350" y="594360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09750" y="592455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dia útil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19350" y="5943600"/>
            <a:ext cx="104775" cy="1047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1750" y="5924550"/>
            <a:ext cx="1047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fim de semana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96250" y="45720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86750" y="4667250"/>
            <a:ext cx="2952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1476C9"/>
                </a:solidFill>
                <a:latin typeface="Aptos"/>
              </a:rPr>
              <a:t>DOIS REGIMES, DUAS SOLUÇÕES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86750" y="4838700"/>
            <a:ext cx="29718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No dia útil o acionamento é noturno (349 h pós-jornada). No fim de semana é diurno (484 h), porque não há escala regular de sáb/dom — 65% das horas acionadas caem no FDS, pagas com adicional maior. Plantão noturno e cobertura de FDS são problemas diferentes, com soluções diferentes.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SUB BU R6 - CEARA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ONDE DÓI · POR ÁREA DE GESTÃO (GA)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O custo está concentrado — e a frequência de acionamento diz qual é o remédio certo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5905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 por Área de Gestão (GA)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5905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Barra = espera + acionamento · maior no topo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905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Marcos Davi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24050"/>
            <a:ext cx="361950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09800" y="1924050"/>
            <a:ext cx="3072446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1905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1990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190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Guilherme Magalhaes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2209800"/>
            <a:ext cx="2468469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9800" y="2209800"/>
            <a:ext cx="2109283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469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1357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4765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David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9800" y="2495550"/>
            <a:ext cx="1710814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9800" y="2495550"/>
            <a:ext cx="1377817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6814" y="24765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941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27622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Bruno Santos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2781300"/>
            <a:ext cx="603431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09800" y="2781300"/>
            <a:ext cx="428840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9431" y="27622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332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048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Lindemberg Costa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09800" y="3067050"/>
            <a:ext cx="437751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09800" y="3067050"/>
            <a:ext cx="285347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3751" y="3048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241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3333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Max Weber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09800" y="3352800"/>
            <a:ext cx="326631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09800" y="3352800"/>
            <a:ext cx="158041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12631" y="3333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180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36195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Fabbio Mardem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09800" y="3638550"/>
            <a:ext cx="275709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09800" y="3638550"/>
            <a:ext cx="233152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1709" y="36195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152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39052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Mauro Jose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09800" y="3924300"/>
            <a:ext cx="268798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09800" y="3924300"/>
            <a:ext cx="212419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54798" y="39052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148 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09800" y="424815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62200" y="422910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espera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4248150"/>
            <a:ext cx="104775" cy="1047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4200" y="4229100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acionamento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500" y="1428750"/>
            <a:ext cx="4972050" cy="16383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77050" y="156210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CONCENTRAÇÃO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7050" y="1733550"/>
            <a:ext cx="152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42DF4B"/>
                </a:solidFill>
                <a:latin typeface="Aptos Display"/>
              </a:rPr>
              <a:t>75%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7050" y="2209800"/>
            <a:ext cx="4572000" cy="781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As 3 primeiras GAs concentram 75% das horas. Onde o acionamento é quase diário, o instrumento certo é turno fixo; nas demais, enxugar o plantão pela demanda real.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667500" y="3238500"/>
          <a:ext cx="49720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1066800"/>
                <a:gridCol w="914400"/>
                <a:gridCol w="104775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Área de gestão (GA)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 em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Custo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Padrão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Marcos Davi Freitas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22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R$ 13,9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Guilherme Magalhaes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19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R$ 11,0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David De Sousa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16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R$ 7,5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Lindemberg Costa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10 de 15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R$ 3,5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Bruno Santos Lopes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19 de 23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R$ 3,4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Max Weber Alves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14 de 16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R$ 3,3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SUB BU R6 - CEARA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RISCO × CUSTO-BENEFÍCIO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Trocar o instrumento sem perder cobertura: turno fixo onde a demanda é diária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628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Dimensionamento seguro por GA — plantão hoje × demanda real de acionados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628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Mediana e pico (p90/máx) de técnicos acionados no mesmo dia. A cobertura não cai: muda o instrumento.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1905000"/>
          <a:ext cx="6286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9750"/>
                <a:gridCol w="1009650"/>
                <a:gridCol w="1123950"/>
                <a:gridCol w="781050"/>
                <a:gridCol w="156210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GA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Plantão hoje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Acionados/dia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Pico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Proposta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Marcos Davi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9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3 · p90 5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Guilherme Magalhaes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6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4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David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3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Lindemberg Costa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2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Bruno Santos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2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Max Weber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2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400" y="4914900"/>
            <a:ext cx="6286500" cy="590550"/>
          </a:xfrm>
          <a:prstGeom prst="roundRect">
            <a:avLst>
              <a:gd name="adj" fmla="val 6000"/>
            </a:avLst>
          </a:prstGeom>
          <a:solidFill>
            <a:srgbClr val="FD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01015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D94545"/>
                </a:solidFill>
                <a:latin typeface="Aptos"/>
              </a:rPr>
              <a:t>REGRA DE PISO (RISCO)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162550"/>
            <a:ext cx="5924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Nenhuma GA reduz plantão abaixo do p90 de acionados simultâneos sem turno fixo no lugar. O pico raro (máx) é coberto por backup combinado entre GAs vizinhas.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0" y="1447800"/>
            <a:ext cx="4591050" cy="18097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8050" y="156210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A CONTA DA 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050" y="17716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FFFFF"/>
                </a:solidFill>
                <a:latin typeface="Aptos Display"/>
              </a:rPr>
              <a:t>R$ 28,54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0" y="17716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acionada em sobreaviso (HE + adicionais)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21145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42DF4B"/>
                </a:solidFill>
                <a:latin typeface="Aptos Display"/>
              </a:rPr>
              <a:t>R$ 13,21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0" y="21145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em turno fixo noturno (estimado*)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050" y="249555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Converter a demanda diária das GAs estruturais economiza R$ 13,1 mil/mês — sem perder cobertura.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050" y="29718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8FA3CE"/>
                </a:solidFill>
                <a:latin typeface="Aptos"/>
              </a:rPr>
              <a:t>*hora-base derivada da própria espera (1/3 da hora normal) + 20% de adicional noturno. Validar com RH.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0" y="3390900"/>
            <a:ext cx="4591050" cy="2114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8050" y="35052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Quem já trabalha o turno — só que pago como 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8050" y="36957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Top 10 técnicos = 35% de todas as horas de acionamento. Os 5 maiores: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8050" y="38671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Gleydson Goncalves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38671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69 h · 12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41148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Laerte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4900" y="4133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24900" y="4133850"/>
            <a:ext cx="1092622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41148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44 h · 7 dias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8050" y="43624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Francisco Marcio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24900" y="43815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24900" y="4381500"/>
            <a:ext cx="1055458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3624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43 h · 12 dias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8050" y="46101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Jose Roberto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4900" y="46291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24900" y="4629150"/>
            <a:ext cx="1028204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46101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42 h · 4 dias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8050" y="48577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Antonio Marcos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24900" y="48768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24900" y="4876800"/>
            <a:ext cx="976174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8577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39 h · 5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50" y="5143500"/>
            <a:ext cx="4191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Formalizar o turno primeiro para esse grupo: a demanda já é diária e comprovada.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SUB BU R6 - CEARA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PROPOSTA DO PRÓXIMO CICLO · FCA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Fechar o gap de R$ 55,7 mil/mês com ações específicas por área — não com corte cego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342900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543050"/>
            <a:ext cx="3048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DO ORÇADO À 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17907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Orçado do ciclo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943100"/>
            <a:ext cx="3048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82238"/>
                </a:solidFill>
                <a:latin typeface="Aptos"/>
              </a:rPr>
              <a:t>R$ 125,5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2288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Proposta · −50%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381250"/>
            <a:ext cx="2286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>
                <a:solidFill>
                  <a:srgbClr val="13853A"/>
                </a:solidFill>
                <a:latin typeface="Aptos Display"/>
              </a:rPr>
              <a:t>R$ 62,8 mil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2381250"/>
            <a:ext cx="914400" cy="247650"/>
          </a:xfrm>
          <a:prstGeom prst="roundRect">
            <a:avLst>
              <a:gd name="adj" fmla="val 6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0" y="2381250"/>
            <a:ext cx="8763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3853A"/>
                </a:solidFill>
                <a:latin typeface="Aptos"/>
              </a:rPr>
              <a:t>−R$ 55,7 mil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29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43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43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Escala regular de fim de semana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43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65% das horas acionadas caem no sáb/dom, de dia (484 h) — hoje cobertas por sobreaviso, a forma mais cara. Revezamento de FDS (folguista/12x36) nas GAs líderes elimina esse custo recorrente.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845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990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Turno fixo onde a demanda é diária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Nas GAs de acionamento quase diário: turno fixo cobre a mediana de acionados; sobreaviso residual cobre o p90. Hora acionada: R$ 28,54 → turno: R$ 13,21. Economia: R$ 13,1 mil/mês.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4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Enxugar o plantão pela demanda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54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Só 35% dos técnicos de sobreaviso são acionados por dia. Reduzir plantonistas nas GAs intermediárias/eventuais pelo p90 e retirar da escala os técnicos em plantão frequente quase nunca acionados.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3009900"/>
            <a:ext cx="571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FCA — Fato · Causa · Ação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3400" y="3238500"/>
          <a:ext cx="111061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1250"/>
                <a:gridCol w="2857500"/>
                <a:gridCol w="3009900"/>
                <a:gridCol w="1047750"/>
                <a:gridCol w="1428750"/>
                <a:gridCol w="381000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65% das horas acionadas caem no fim de semana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Sem escala regular de sáb/dom, a cobertura diurna do FDS (484 h) é feita via acionamento com adicional maior.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Implantar revezamento de fim de semana nas GAs líderes (folguista/12x36) e retirar o FDS diurno do sobreaviso.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Planejamento de escala + Coordenação de campo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D94545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GAs com acionamento quase diário (R$ 24,8 mil/mês)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Demanda recorrente (Marcos Davi, Bruno Santos, Max Weber) paga como sobreaviso + HE de acionamento — instrumento errado para trabalho regular.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Dimensionar turno fixo pela mediana de acionados e formalizar primeiro os técnicos já acionados toda semana; sobreaviso residual para o excedente (p90).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 + RH + Planejamento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1476C9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Só 19% do sobreaviso vira acionamento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24,8 técnicos/dia em espera para 8,7 acionados; escala acima da demanda real nas GAs intermediárias e eventuais.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Reduzir plantonistas pelo p90 de acionados por GA; revisar nominalmente os técnicos em plantão frequente com acionamento raro.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das áreas (GA) + Planejamento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1476C9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Risco de descobertura se houver corte cego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Na maior GA o pico chegou a 8 técnicos acionados no mesmo dia — margem apertada sobre o plantão atual.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Regra de piso: nenhuma GA reduz plantão abaixo do p90 de acionados simultâneos sem turno fixo no lugar; pico raro coberto por backup entre GAs vizinhas.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Regra permanente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E4BD30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