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Realizado</c:v>
                </c:pt>
              </c:strCache>
            </c:strRef>
          </c:tx>
          <c:spPr>
            <a:ln w="31750">
              <a:solidFill>
                <a:srgbClr val="081551"/>
              </a:solidFill>
            </a:ln>
          </c:spPr>
          <c:marker>
            <c:symbol val="circle"/>
            <c:size val="5"/>
            <c:spPr>
              <a:solidFill>
                <a:srgbClr val="081551"/>
              </a:solidFill>
              <a:ln>
                <a:solidFill>
                  <a:srgbClr val="08155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85.98053</c:v>
                </c:pt>
                <c:pt idx="1">
                  <c:v>107.59719</c:v>
                </c:pt>
                <c:pt idx="2">
                  <c:v>93.24438</c:v>
                </c:pt>
                <c:pt idx="3">
                  <c:v>102.45108</c:v>
                </c:pt>
                <c:pt idx="4">
                  <c:v>116.95433</c:v>
                </c:pt>
                <c:pt idx="5">
                  <c:v>115.09008</c:v>
                </c:pt>
                <c:pt idx="6">
                  <c:v>76.3636820270981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Orçado</c:v>
                </c:pt>
              </c:strCache>
            </c:strRef>
          </c:tx>
          <c:spPr>
            <a:ln w="22225">
              <a:solidFill>
                <a:srgbClr val="667085"/>
              </a:solidFill>
            </a:ln>
          </c:spPr>
          <c:marker>
            <c:symbol val="diamond"/>
            <c:size val="5"/>
            <c:spPr>
              <a:solidFill>
                <a:srgbClr val="667085"/>
              </a:solidFill>
              <a:ln>
                <a:solidFill>
                  <a:srgbClr val="667085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64.0901527386933</c:v>
                </c:pt>
                <c:pt idx="1">
                  <c:v>62.5063956223769</c:v>
                </c:pt>
                <c:pt idx="2">
                  <c:v>61.6192251292429</c:v>
                </c:pt>
                <c:pt idx="3">
                  <c:v>75.6384301235865</c:v>
                </c:pt>
                <c:pt idx="4">
                  <c:v>77.2366165312815</c:v>
                </c:pt>
                <c:pt idx="5">
                  <c:v>70.0241330610201</c:v>
                </c:pt>
                <c:pt idx="6">
                  <c:v>67.4668948029528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 −50%</c:v>
                </c:pt>
              </c:strCache>
            </c:strRef>
          </c:tx>
          <c:spPr>
            <a:ln w="22225">
              <a:solidFill>
                <a:srgbClr val="13853A"/>
              </a:solidFill>
            </a:ln>
          </c:spPr>
          <c:marker>
            <c:symbol val="diamond"/>
            <c:size val="5"/>
            <c:spPr>
              <a:solidFill>
                <a:srgbClr val="13853A"/>
              </a:solidFill>
              <a:ln>
                <a:solidFill>
                  <a:srgbClr val="13853A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33.73345</c:v>
                </c:pt>
                <c:pt idx="1">
                  <c:v>33.73345</c:v>
                </c:pt>
                <c:pt idx="2">
                  <c:v>33.73345</c:v>
                </c:pt>
                <c:pt idx="3">
                  <c:v>33.73345</c:v>
                </c:pt>
                <c:pt idx="4">
                  <c:v>33.73345</c:v>
                </c:pt>
                <c:pt idx="5">
                  <c:v>33.73345</c:v>
                </c:pt>
                <c:pt idx="6">
                  <c:v>33.73345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E0EA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DF1F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Apto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INDICADOR (Fato). Números vêm de dados_&lt;regiao&gt;.json; textos de narrativa_&lt;regiao&gt;.json (s1). Meta = -50% do orçado.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CAUSA/ondе (ociosidade). HC/dia e horas de espera x acionamento; faixa horária orienta o redimensionamento. Números do JSON (ociosidade, faixa_horaria).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CAUSA/quem (por GA). Ranking de horas de sobreaviso por gestor, espera x acionamento, e a concentração nas 3 primeiras áreas. Do JSON (sobreaviso_por_ga).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AÇÃO (proposta + FCA). Orçado-&gt;Proposta (-50%), 3 alavancas e a tabela FCA. Edite textos em narrativa_&lt;regiao&gt;.json (s4).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R7.2 - NORTE: AP / MA / PA E PI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CUSTO DE HORAS · Norte · 10/07/2026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A meta é cortar o custo de horas pela metade — e quase tudo é sobreaviso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ORÇADO DO CICLO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R$ 67,5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por mês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86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META · −50%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86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FFFFFF"/>
                </a:solidFill>
                <a:latin typeface="Aptos Display"/>
              </a:rPr>
              <a:t>R$ 33,7 mil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86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C9D6EF"/>
                </a:solidFill>
                <a:latin typeface="Aptos"/>
              </a:rPr>
              <a:t>compromisso do próximo ciclo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95450"/>
            <a:ext cx="35433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2450" y="1828800"/>
            <a:ext cx="3200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REALIZADO (FOTO)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2000250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R$ 76,2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2450" y="2381250"/>
            <a:ext cx="3200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13% acima vs orçado · falta cortar 56%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Custo mensal de horas — R$ mil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19100" y="3009900"/>
          <a:ext cx="5572125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286500" y="28194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Composição do custo (mês-foto)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6500" y="3048000"/>
            <a:ext cx="453506" cy="32385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40006" y="3048000"/>
            <a:ext cx="2932705" cy="3238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72712" y="3048000"/>
            <a:ext cx="1644380" cy="32385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317093" y="3048000"/>
            <a:ext cx="132349" cy="32385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49442" y="3048000"/>
            <a:ext cx="190107" cy="32385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40006" y="3409950"/>
            <a:ext cx="4577086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40006" y="3448050"/>
            <a:ext cx="457708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13853A"/>
                </a:solidFill>
                <a:latin typeface="Aptos"/>
              </a:rPr>
              <a:t>Sobreaviso = 86%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86500" y="3714750"/>
            <a:ext cx="1143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36957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DSR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0" y="36957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R$ 6,5 mil  ·  8%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86500" y="3924300"/>
            <a:ext cx="114300" cy="1143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7000" y="39052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sobreaviso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0" y="39052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R$ 41,7 mil  ·  55%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86500" y="4133850"/>
            <a:ext cx="114300" cy="11430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0" y="41148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 sobreaviso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7000" y="41148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R$ 23,4 mil  ·  31%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86500" y="4343400"/>
            <a:ext cx="114300" cy="114300"/>
          </a:xfrm>
          <a:prstGeom prst="rect">
            <a:avLst/>
          </a:prstGeom>
          <a:solidFill>
            <a:srgbClr val="98A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7000" y="432435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Banco de horas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0" y="432435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R$ 1,9 mil  ·  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86500" y="4552950"/>
            <a:ext cx="114300" cy="114300"/>
          </a:xfrm>
          <a:prstGeom prst="rect">
            <a:avLst/>
          </a:prstGeom>
          <a:solidFill>
            <a:srgbClr val="C9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7000" y="45339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Feriados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0" y="4533900"/>
            <a:ext cx="525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R$ 2,7 mil  ·  4%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86500" y="4876800"/>
            <a:ext cx="5353050" cy="121920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0" y="4991100"/>
            <a:ext cx="2857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DECISÃO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7000" y="5181600"/>
            <a:ext cx="49911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82238"/>
                </a:solidFill>
                <a:latin typeface="Aptos"/>
              </a:rPr>
              <a:t>Atacar o sobreaviso, que sozinho responde por 86% da cesta e é a parte controlável do custo. Aqui o realizado já supera o orçado, e é onde há mais plantão ocioso para cortar sem afetar a operação.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R7.2 - NORTE: AP / MA / PA E PI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DO CUSTO · ONDE ESTÁ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Paga-se muito plantão em espera e aciona-se pouco: só 21% do sobreaviso vira trabalho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33400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Técnicos por dia: em espera x acionados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1790700"/>
            <a:ext cx="4953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Média por dia no período de sobreaviso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1907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Em espera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09800"/>
            <a:ext cx="2857500" cy="12382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1100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36,2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53365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552700"/>
            <a:ext cx="285750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57400" y="2552700"/>
            <a:ext cx="1310345" cy="12382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1100" y="2533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16,6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" y="2971800"/>
            <a:ext cx="4953000" cy="6286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067050"/>
            <a:ext cx="1428750" cy="438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3853A"/>
                </a:solidFill>
                <a:latin typeface="Aptos Display"/>
              </a:rPr>
              <a:t>46%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1250" y="3067050"/>
            <a:ext cx="31623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82238"/>
                </a:solidFill>
                <a:latin typeface="Aptos"/>
              </a:rPr>
              <a:t>dos técnicos de sobreaviso são de fato acionados por dia — o restante é plantão pago em espera.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7900" y="1428750"/>
            <a:ext cx="5581650" cy="2381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7450" y="1581150"/>
            <a:ext cx="514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sobreaviso: espera x acionamento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450" y="1790700"/>
            <a:ext cx="5143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Soma do período (analítico nominal)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7450" y="20002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Espera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7450" y="2171700"/>
            <a:ext cx="5143500" cy="247650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7450" y="2200275"/>
            <a:ext cx="502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6.777 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7450" y="25336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Acionamento efetivo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7450" y="2705100"/>
            <a:ext cx="5143500" cy="24765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7450" y="2705100"/>
            <a:ext cx="1062685" cy="24765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335" y="2733675"/>
            <a:ext cx="114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081551"/>
                </a:solidFill>
                <a:latin typeface="Aptos"/>
              </a:rPr>
              <a:t>1.765 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7450" y="3162300"/>
            <a:ext cx="5143500" cy="5143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8900" y="3162300"/>
            <a:ext cx="9144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400" b="1">
                <a:solidFill>
                  <a:srgbClr val="42DF4B"/>
                </a:solidFill>
                <a:latin typeface="Aptos Display"/>
              </a:rPr>
              <a:t>21%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91400" y="3162300"/>
            <a:ext cx="386715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Aptos"/>
              </a:rPr>
              <a:t>do custo de sobreaviso vira acionamento — o resto é plantão em espera.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3962400"/>
            <a:ext cx="11106150" cy="2076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762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Quando o acionamento realmente acontece — horas por faixa horária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305300"/>
            <a:ext cx="857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Base para redimensionar a escala: manter plantão onde a demanda existe, enxugar nas faixas de baixo acionamento.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950" y="461010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Noite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33550" y="462915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33550" y="4629150"/>
            <a:ext cx="4476750" cy="12382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86500" y="46101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782 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4700" y="46101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44%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950" y="493395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Tarde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733550" y="495300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33550" y="4953000"/>
            <a:ext cx="2887632" cy="12382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86500" y="49339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505 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24700" y="49339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29%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950" y="525780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Dia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33550" y="527685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33550" y="5276850"/>
            <a:ext cx="1435566" cy="12382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86500" y="52578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251 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24700" y="52578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14%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2950" y="5581650"/>
            <a:ext cx="914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Madrugada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33550" y="5600700"/>
            <a:ext cx="4476750" cy="123825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733550" y="5600700"/>
            <a:ext cx="1316444" cy="12382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6500" y="5581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230 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24700" y="55816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67085"/>
                </a:solidFill>
                <a:latin typeface="Aptos"/>
              </a:rPr>
              <a:t>13%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58250" y="4629150"/>
            <a:ext cx="2552700" cy="12382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48750" y="4743450"/>
            <a:ext cx="2190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1476C9"/>
                </a:solidFill>
                <a:latin typeface="Aptos"/>
              </a:rPr>
              <a:t>POR QUE IMPORTA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48750" y="4914900"/>
            <a:ext cx="2209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 cada dia há em média 36,2 técnicos de sobreaviso e apenas 16,6 são acionados (46%). Em horas, são 6.777 h pagas em espera para 1.765 h de acionamento efetivo. Redimensionar a escala pela demanda real é o maior lever de custo.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R7.2 - NORTE: AP / MA / PA E PI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ONDE DÓI · POR ÁREA DE GESTÃO (GA)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O custo de sobreaviso está concentrado em poucas áreas — a recuperação começa por elas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5905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Horas de sobreaviso por Área de Gestão (GA)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657350"/>
            <a:ext cx="5905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Barra = espera + acionamento · maior no topo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905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Miguel Barros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9800" y="1924050"/>
            <a:ext cx="3619500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09800" y="1924050"/>
            <a:ext cx="2808822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3727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190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Claudio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9800" y="2209800"/>
            <a:ext cx="1912881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09800" y="2209800"/>
            <a:ext cx="1653110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8881" y="2190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1970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4765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Rafael Nunes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09800" y="2495550"/>
            <a:ext cx="1829560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9800" y="2495550"/>
            <a:ext cx="1299240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5560" y="24765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1884 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27622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Dejamir Sousa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09800" y="2781300"/>
            <a:ext cx="489145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09800" y="2781300"/>
            <a:ext cx="459817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5145" y="27622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504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304800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Wagner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09800" y="3067050"/>
            <a:ext cx="319104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09800" y="3067050"/>
            <a:ext cx="268995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5104" y="30480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329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" y="33337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Anderson Adelino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09800" y="3352800"/>
            <a:ext cx="124786" cy="1428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09800" y="3352800"/>
            <a:ext cx="91186" cy="1428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10786" y="333375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82238"/>
                </a:solidFill>
                <a:latin typeface="Aptos"/>
              </a:rPr>
              <a:t>128 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09800" y="3676650"/>
            <a:ext cx="104775" cy="104775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62200" y="3657600"/>
            <a:ext cx="666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espera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3676650"/>
            <a:ext cx="104775" cy="104775"/>
          </a:xfrm>
          <a:prstGeom prst="rect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24200" y="3657600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acionamento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0" y="1428750"/>
            <a:ext cx="4972050" cy="1428750"/>
          </a:xfrm>
          <a:prstGeom prst="roundRect">
            <a:avLst>
              <a:gd name="adj" fmla="val 6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77050" y="1581150"/>
            <a:ext cx="2857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9FC9EE"/>
                </a:solidFill>
                <a:latin typeface="Aptos"/>
              </a:rPr>
              <a:t>CONCENTRAÇÃO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7050" y="1771650"/>
            <a:ext cx="152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42DF4B"/>
                </a:solidFill>
                <a:latin typeface="Aptos Display"/>
              </a:rPr>
              <a:t>89%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7050" y="2286000"/>
            <a:ext cx="4572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FFFFFF"/>
                </a:solidFill>
                <a:latin typeface="Aptos"/>
              </a:rPr>
              <a:t>As 3 primeiras GAs concentram 89% de todas as horas de sobreaviso da regional. Não é problema difuso: é onde a escala precisa ser revista primeiro.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667500" y="3048000"/>
          <a:ext cx="497205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0750"/>
                <a:gridCol w="838200"/>
                <a:gridCol w="952500"/>
                <a:gridCol w="990600"/>
              </a:tblGrid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Área de gestão (GA)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Horas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% acion.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Miguel Barros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32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3727 h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22%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Claudio De Sousa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1970 h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14%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Rafael Nunes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16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1884 h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29%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Dejamir Sousa Silva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504 h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6%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408214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Wagner Da Luz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329 h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16%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408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Anderson Adelino Neres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182238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182238"/>
                          </a:solidFill>
                          <a:latin typeface="Aptos"/>
                        </a:rPr>
                        <a:t>128 h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050" b="0">
                          <a:solidFill>
                            <a:srgbClr val="D94545"/>
                          </a:solidFill>
                          <a:latin typeface="Aptos"/>
                        </a:rPr>
                        <a:t>27%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7225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HUB de Horas Extras · Power BI · R7.2 - NORTE: AP / MA / PA E PI · foto de 10/07/2026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7225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23850"/>
            <a:ext cx="9334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PROPOSTA DO PRÓXIMO CICLO · FCA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52450"/>
            <a:ext cx="100012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Fechar o gap de R$ 42,4 mil/mês com três alavancas sobre a escala de sobreaviso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3429000" cy="1428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1543050"/>
            <a:ext cx="3048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1476C9"/>
                </a:solidFill>
                <a:latin typeface="Aptos"/>
              </a:rPr>
              <a:t>DO ORÇADO À 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179070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Orçado do ciclo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1943100"/>
            <a:ext cx="30480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1">
                <a:solidFill>
                  <a:srgbClr val="182238"/>
                </a:solidFill>
                <a:latin typeface="Aptos"/>
              </a:rPr>
              <a:t>R$ 67,5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22288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Proposta · −50%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2381250"/>
            <a:ext cx="228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100" b="1">
                <a:solidFill>
                  <a:srgbClr val="13853A"/>
                </a:solidFill>
                <a:latin typeface="Aptos Display"/>
              </a:rPr>
              <a:t>R$ 33,7 mil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7500" y="2381250"/>
            <a:ext cx="914400" cy="247650"/>
          </a:xfrm>
          <a:prstGeom prst="roundRect">
            <a:avLst>
              <a:gd name="adj" fmla="val 6000"/>
            </a:avLst>
          </a:prstGeom>
          <a:solidFill>
            <a:srgbClr val="E8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7500" y="2381250"/>
            <a:ext cx="876300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13853A"/>
                </a:solidFill>
                <a:latin typeface="Aptos"/>
              </a:rPr>
              <a:t>−R$ 42,4 mil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529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43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43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Dimensionar o plantão pela demanda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43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Só 46% dos técnicos de sobreaviso são acionados por dia. Reduzir o nº de plantonistas nas faixas de baixo acionamento, ajustando a escala ao histórico de chamados por dia e faixa horária.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845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990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990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Concentrar a escala na faixa que aciona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990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O acionamento se concentra na faixa Noite (44%). Enxugar plantão nas faixas de menor acionamento (dia e madrugada) e manter cobertura só onde a demanda real justifica.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428750"/>
            <a:ext cx="2438400" cy="1428750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5450" y="1543050"/>
            <a:ext cx="571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 Display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1866900"/>
            <a:ext cx="21336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1">
                <a:solidFill>
                  <a:srgbClr val="081551"/>
                </a:solidFill>
                <a:latin typeface="Aptos"/>
              </a:rPr>
              <a:t>Cobrar as GAs que concentram o custo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5450" y="2247900"/>
            <a:ext cx="21336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82238"/>
                </a:solidFill>
                <a:latin typeface="Aptos"/>
              </a:rPr>
              <a:t>Meta global de redução distribuída como acompanhamento pelas áreas líderes de horas de sobreaviso, com revisão semanal de escala versus acionamento efetivo.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3048000"/>
            <a:ext cx="571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081551"/>
                </a:solidFill>
                <a:latin typeface="Aptos"/>
              </a:rPr>
              <a:t>FCA — Fato · Causa · Ação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33400" y="3276600"/>
          <a:ext cx="11106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1250"/>
                <a:gridCol w="2857500"/>
                <a:gridCol w="3009900"/>
                <a:gridCol w="1047750"/>
                <a:gridCol w="1428750"/>
                <a:gridCol w="381000"/>
              </a:tblGrid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/>
                      </a:r>
                    </a:p>
                  </a:txBody>
                  <a:tcPr anchor="ctr" marL="85725" marR="76200" marT="47625" marB="47625">
                    <a:solidFill>
                      <a:srgbClr val="081551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Custo de horas em R$ 76,2 mil/mês, ante meta de R$ 33,7 mil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Sobreaviso responde por 86% da cesta e o realizado já supera o orçado (13% acima). É a parte controlável do custo.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Definir a meta de R$ 33,7 mil/mês por regional e abrir o gap de R$ 42,4 mil em plano de escala por GA.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Início imediato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Gerência da regional + Planejamento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D94545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Só 21% do sobreaviso vira acionamento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36,2 técnicos/dia em espera para 16,6 acionados; escala dimensionada acima da demanda real.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Redimensionar a escala de sobreaviso pela demanda por dia e faixa horária; reduzir plantonistas nas faixas de baixo acionamento.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Próximo ciclo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Coordenação de campo + Planejamento</a:t>
                      </a:r>
                    </a:p>
                  </a:txBody>
                  <a:tcPr anchor="t" marL="85725" marR="76200" marT="47625" marB="47625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1476C9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3F6F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Custo concentrado em poucas GAs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As 3 primeiras áreas concentram 89% das horas de sobreaviso.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Revisão semanal de escala versus acionamento nas GAs líderes; meta de redução acompanhada por área.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1">
                          <a:solidFill>
                            <a:srgbClr val="182238"/>
                          </a:solidFill>
                          <a:latin typeface="Aptos"/>
                        </a:rPr>
                        <a:t>Semanal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4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das áreas (GA)</a:t>
                      </a:r>
                    </a:p>
                  </a:txBody>
                  <a:tcPr anchor="t" marL="85725" marR="76200" marT="47625" marB="47625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4000"/>
                        </a:lnSpc>
                      </a:pPr>
                      <a:r>
                        <a:rPr sz="1200" b="0">
                          <a:solidFill>
                            <a:srgbClr val="9A6200"/>
                          </a:solidFill>
                          <a:latin typeface="Aptos"/>
                        </a:rPr>
                        <a:t>●</a:t>
                      </a:r>
                    </a:p>
                  </a:txBody>
                  <a:tcPr anchor="ctr" marL="85725" marR="76200" marT="47625" marB="4762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