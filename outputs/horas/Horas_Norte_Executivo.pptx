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ln w="31750">
              <a:solidFill>
                <a:srgbClr val="081551"/>
              </a:solidFill>
            </a:ln>
          </c:spPr>
          <c:marker>
            <c:symbol val="circle"/>
            <c:size val="5"/>
            <c:spPr>
              <a:solidFill>
                <a:srgbClr val="081551"/>
              </a:solidFill>
              <a:ln>
                <a:solidFill>
                  <a:srgbClr val="08155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85.98053</c:v>
                </c:pt>
                <c:pt idx="1">
                  <c:v>107.59719</c:v>
                </c:pt>
                <c:pt idx="2">
                  <c:v>93.24438</c:v>
                </c:pt>
                <c:pt idx="3">
                  <c:v>102.45108</c:v>
                </c:pt>
                <c:pt idx="4">
                  <c:v>116.95433</c:v>
                </c:pt>
                <c:pt idx="5">
                  <c:v>115.09008</c:v>
                </c:pt>
                <c:pt idx="6">
                  <c:v>76.3636820270981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Orçado</c:v>
                </c:pt>
              </c:strCache>
            </c:strRef>
          </c:tx>
          <c:spPr>
            <a:ln w="22225">
              <a:solidFill>
                <a:srgbClr val="667085"/>
              </a:solidFill>
            </a:ln>
          </c:spPr>
          <c:marker>
            <c:symbol val="diamond"/>
            <c:size val="5"/>
            <c:spPr>
              <a:solidFill>
                <a:srgbClr val="667085"/>
              </a:solidFill>
              <a:ln>
                <a:solidFill>
                  <a:srgbClr val="667085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64.0901527386933</c:v>
                </c:pt>
                <c:pt idx="1">
                  <c:v>62.5063956223769</c:v>
                </c:pt>
                <c:pt idx="2">
                  <c:v>61.6192251292429</c:v>
                </c:pt>
                <c:pt idx="3">
                  <c:v>75.6384301235865</c:v>
                </c:pt>
                <c:pt idx="4">
                  <c:v>77.2366165312815</c:v>
                </c:pt>
                <c:pt idx="5">
                  <c:v>70.0241330610201</c:v>
                </c:pt>
                <c:pt idx="6">
                  <c:v>67.4668948029528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−50%</c:v>
                </c:pt>
              </c:strCache>
            </c:strRef>
          </c:tx>
          <c:spPr>
            <a:ln w="22225">
              <a:solidFill>
                <a:srgbClr val="13853A"/>
              </a:solidFill>
            </a:ln>
          </c:spPr>
          <c:marker>
            <c:symbol val="diamond"/>
            <c:size val="5"/>
            <c:spPr>
              <a:solidFill>
                <a:srgbClr val="13853A"/>
              </a:solidFill>
              <a:ln>
                <a:solidFill>
                  <a:srgbClr val="13853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33.73345</c:v>
                </c:pt>
                <c:pt idx="1">
                  <c:v>33.73345</c:v>
                </c:pt>
                <c:pt idx="2">
                  <c:v>33.73345</c:v>
                </c:pt>
                <c:pt idx="3">
                  <c:v>33.73345</c:v>
                </c:pt>
                <c:pt idx="4">
                  <c:v>33.73345</c:v>
                </c:pt>
                <c:pt idx="5">
                  <c:v>33.73345</c:v>
                </c:pt>
                <c:pt idx="6">
                  <c:v>33.73345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0EA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INDICADOR (Fato). Números vêm de dados_&lt;regiao&gt;.json; textos de narrativa_&lt;regiao&gt;.json (s1). Meta = -50% do orçado.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CAUSA/onde (ociosidade + regimes). HC/dia e horas de espera x acionamento; painel C mostra dia útil (noturno) x FDS (diurno). Números do JSON (ociosidade, inteligencia.regimes).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CAUSA/quem (por GA). Ranking de horas + frequência de acionamento: GA que aciona todo dia tem demanda estrutural (instrumento errado: sobreaviso); GA eventual usa sobreaviso corretamente. Do JSON (sobreaviso_por_ga, inteligencia.gas).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RISCO x CUSTO-BENEFÍCIO. Dimensionamento por GA (mediana=turno fixo, p90=sobreaviso residual, máx=backup), regra de piso, conta da conversão e nominal dos técnicos mais acionados. Do JSON (inteligencia).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AÇÃO (proposta + FCA cirúrgico). Orçado-&gt;Proposta (-50%), 3 alavancas e a tabela FCA com ações específicas por GA. Edite textos em narrativa_&lt;regiao&gt;.json (s5).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R7.2 - NORTE: AP / MA / PA E PI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CUSTO DE HORAS · Norte · 10/07/2026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A meta é cortar o custo de horas pela metade — e quase tudo é sobreaviso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ORÇADO DO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R$ 67,5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por mês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86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META · −50%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6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FFFFF"/>
                </a:solidFill>
                <a:latin typeface="Aptos Display"/>
              </a:rPr>
              <a:t>R$ 33,7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86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D6EF"/>
                </a:solidFill>
                <a:latin typeface="Aptos"/>
              </a:rPr>
              <a:t>compromisso do próximo ciclo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24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REALIZADO (FOTO)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R$ 76,2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24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13% acima vs orçado · falta cortar 56%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Custo mensal de horas — R$ mil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19100" y="3009900"/>
          <a:ext cx="5572125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865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Composição do custo (mês-foto)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0" y="3048000"/>
            <a:ext cx="453506" cy="32385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40006" y="3048000"/>
            <a:ext cx="2932705" cy="3238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2712" y="3048000"/>
            <a:ext cx="1644380" cy="3238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17093" y="3048000"/>
            <a:ext cx="132349" cy="32385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49442" y="3048000"/>
            <a:ext cx="190107" cy="32385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40006" y="3409950"/>
            <a:ext cx="4577086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0006" y="3448050"/>
            <a:ext cx="457708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Sobreaviso = 86%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6500" y="3714750"/>
            <a:ext cx="1143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0" y="36957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DSR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36957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R$ 6,5 mil  ·  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0" y="3924300"/>
            <a:ext cx="114300" cy="1143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0" y="39052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sobreaviso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0" y="39052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R$ 41,7 mil  ·  55%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4133850"/>
            <a:ext cx="1143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0" y="41148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 sobreaviso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41148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R$ 23,4 mil  ·  31%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500" y="4343400"/>
            <a:ext cx="114300" cy="11430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0" y="43243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Banco de horas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43243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R$ 1,9 mil  ·  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6500" y="4552950"/>
            <a:ext cx="114300" cy="11430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45339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Feriados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0" y="45339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R$ 2,7 mil  ·  4%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500" y="4876800"/>
            <a:ext cx="5353050" cy="1219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7000" y="49911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DECISÃO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0" y="5181600"/>
            <a:ext cx="49911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82238"/>
                </a:solidFill>
                <a:latin typeface="Aptos"/>
              </a:rPr>
              <a:t>Atacar o sobreaviso, que sozinho responde por 86% da cesta. Não com corte cego de plantão: 3 GAs acionam praticamente todo dia — ali o problema é o instrumento, não o excesso de cobertura.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R7.2 - NORTE: AP / MA / PA E PI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DO CUSTO · ONDE ESTÁ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Paga-se muito plantão em espera — e o acionamento tem dois padrões distintos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33400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495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Técnicos por dia: em espera x acionados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7907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Média por dia no período de sobreaviso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907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Em espera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1100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36,2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5336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5527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0" y="2552700"/>
            <a:ext cx="1310345" cy="12382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1100" y="2533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16,6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" y="2971800"/>
            <a:ext cx="4953000" cy="6286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67050"/>
            <a:ext cx="1428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3853A"/>
                </a:solidFill>
                <a:latin typeface="Aptos Display"/>
              </a:rPr>
              <a:t>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1250" y="3067050"/>
            <a:ext cx="3162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182238"/>
                </a:solidFill>
                <a:latin typeface="Aptos"/>
              </a:rPr>
              <a:t>dos técnicos de sobreaviso são de fato acionados por dia — o restante é plantão pago em espera.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7900" y="1428750"/>
            <a:ext cx="558165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7450" y="1581150"/>
            <a:ext cx="514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sobreaviso: espera x acionamento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450" y="1790700"/>
            <a:ext cx="5143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Soma do período (analítico nominal)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450" y="200025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7450" y="2200275"/>
            <a:ext cx="502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6.777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7450" y="25336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efetivo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7450" y="27051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7450" y="2705100"/>
            <a:ext cx="1062685" cy="2476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335" y="2733675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81551"/>
                </a:solidFill>
                <a:latin typeface="Aptos"/>
              </a:rPr>
              <a:t>1.765 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7450" y="3162300"/>
            <a:ext cx="5143500" cy="5143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900" y="3162300"/>
            <a:ext cx="9144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42DF4B"/>
                </a:solidFill>
                <a:latin typeface="Aptos Display"/>
              </a:rPr>
              <a:t>21%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400" y="3162300"/>
            <a:ext cx="38671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do custo de sobreaviso vira acionamento — o resto é plantão em espera.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3962400"/>
            <a:ext cx="11106150" cy="2076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950" y="4095750"/>
            <a:ext cx="857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Não é um problema só: no dia útil o acionamento é noturno; no fim de semana, diurno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305300"/>
            <a:ext cx="857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Horas de acionamento por faixa horária, separadas em dia útil × sábado/domingo.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6101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Noite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57350" y="46291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57350" y="4629150"/>
            <a:ext cx="4124686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82036" y="4629150"/>
            <a:ext cx="66313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6101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758 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0" y="46101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2% FDS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9339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Madrugada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7350" y="49530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57350" y="4953000"/>
            <a:ext cx="776970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34320" y="4953000"/>
            <a:ext cx="627213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49339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254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50" y="49339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45% FDS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2578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57350" y="52768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57350" y="5276850"/>
            <a:ext cx="334329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91679" y="5276850"/>
            <a:ext cx="1052170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52578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251 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2250" y="52578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76% FDS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0" y="55816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Tarde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57350" y="56007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57350" y="5600700"/>
            <a:ext cx="2788473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0" y="55816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505 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2250" y="55816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100% FDS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57350" y="594360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09750" y="592455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dia útil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19350" y="5943600"/>
            <a:ext cx="104775" cy="1047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71750" y="5924550"/>
            <a:ext cx="1047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fim de semana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96250" y="45720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6750" y="4667250"/>
            <a:ext cx="2952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1476C9"/>
                </a:solidFill>
                <a:latin typeface="Aptos"/>
              </a:rPr>
              <a:t>DOIS REGIMES, DUAS SOLUÇÕES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86750" y="4838700"/>
            <a:ext cx="29718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No dia útil o acionamento é noturno (887 h pós-jornada). No fim de semana é diurno (695 h), porque não há escala regular de sáb/dom — 46% das horas acionadas caem no FDS, pagas com adicional maior. Plantão noturno e cobertura de FDS são problemas diferentes, com soluções diferentes.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R7.2 - NORTE: AP / MA / PA E PI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ONDE DÓI · POR ÁREA DE GESTÃO (GA)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Três áreas acionam todo dia: isso não é contingência, é operação regular paga como 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5905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 por Área de Gestão (GA)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5905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Barra = espera + acionamento · maior no topo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905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Miguel Barros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24050"/>
            <a:ext cx="361950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09800" y="1924050"/>
            <a:ext cx="2808822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1905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3727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190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Claudio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2209800"/>
            <a:ext cx="1912881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9800" y="2209800"/>
            <a:ext cx="1653110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8881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1970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4765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Rafael Nunes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9800" y="2495550"/>
            <a:ext cx="182956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9800" y="2495550"/>
            <a:ext cx="1299240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5560" y="24765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1884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27622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Dejamir Sousa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2781300"/>
            <a:ext cx="489145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09800" y="2781300"/>
            <a:ext cx="459817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5145" y="27622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504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048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Wagner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09800" y="3067050"/>
            <a:ext cx="319104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09800" y="3067050"/>
            <a:ext cx="268995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5104" y="3048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329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3333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Anderson Adelino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09800" y="3352800"/>
            <a:ext cx="124786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09800" y="3352800"/>
            <a:ext cx="91186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0786" y="3333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128 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09800" y="367665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200" y="365760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espera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3676650"/>
            <a:ext cx="104775" cy="1047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4200" y="3657600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acionamento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500" y="1428750"/>
            <a:ext cx="4972050" cy="14287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7050" y="158115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CONCENTRAÇÃO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7050" y="1771650"/>
            <a:ext cx="152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42DF4B"/>
                </a:solidFill>
                <a:latin typeface="Aptos Display"/>
              </a:rPr>
              <a:t>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7050" y="2266950"/>
            <a:ext cx="4572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FFFFFF"/>
                </a:solidFill>
                <a:latin typeface="Aptos"/>
              </a:rPr>
              <a:t>As 3 primeiras GAs concentram 89% das horas — e acionam em 96–100% dos dias. Sobreaviso é para evento eventual; demanda diária pede turno fixo.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667500" y="3048000"/>
          <a:ext cx="49720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1066800"/>
                <a:gridCol w="914400"/>
                <a:gridCol w="104775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Área de gestão (GA)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 em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Custo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Padrão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Miguel Barros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25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R$ 30,1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Rafael Nunes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25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R$ 16,3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Claudio De Sousa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24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R$ 12,4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Wagner Da Luz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8 de 24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R$ 2,6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3853A"/>
                          </a:solidFill>
                          <a:latin typeface="Aptos"/>
                        </a:rPr>
                        <a:t>EVENTUAL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Dejamir Sousa Silva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7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R$ 2,5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3853A"/>
                          </a:solidFill>
                          <a:latin typeface="Aptos"/>
                        </a:rPr>
                        <a:t>EVENTUAL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Anderson Adelino Neres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10 de 21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R$ 1,3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R7.2 - NORTE: AP / MA / PA E PI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RISCO × CUSTO-BENEFÍCIO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Trocar o instrumento sem perder cobertura: turno fixo onde a demanda é diária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628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Dimensionamento seguro por GA — plantão hoje × demanda real de acionados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628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Mediana e pico (p90/máx) de técnicos acionados no mesmo dia. A cobertura não cai: muda o instrumento.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1905000"/>
          <a:ext cx="6286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9750"/>
                <a:gridCol w="1009650"/>
                <a:gridCol w="1123950"/>
                <a:gridCol w="781050"/>
                <a:gridCol w="156210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GA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Plantão hoje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Acionados/dia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Pico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Proposta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Miguel Barros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17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8 · p90 13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Rafael Nunes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8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4 · p90 8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Claudio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8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Wagner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1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3853A"/>
                          </a:solidFill>
                          <a:latin typeface="Aptos"/>
                        </a:rPr>
                        <a:t>Manter SA mínimo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Dejamir Sousa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1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3853A"/>
                          </a:solidFill>
                          <a:latin typeface="Aptos"/>
                        </a:rPr>
                        <a:t>Manter SA mínimo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Anderson Adelino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1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400" y="4914900"/>
            <a:ext cx="6286500" cy="590550"/>
          </a:xfrm>
          <a:prstGeom prst="roundRect">
            <a:avLst>
              <a:gd name="adj" fmla="val 6000"/>
            </a:avLst>
          </a:prstGeom>
          <a:solidFill>
            <a:srgbClr val="FD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01015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D94545"/>
                </a:solidFill>
                <a:latin typeface="Aptos"/>
              </a:rPr>
              <a:t>REGRA DE PISO (RISCO)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162550"/>
            <a:ext cx="5924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Nenhuma GA reduz plantão abaixo do p90 de acionados simultâneos sem turno fixo no lugar. O pico raro (máx) é coberto por backup combinado entre GAs vizinhas.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0" y="1447800"/>
            <a:ext cx="4591050" cy="18097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8050" y="156210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A CONTA DA 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050" y="17716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FFFFF"/>
                </a:solidFill>
                <a:latin typeface="Aptos Display"/>
              </a:rPr>
              <a:t>R$ 23,60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0" y="17716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acionada em sobreaviso (HE + adicionais)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21145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42DF4B"/>
                </a:solidFill>
                <a:latin typeface="Aptos Display"/>
              </a:rPr>
              <a:t>R$ 12,43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0" y="21145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em turno fixo noturno (estimado*)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050" y="249555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Converter a demanda diária das GAs estruturais economiza R$ 34,2 mil/mês — sem perder cobertura.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050" y="29718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8FA3CE"/>
                </a:solidFill>
                <a:latin typeface="Aptos"/>
              </a:rPr>
              <a:t>*hora-base derivada da própria espera (1/3 da hora normal) + 20% de adicional noturno. Validar com RH.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0" y="3390900"/>
            <a:ext cx="4591050" cy="2114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8050" y="35052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Quem já trabalha o turno — só que pago como 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8050" y="36957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Top 10 técnicos = 33% de todas as horas de acionamento. Os 5 maiores: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8050" y="38671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Ricardo Wilato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38671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65 h · 14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41148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Vitor Hugo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4900" y="4133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24900" y="4133850"/>
            <a:ext cx="1654111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41148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63 h · 10 dias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8050" y="43624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Jose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24900" y="43815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24900" y="4381500"/>
            <a:ext cx="1614728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3624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62 h · 12 dias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8050" y="46101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Tiago Alves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4900" y="46291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24900" y="4629150"/>
            <a:ext cx="1609477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46101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61 h · 10 dias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8050" y="48577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Tarcilio Mendes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24900" y="48768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24900" y="4876800"/>
            <a:ext cx="1606851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8577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61 h · 15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50" y="5143500"/>
            <a:ext cx="4191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Formalizar o turno primeiro para esse grupo: a demanda já é diária e comprovada.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R7.2 - NORTE: AP / MA / PA E PI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PROPOSTA DO PRÓXIMO CICLO · FCA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Fechar o gap de R$ 42,4 mil/mês com ações específicas por área — não com corte cego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342900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543050"/>
            <a:ext cx="3048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DO ORÇADO À 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17907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Orçado do ciclo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943100"/>
            <a:ext cx="3048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82238"/>
                </a:solidFill>
                <a:latin typeface="Aptos"/>
              </a:rPr>
              <a:t>R$ 67,5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2288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Proposta · −50%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381250"/>
            <a:ext cx="2286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>
                <a:solidFill>
                  <a:srgbClr val="13853A"/>
                </a:solidFill>
                <a:latin typeface="Aptos Display"/>
              </a:rPr>
              <a:t>R$ 33,7 mil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2381250"/>
            <a:ext cx="914400" cy="247650"/>
          </a:xfrm>
          <a:prstGeom prst="roundRect">
            <a:avLst>
              <a:gd name="adj" fmla="val 6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0" y="2381250"/>
            <a:ext cx="8763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3853A"/>
                </a:solidFill>
                <a:latin typeface="Aptos"/>
              </a:rPr>
              <a:t>−R$ 42,4 mil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29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43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43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Converter demanda diária em turno fixo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43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Nas 3 GAs estruturais: turno noturno fixo cobre a mediana de acionados; sobreaviso residual cobre o p90. Hora acionada: R$ 23,60 → turno: R$ 12,43. Economia: R$ 34,2 mil/mês.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845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990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Escala regular de fim de semana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46% das horas acionadas caem no sáb/dom, de dia (695 h) — hoje cobertas por sobreaviso, a forma mais cara. Revezamento de FDS (folguista/12x36) nas GAs estruturais elimina esse custo recorrente.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4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Sobreaviso enxuto onde é eventual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54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Nas GAs que acionam ≤40% dos dias (Wagner, Dejamir Sousa), o pico histórico é 1 técnico: manter sobreaviso com plantão mínimo e revisão semanal de escala × acionamento.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3009900"/>
            <a:ext cx="571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FCA — Fato · Causa · Ação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3400" y="3238500"/>
          <a:ext cx="111061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1250"/>
                <a:gridCol w="2857500"/>
                <a:gridCol w="3009900"/>
                <a:gridCol w="1047750"/>
                <a:gridCol w="1428750"/>
                <a:gridCol w="381000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3 GAs acionam 96–100% dos dias (R$ 70,5 mil/mês)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Demanda diária e previsível (Miguel Barros, Rafael Nunes, Claudio) paga como sobreaviso + HE de acionamento — o instrumento errado para trabalho regular.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Dimensionar turno noturno fixo pela mediana de acionados e formalizar primeiro os técnicos já acionados toda semana; sobreaviso residual para o excedente (p90).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 + RH + Planejamento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D94545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46% das horas acionadas caem no fim de semana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Sem escala regular de sáb/dom, a cobertura diurna do FDS (695 h) é feita via acionamento com adicional maior.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Implantar revezamento de fim de semana nas GAs estruturais (folguista/12x36) e retirar o FDS diurno do sobreaviso.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Planejamento de escala + Coordenação de campo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1476C9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GAs eventuais acionam ≤40% dos dias, pico de 1 técnico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Nessas áreas (Wagner, Dejamir Sousa) o sobreaviso cumpre o papel certo: cobertura de evento raro com custo de espera baixo.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Manter sobreaviso com 1 plantonista; acompanhar semanalmente escala × acionamento para não recriar gordura.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Semanal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Gestores das áreas (GA)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9A6200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Risco de descobertura se houver corte cego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Na maior GA o pico chegou a 14 técnicos acionados no mesmo dia — margem apertada sobre o plantão atual.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Regra de piso: nenhuma GA reduz plantão abaixo do p90 de acionados simultâneos sem turno fixo no lugar; pico raro coberto por backup entre GAs vizinhas.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Regra permanente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E4BD30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