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Realizado</c:v>
                </c:pt>
              </c:strCache>
            </c:strRef>
          </c:tx>
          <c:spPr>
            <a:ln w="31750">
              <a:solidFill>
                <a:srgbClr val="081551"/>
              </a:solidFill>
            </a:ln>
          </c:spPr>
          <c:marker>
            <c:symbol val="circle"/>
            <c:size val="5"/>
            <c:spPr>
              <a:solidFill>
                <a:srgbClr val="081551"/>
              </a:solidFill>
              <a:ln>
                <a:solidFill>
                  <a:srgbClr val="081551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119.8211</c:v>
                </c:pt>
                <c:pt idx="1">
                  <c:v>101.50244</c:v>
                </c:pt>
                <c:pt idx="2">
                  <c:v>107.58857</c:v>
                </c:pt>
                <c:pt idx="3">
                  <c:v>145.88514</c:v>
                </c:pt>
                <c:pt idx="4">
                  <c:v>138.80977</c:v>
                </c:pt>
                <c:pt idx="5">
                  <c:v>124.20514999999999</c:v>
                </c:pt>
                <c:pt idx="6">
                  <c:v>83.79819792784761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Orçado</c:v>
                </c:pt>
              </c:strCache>
            </c:strRef>
          </c:tx>
          <c:spPr>
            <a:ln w="22225">
              <a:solidFill>
                <a:srgbClr val="667085"/>
              </a:solidFill>
            </a:ln>
          </c:spPr>
          <c:marker>
            <c:symbol val="diamond"/>
            <c:size val="5"/>
            <c:spPr>
              <a:solidFill>
                <a:srgbClr val="667085"/>
              </a:solidFill>
              <a:ln>
                <a:solidFill>
                  <a:srgbClr val="667085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74.7418431245893</c:v>
                </c:pt>
                <c:pt idx="1">
                  <c:v>72.73738246000511</c:v>
                </c:pt>
                <c:pt idx="2">
                  <c:v>71.6145502597741</c:v>
                </c:pt>
                <c:pt idx="3">
                  <c:v>89.3577539692669</c:v>
                </c:pt>
                <c:pt idx="4">
                  <c:v>91.3804746881511</c:v>
                </c:pt>
                <c:pt idx="5">
                  <c:v>82.25209891988949</c:v>
                </c:pt>
                <c:pt idx="6">
                  <c:v>79.0155719731899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Meta −50%</c:v>
                </c:pt>
              </c:strCache>
            </c:strRef>
          </c:tx>
          <c:spPr>
            <a:ln w="22225">
              <a:solidFill>
                <a:srgbClr val="13853A"/>
              </a:solidFill>
            </a:ln>
          </c:spPr>
          <c:marker>
            <c:symbol val="diamond"/>
            <c:size val="5"/>
            <c:spPr>
              <a:solidFill>
                <a:srgbClr val="13853A"/>
              </a:solidFill>
              <a:ln>
                <a:solidFill>
                  <a:srgbClr val="13853A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39.50779</c:v>
                </c:pt>
                <c:pt idx="1">
                  <c:v>39.50779</c:v>
                </c:pt>
                <c:pt idx="2">
                  <c:v>39.50779</c:v>
                </c:pt>
                <c:pt idx="3">
                  <c:v>39.50779</c:v>
                </c:pt>
                <c:pt idx="4">
                  <c:v>39.50779</c:v>
                </c:pt>
                <c:pt idx="5">
                  <c:v>39.50779</c:v>
                </c:pt>
                <c:pt idx="6">
                  <c:v>39.50779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0EA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DF1F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INDICADOR (Fato). Números vêm de dados_&lt;regiao&gt;.json; textos de narrativa_&lt;regiao&gt;.json (s1). Meta = -50% do orçado.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CAUSA/onde (ociosidade + regimes). HC/dia e horas de espera x acionamento; painel C mostra dia útil (noturno) x FDS (diurno). Números do JSON (ociosidade, inteligencia.regimes).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CAUSA/quem (por GA). Ranking de horas + frequência de acionamento: GA que aciona todo dia tem demanda estrutural (instrumento errado: sobreaviso); GA eventual usa sobreaviso corretamente. Do JSON (sobreaviso_por_ga, inteligencia.gas).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RISCO x CUSTO-BENEFÍCIO. Dimensionamento por GA (mediana=turno fixo, p90=sobreaviso residual, máx=backup), regra de piso, conta da conversão e nominal dos técnicos mais acionados. Do JSON (inteligencia).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AÇÃO (proposta + FCA cirúrgico). Orçado-&gt;Proposta (-50%), 3 alavancas e a tabela FCA com ações específicas por GA. Edite textos em narrativa_&lt;regiao&gt;.json (s5).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R5 - MG / SP INT / DF / GO / TO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1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CUSTO DE HORAS · MG/CO/SP · 10/07/2026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81551"/>
                </a:solidFill>
                <a:latin typeface="Aptos Display"/>
              </a:rPr>
              <a:t>A meta é cortar o custo de horas pela metade — e o sobreaviso já estoura o orçado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695450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1828800"/>
            <a:ext cx="3200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476C9"/>
                </a:solidFill>
                <a:latin typeface="Aptos"/>
              </a:rPr>
              <a:t>ORÇADO DO CICLO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2000250"/>
            <a:ext cx="3200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81551"/>
                </a:solidFill>
                <a:latin typeface="Aptos Display"/>
              </a:rPr>
              <a:t>R$ 79,0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2381250"/>
            <a:ext cx="3200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por mês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200" y="1695450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8650" y="1828800"/>
            <a:ext cx="3200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9FC9EE"/>
                </a:solidFill>
                <a:latin typeface="Aptos"/>
              </a:rPr>
              <a:t>META · −50%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8650" y="2000250"/>
            <a:ext cx="3200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FFFFFF"/>
                </a:solidFill>
                <a:latin typeface="Aptos Display"/>
              </a:rPr>
              <a:t>R$ 39,5 mil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8650" y="2381250"/>
            <a:ext cx="3200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C9D6EF"/>
                </a:solidFill>
                <a:latin typeface="Aptos"/>
              </a:rPr>
              <a:t>compromisso do próximo ciclo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695450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2450" y="1828800"/>
            <a:ext cx="3200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476C9"/>
                </a:solidFill>
                <a:latin typeface="Aptos"/>
              </a:rPr>
              <a:t>REALIZADO (FOTO)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2450" y="2000250"/>
            <a:ext cx="3200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81551"/>
                </a:solidFill>
                <a:latin typeface="Aptos Display"/>
              </a:rPr>
              <a:t>R$ 83,8 mil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2450" y="2381250"/>
            <a:ext cx="3200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6% acima vs orçado · falta cortar 53%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2819400"/>
            <a:ext cx="533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081551"/>
                </a:solidFill>
                <a:latin typeface="Aptos"/>
              </a:rPr>
              <a:t>Custo mensal de horas — R$ mil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19100" y="3009900"/>
          <a:ext cx="5572125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86500" y="2819400"/>
            <a:ext cx="533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081551"/>
                </a:solidFill>
                <a:latin typeface="Aptos"/>
              </a:rPr>
              <a:t>Composição do custo (mês-foto)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6500" y="3048000"/>
            <a:ext cx="1064336" cy="32385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50836" y="3048000"/>
            <a:ext cx="2127780" cy="3238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78617" y="3048000"/>
            <a:ext cx="1753424" cy="32385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232042" y="3048000"/>
            <a:ext cx="223395" cy="323850"/>
          </a:xfrm>
          <a:prstGeom prst="rect">
            <a:avLst/>
          </a:prstGeom>
          <a:solidFill>
            <a:srgbClr val="98A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55437" y="3048000"/>
            <a:ext cx="184112" cy="323850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50836" y="3409950"/>
            <a:ext cx="3881205" cy="28575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50836" y="3448050"/>
            <a:ext cx="388120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13853A"/>
                </a:solidFill>
                <a:latin typeface="Aptos"/>
              </a:rPr>
              <a:t>Sobreaviso = 73%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86500" y="3714750"/>
            <a:ext cx="114300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7000" y="369570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DSR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0" y="369570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R$ 16,7 mil  ·  20%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6500" y="3924300"/>
            <a:ext cx="114300" cy="1143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7000" y="390525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Acionamento sobreaviso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0" y="390525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R$ 33,3 mil  ·  40%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86500" y="4133850"/>
            <a:ext cx="114300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7000" y="411480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Espera sobreaviso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0" y="411480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R$ 27,4 mil  ·  33%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6500" y="4343400"/>
            <a:ext cx="114300" cy="114300"/>
          </a:xfrm>
          <a:prstGeom prst="rect">
            <a:avLst/>
          </a:prstGeom>
          <a:solidFill>
            <a:srgbClr val="98A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7000" y="432435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Banco de horas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0" y="432435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R$ 3,5 mil  ·  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86500" y="4552950"/>
            <a:ext cx="114300" cy="114300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7000" y="453390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Feriados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0" y="453390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R$ 2,9 mil  ·  3%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86500" y="4876800"/>
            <a:ext cx="5353050" cy="12192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7000" y="499110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476C9"/>
                </a:solidFill>
                <a:latin typeface="Aptos"/>
              </a:rPr>
              <a:t>DECISÃO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7000" y="5181600"/>
            <a:ext cx="49911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82238"/>
                </a:solidFill>
                <a:latin typeface="Aptos"/>
              </a:rPr>
              <a:t>Atacar o sobreaviso, que responde por 73% da cesta. O problema não é difuso: uma única área aciona todo dia e sozinha concentra quase metade do custo — ali o instrumento certo é turno fixo, não sobreaviso.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R5 - MG / SP INT / DF / GO / TO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2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DIAGNÓSTICO DO CUSTO · ONDE ESTÁ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Paga-se muito plantão em espera — e o acionamento é majoritariamente noturno em dia útil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28750"/>
            <a:ext cx="5334000" cy="2381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1581150"/>
            <a:ext cx="4953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Técnicos por dia: em espera x acionados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1790700"/>
            <a:ext cx="4953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Média por dia no período de sobreaviso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1907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Em espera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2209800"/>
            <a:ext cx="2857500" cy="123825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57400" y="2209800"/>
            <a:ext cx="2857500" cy="12382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1100" y="21907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28,8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5336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Acionados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2552700"/>
            <a:ext cx="2857500" cy="123825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57400" y="2552700"/>
            <a:ext cx="1150937" cy="12382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1100" y="25336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11,6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950" y="2971800"/>
            <a:ext cx="4953000" cy="6286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067050"/>
            <a:ext cx="14287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3853A"/>
                </a:solidFill>
                <a:latin typeface="Aptos Display"/>
              </a:rPr>
              <a:t>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81250" y="3067050"/>
            <a:ext cx="31623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182238"/>
                </a:solidFill>
                <a:latin typeface="Aptos"/>
              </a:rPr>
              <a:t>dos técnicos de sobreaviso são de fato acionados por dia — o restante é plantão pago em espera.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7900" y="1428750"/>
            <a:ext cx="5581650" cy="2381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7450" y="1581150"/>
            <a:ext cx="5143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Horas de sobreaviso: espera x acionamento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7450" y="1790700"/>
            <a:ext cx="5143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Soma do período (analítico nominal)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7450" y="2000250"/>
            <a:ext cx="1143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Espera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7450" y="2171700"/>
            <a:ext cx="5143500" cy="2476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7450" y="2171700"/>
            <a:ext cx="5143500" cy="24765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7450" y="2200275"/>
            <a:ext cx="5029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6.832 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7450" y="25336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Acionamento efetivo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7450" y="2705100"/>
            <a:ext cx="5143500" cy="2476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7450" y="2705100"/>
            <a:ext cx="771806" cy="2476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15456" y="2733675"/>
            <a:ext cx="1143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081551"/>
                </a:solidFill>
                <a:latin typeface="Aptos"/>
              </a:rPr>
              <a:t>1.206 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7450" y="3162300"/>
            <a:ext cx="5143500" cy="514350"/>
          </a:xfrm>
          <a:prstGeom prst="roundRect">
            <a:avLst>
              <a:gd name="adj" fmla="val 6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8900" y="3162300"/>
            <a:ext cx="9144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>
                <a:solidFill>
                  <a:srgbClr val="42DF4B"/>
                </a:solidFill>
                <a:latin typeface="Aptos Display"/>
              </a:rPr>
              <a:t>15%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91400" y="3162300"/>
            <a:ext cx="386715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FFFFFF"/>
                </a:solidFill>
                <a:latin typeface="Aptos"/>
              </a:rPr>
              <a:t>do custo de sobreaviso vira acionamento — o resto é plantão em espera.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400" y="3962400"/>
            <a:ext cx="11106150" cy="2076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2950" y="4095750"/>
            <a:ext cx="8572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Não é um problema só: no dia útil o acionamento é noturno; no fim de semana, diurno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4305300"/>
            <a:ext cx="8572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Horas de acionamento por faixa horária, separadas em dia útil × sábado/domingo.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4610100"/>
            <a:ext cx="876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Noite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57350" y="4629150"/>
            <a:ext cx="4191000" cy="1333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57350" y="4629150"/>
            <a:ext cx="3607460" cy="1333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64810" y="4629150"/>
            <a:ext cx="583539" cy="13335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4610100"/>
            <a:ext cx="609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623 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72250" y="4610100"/>
            <a:ext cx="76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14% FDS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950" y="4933950"/>
            <a:ext cx="876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Madrugada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57350" y="4953000"/>
            <a:ext cx="4191000" cy="1333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657350" y="4953000"/>
            <a:ext cx="1401033" cy="1333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058383" y="4953000"/>
            <a:ext cx="539841" cy="13335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0" y="4933950"/>
            <a:ext cx="609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289 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72250" y="4933950"/>
            <a:ext cx="76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28% FDS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950" y="5257800"/>
            <a:ext cx="876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Dia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57350" y="5276850"/>
            <a:ext cx="4191000" cy="1333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57350" y="5276850"/>
            <a:ext cx="586229" cy="13335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0" y="5257800"/>
            <a:ext cx="609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87 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72250" y="5257800"/>
            <a:ext cx="76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3853A"/>
                </a:solidFill>
                <a:latin typeface="Aptos"/>
              </a:rPr>
              <a:t>100% FDS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2950" y="5581650"/>
            <a:ext cx="876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Tarde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57350" y="5600700"/>
            <a:ext cx="4191000" cy="1333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657350" y="5600700"/>
            <a:ext cx="85379" cy="1333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742729" y="5600700"/>
            <a:ext cx="1306914" cy="13335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0" y="5581650"/>
            <a:ext cx="609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207 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72250" y="5581650"/>
            <a:ext cx="76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3853A"/>
                </a:solidFill>
                <a:latin typeface="Aptos"/>
              </a:rPr>
              <a:t>94% FDS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57350" y="5943600"/>
            <a:ext cx="104775" cy="1047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09750" y="5924550"/>
            <a:ext cx="666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dia útil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19350" y="5943600"/>
            <a:ext cx="104775" cy="104775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71750" y="5924550"/>
            <a:ext cx="1047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fim de semana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96250" y="4572000"/>
            <a:ext cx="3314700" cy="14287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86750" y="4667250"/>
            <a:ext cx="2952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1476C9"/>
                </a:solidFill>
                <a:latin typeface="Aptos"/>
              </a:rPr>
              <a:t>DOIS REGIMES, DUAS SOLUÇÕES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86750" y="4838700"/>
            <a:ext cx="2971800" cy="1104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No dia útil o acionamento é noturno (745 h pós-jornada) e domina o período — só 37% das horas caem no fim de semana. Aqui o custo não vem de falta de escala de FDS: vem de uma demanda diária concentrada em poucas áreas, que precisa de outro instrumento.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R5 - MG / SP INT / DF / GO / TO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3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ONDE DÓI · POR ÁREA DE GESTÃO (GA)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Uma área aciona todo dia e concentra quase metade do custo de sobreaviso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447800"/>
            <a:ext cx="5905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Horas de sobreaviso por Área de Gestão (GA)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1657350"/>
            <a:ext cx="5905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Barra = espera + acionamento · maior no topo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190500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Luis Carlos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24050"/>
            <a:ext cx="3619500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09800" y="1924050"/>
            <a:ext cx="3048885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5500" y="19050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3357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219075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Gean Carlos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09800" y="2209800"/>
            <a:ext cx="1265121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09800" y="2209800"/>
            <a:ext cx="1118370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1121" y="21907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1173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247650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Leandro Soares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09800" y="2495550"/>
            <a:ext cx="1066182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09800" y="2495550"/>
            <a:ext cx="993615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2182" y="24765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989 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276225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Jose Ferreira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09800" y="2781300"/>
            <a:ext cx="957601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09800" y="2781300"/>
            <a:ext cx="723727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3601" y="27622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888 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04800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Diego Donizetti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09800" y="3067050"/>
            <a:ext cx="928273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09800" y="3067050"/>
            <a:ext cx="817967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14273" y="30480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861 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" y="333375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Denis Pereira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09800" y="3352800"/>
            <a:ext cx="633585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09800" y="3352800"/>
            <a:ext cx="502360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19585" y="33337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588 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361950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Natan Vinicius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09800" y="3638550"/>
            <a:ext cx="112893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09800" y="3638550"/>
            <a:ext cx="104375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98893" y="36195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105 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" y="390525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Israel Kevin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09800" y="3924300"/>
            <a:ext cx="84319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09800" y="3924300"/>
            <a:ext cx="57579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70319" y="39052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78 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09800" y="4248150"/>
            <a:ext cx="104775" cy="1047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62200" y="4229100"/>
            <a:ext cx="666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espera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71800" y="4248150"/>
            <a:ext cx="104775" cy="1047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24200" y="4229100"/>
            <a:ext cx="95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acionamento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67500" y="1428750"/>
            <a:ext cx="4972050" cy="1638300"/>
          </a:xfrm>
          <a:prstGeom prst="roundRect">
            <a:avLst>
              <a:gd name="adj" fmla="val 6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77050" y="1562100"/>
            <a:ext cx="2857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9FC9EE"/>
                </a:solidFill>
                <a:latin typeface="Aptos"/>
              </a:rPr>
              <a:t>CONCENTRAÇÃO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77050" y="1733550"/>
            <a:ext cx="152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600" b="1">
                <a:solidFill>
                  <a:srgbClr val="42DF4B"/>
                </a:solidFill>
                <a:latin typeface="Aptos Display"/>
              </a:rPr>
              <a:t>69%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7050" y="2209800"/>
            <a:ext cx="4572000" cy="781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Aptos"/>
              </a:rPr>
              <a:t>As 3 primeiras GAs concentram 69% das horas. Uma delas aciona 25 de 25 dias — sinal claro de demanda diária, não de plantão eventual.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6667500" y="3238500"/>
          <a:ext cx="497205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00"/>
                <a:gridCol w="1066800"/>
                <a:gridCol w="914400"/>
                <a:gridCol w="1047750"/>
              </a:tblGrid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Área de gestão (GA)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Aciona em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Custo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Padrão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Luis Carlos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25 de 25 d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R$ 26,9 mil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TODO 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Jose Ferreira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18 de 25 d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R$ 9,0 mil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FREQUENTE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Gean Carlos Oliveira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21 de 25 d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R$ 8,3 mil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TODO 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Leandro Soares Nunes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13 de 25 d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R$ 5,7 mil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FREQUENTE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Diego Donizetti Reis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11 de 25 d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R$ 5,2 mil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FREQUENTE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Denis Pereira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14 de 25 d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R$ 4,4 mil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FREQUENTE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R5 - MG / SP INT / DF / GO / TO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4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RISCO × CUSTO-BENEFÍCIO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Trocar o instrumento sem perder cobertura: turno fixo onde a demanda é diária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447800"/>
            <a:ext cx="6286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Dimensionamento seguro por GA — plantão hoje × demanda real de acionados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1657350"/>
            <a:ext cx="628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Mediana e pico (p90/máx) de técnicos acionados no mesmo dia. A cobertura não cai: muda o instrumento.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3400" y="1905000"/>
          <a:ext cx="628650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9750"/>
                <a:gridCol w="1009650"/>
                <a:gridCol w="1123950"/>
                <a:gridCol w="781050"/>
                <a:gridCol w="1562100"/>
              </a:tblGrid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GA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Plantão hoje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Acionados/dia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Pico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Proposta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Luis Carlos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13 téc/dia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5 · p90 9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Turno fixo + SA p/ pico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Jose Ferreira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3 téc/dia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2 · p90 4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SA enxuto (p90)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Gean Carlos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4 téc/dia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1 · p90 4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Turno fixo + SA p/ pico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Leandro Soares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3 téc/dia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2 · p90 3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SA enxuto (p90)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Diego Donizetti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3 téc/dia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2 · p90 3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SA enxuto (p90)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Denis Pereira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2 téc/dia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1 · p90 2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SA enxuto (p90)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33400" y="4914900"/>
            <a:ext cx="6286500" cy="590550"/>
          </a:xfrm>
          <a:prstGeom prst="roundRect">
            <a:avLst>
              <a:gd name="adj" fmla="val 6000"/>
            </a:avLst>
          </a:prstGeom>
          <a:solidFill>
            <a:srgbClr val="FD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5010150"/>
            <a:ext cx="2857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D94545"/>
                </a:solidFill>
                <a:latin typeface="Aptos"/>
              </a:rPr>
              <a:t>REGRA DE PISO (RISCO)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5162550"/>
            <a:ext cx="59245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Nenhuma GA reduz plantão abaixo do p90 de acionados simultâneos sem turno fixo no lugar. O pico raro (máx) é coberto por backup combinado entre GAs vizinhas.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8500" y="1447800"/>
            <a:ext cx="4591050" cy="1809750"/>
          </a:xfrm>
          <a:prstGeom prst="roundRect">
            <a:avLst>
              <a:gd name="adj" fmla="val 6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8050" y="1562100"/>
            <a:ext cx="381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9FC9EE"/>
                </a:solidFill>
                <a:latin typeface="Aptos"/>
              </a:rPr>
              <a:t>A CONTA DA CONVERSÃO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8050" y="1771650"/>
            <a:ext cx="11239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FFFFFF"/>
                </a:solidFill>
                <a:latin typeface="Aptos Display"/>
              </a:rPr>
              <a:t>R$ 27,61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0" y="1771650"/>
            <a:ext cx="29718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C9D6EF"/>
                </a:solidFill>
                <a:latin typeface="Aptos"/>
              </a:rPr>
              <a:t>por hora acionada em sobreaviso (HE + adicionais)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8050" y="2114550"/>
            <a:ext cx="11239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42DF4B"/>
                </a:solidFill>
                <a:latin typeface="Aptos Display"/>
              </a:rPr>
              <a:t>R$ 14,46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0" y="2114550"/>
            <a:ext cx="29718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C9D6EF"/>
                </a:solidFill>
                <a:latin typeface="Aptos"/>
              </a:rPr>
              <a:t>por hora em turno fixo noturno (estimado*)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8050" y="2495550"/>
            <a:ext cx="419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Converter a demanda diária das GAs estruturais economiza R$ 20,1 mil/mês — sem perder cobertura.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8050" y="2971800"/>
            <a:ext cx="419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8FA3CE"/>
                </a:solidFill>
                <a:latin typeface="Aptos"/>
              </a:rPr>
              <a:t>*hora-base derivada da própria espera (1/3 da hora normal) + 20% de adicional noturno. Validar com RH.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8500" y="3390900"/>
            <a:ext cx="4591050" cy="2114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58050" y="3505200"/>
            <a:ext cx="419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081551"/>
                </a:solidFill>
                <a:latin typeface="Aptos"/>
              </a:rPr>
              <a:t>Quem já trabalha o turno — só que pago como 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8050" y="3695700"/>
            <a:ext cx="419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Top 10 técnicos = 37% de todas as horas de acionamento. Os 5 maiores: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8050" y="386715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Diego Henrique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24900" y="388620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24900" y="3886200"/>
            <a:ext cx="1714500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386715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98 h · 10 dias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050" y="411480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Washington Gaspar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24900" y="41338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24900" y="4133850"/>
            <a:ext cx="825823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0" y="411480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47 h · 8 dias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8050" y="436245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Welington Oliveira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24900" y="438150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24900" y="4381500"/>
            <a:ext cx="755986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0" y="436245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43 h · 9 dias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8050" y="461010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Alisson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24900" y="46291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24900" y="4629150"/>
            <a:ext cx="752494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0" y="461010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43 h · 5 dias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58050" y="485775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Gustavo Henrique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24900" y="487680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24900" y="4876800"/>
            <a:ext cx="686149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0" y="485775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39 h · 9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8050" y="5143500"/>
            <a:ext cx="4191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Formalizar o turno primeiro para esse grupo: a demanda já é diária e comprovada.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R5 - MG / SP INT / DF / GO / TO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5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PROPOSTA DO PRÓXIMO CICLO · FCA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Fechar o gap de R$ 44,3 mil/mês começando pela área que aciona todo 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28750"/>
            <a:ext cx="3429000" cy="1428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" y="1543050"/>
            <a:ext cx="3048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476C9"/>
                </a:solidFill>
                <a:latin typeface="Aptos"/>
              </a:rPr>
              <a:t>DO ORÇADO À PROPOSTA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179070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Orçado do ciclo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1943100"/>
            <a:ext cx="3048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>
                <a:solidFill>
                  <a:srgbClr val="182238"/>
                </a:solidFill>
                <a:latin typeface="Aptos"/>
              </a:rPr>
              <a:t>R$ 79,0 mil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22288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Proposta · −50%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381250"/>
            <a:ext cx="2286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>
                <a:solidFill>
                  <a:srgbClr val="13853A"/>
                </a:solidFill>
                <a:latin typeface="Aptos Display"/>
              </a:rPr>
              <a:t>R$ 39,5 mil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7500" y="2381250"/>
            <a:ext cx="914400" cy="247650"/>
          </a:xfrm>
          <a:prstGeom prst="roundRect">
            <a:avLst>
              <a:gd name="adj" fmla="val 6000"/>
            </a:avLst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7500" y="2381250"/>
            <a:ext cx="8763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13853A"/>
                </a:solidFill>
                <a:latin typeface="Aptos"/>
              </a:rPr>
              <a:t>−R$ 44,3 mil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52900" y="1428750"/>
            <a:ext cx="2438400" cy="14287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4350" y="154305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13853A"/>
                </a:solidFill>
                <a:latin typeface="Aptos Display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4350" y="1866900"/>
            <a:ext cx="2133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081551"/>
                </a:solidFill>
                <a:latin typeface="Aptos"/>
              </a:rPr>
              <a:t>Converter a maior área em turno fixo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4350" y="2247900"/>
            <a:ext cx="21336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82238"/>
                </a:solidFill>
                <a:latin typeface="Aptos"/>
              </a:rPr>
              <a:t>Nas 2 GAs estruturais: turno noturno fixo cobre a mediana de acionados; sobreaviso residual cobre o p90. Hora acionada: R$ 27,61 → turno: R$ 14,46. Economia: R$ 20,1 mil/mês.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8450" y="1428750"/>
            <a:ext cx="2438400" cy="14287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9900" y="154305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13853A"/>
                </a:solidFill>
                <a:latin typeface="Aptos Display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9900" y="1866900"/>
            <a:ext cx="2133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081551"/>
                </a:solidFill>
                <a:latin typeface="Aptos"/>
              </a:rPr>
              <a:t>Enxugar as GAs intermediárias pelo p90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9900" y="2247900"/>
            <a:ext cx="21336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82238"/>
                </a:solidFill>
                <a:latin typeface="Aptos"/>
              </a:rPr>
              <a:t>A maioria das áreas aciona entre 40% e 80% dos dias — demanda real, mas não diária. Redimensionar o plantão pelo p90 de acionados mantém a cobertura sem pagar espera ociosa.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428750"/>
            <a:ext cx="2438400" cy="14287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5450" y="154305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13853A"/>
                </a:solidFill>
                <a:latin typeface="Aptos Display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5450" y="1866900"/>
            <a:ext cx="2133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081551"/>
                </a:solidFill>
                <a:latin typeface="Aptos"/>
              </a:rPr>
              <a:t>Revisar nominalmente a espera sem retorno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5450" y="2247900"/>
            <a:ext cx="21336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82238"/>
                </a:solidFill>
                <a:latin typeface="Aptos"/>
              </a:rPr>
              <a:t>15% do sobreaviso vira acionamento. Retirar da escala os técnicos em plantão frequente com acionamento raro reduz custo sem tocar em quem de fato é chamado.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3009900"/>
            <a:ext cx="571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081551"/>
                </a:solidFill>
                <a:latin typeface="Aptos"/>
              </a:rPr>
              <a:t>FCA — Fato · Causa · Ação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33400" y="3238500"/>
          <a:ext cx="1110615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1250"/>
                <a:gridCol w="2857500"/>
                <a:gridCol w="3009900"/>
                <a:gridCol w="1047750"/>
                <a:gridCol w="1428750"/>
                <a:gridCol w="381000"/>
              </a:tblGrid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Fato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Causa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Ação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Prazo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Responsável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/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Uma GA aciona 25 de 25 dias, sozinha ~44% do custo de sobreaviso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Demanda diária e previsível paga como sobreaviso + HE de acionamento — o instrumento errado para trabalho regular.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Dimensionar turno noturno fixo pela mediana de acionados nessa área; sobreaviso residual só para o excedente (p90).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82238"/>
                          </a:solidFill>
                          <a:latin typeface="Aptos"/>
                        </a:rPr>
                        <a:t>Próximo ciclo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Gerência regional + RH + Planejamento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200" b="0">
                          <a:solidFill>
                            <a:srgbClr val="D94545"/>
                          </a:solidFill>
                          <a:latin typeface="Aptos"/>
                        </a:rPr>
                        <a:t>●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Custo de horas em R$ 83,8 mil/mês, ante meta de R$ 39,5 mil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Sobreaviso responde por 73% da cesta e o realizado já supera o orçado (6% acima).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Definir a meta de R$ 39,5 mil/mês por regional e abrir o gap de R$ 44,3 mil em plano de escala por GA.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82238"/>
                          </a:solidFill>
                          <a:latin typeface="Aptos"/>
                        </a:rPr>
                        <a:t>Início imediato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Gerência da regional + Planejamento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200" b="0">
                          <a:solidFill>
                            <a:srgbClr val="1476C9"/>
                          </a:solidFill>
                          <a:latin typeface="Aptos"/>
                        </a:rPr>
                        <a:t>●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Só 15% do sobreaviso vira acionamento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28,8 técnicos/dia em espera para 11,6 acionados nas GAs intermediárias; escala acima da demanda real.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Redimensionar plantão pelo p90 de acionados por GA; revisar nominalmente técnicos em plantão frequente com acionamento raro.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82238"/>
                          </a:solidFill>
                          <a:latin typeface="Aptos"/>
                        </a:rPr>
                        <a:t>Próximo ciclo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Gestores das áreas (GA) + Planejamento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200" b="0">
                          <a:solidFill>
                            <a:srgbClr val="9A6200"/>
                          </a:solidFill>
                          <a:latin typeface="Aptos"/>
                        </a:rPr>
                        <a:t>●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Risco de descobertura se houver corte cego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Na maior GA o pico chegou a 10 técnicos acionados no mesmo dia — margem apertada sobre o plantão atual.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Regra de piso: nenhuma GA reduz plantão abaixo do p90 de acionados simultâneos sem turno fixo no lugar; pico raro coberto por backup entre GAs vizinhas.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82238"/>
                          </a:solidFill>
                          <a:latin typeface="Aptos"/>
                        </a:rPr>
                        <a:t>Regra permanente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Gerência regional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200" b="0">
                          <a:solidFill>
                            <a:srgbClr val="E4BD30"/>
                          </a:solidFill>
                          <a:latin typeface="Aptos"/>
                        </a:rPr>
                        <a:t>●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