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Fonte: exportações de BI operacional da regional R7.1 (AL/BA/PB/PE/RN/SE), 01–07/07/2026 · OS = ordem de serviço concluída com baixa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5320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1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429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OPERAÇÕES · NORDESTE (R7.1) · 07/07/2026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71500"/>
            <a:ext cx="9525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81551"/>
                </a:solidFill>
                <a:latin typeface="Aptos Display"/>
              </a:rPr>
              <a:t>Sergipe e Pernambuco fecham 06/07 acima da meta de Produção e Prazo, mas a produtividade da semana caiu 32% e Sergipe está abaixo na 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447800"/>
            <a:ext cx="10668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>
                <a:solidFill>
                  <a:srgbClr val="45516A"/>
                </a:solidFill>
                <a:latin typeface="Aptos"/>
              </a:rPr>
              <a:t>No fechamento de 06/07, Sergipe (C.21) e Pernambuco (C.23) superaram a meta de Produção e de Prazo 24h; Pernambuco também está acima da meta de Cumprimento de Agenda, enquanto Sergipe fica 5 p.p. abaixo. Na visão semanal, a Produção 11 OK da regional caiu de 4,4 para 3,0 OS/dia (-32%) entre a semana fechada (S27) e a semana em curso (S28).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3400" y="1924050"/>
          <a:ext cx="11125200" cy="1943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0750"/>
                <a:gridCol w="2914650"/>
                <a:gridCol w="2914650"/>
                <a:gridCol w="3105150"/>
              </a:tblGrid>
              <a:tr h="6477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Cluster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Baixando serviço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BFC9E3"/>
                          </a:solidFill>
                          <a:latin typeface="Aptos"/>
                        </a:rPr>
                        <a:t>vs. folha meta, 06/07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Produção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BFC9E3"/>
                          </a:solidFill>
                          <a:latin typeface="Aptos"/>
                        </a:rPr>
                        <a:t>% da meta esperada, 06/07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Prazo 24h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BFC9E3"/>
                          </a:solidFill>
                          <a:latin typeface="Aptos"/>
                        </a:rPr>
                        <a:t>meta 85% das ordens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081551"/>
                          </a:solidFill>
                          <a:latin typeface="Aptos"/>
                        </a:rPr>
                        <a:t>C.21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Sergipe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3853A"/>
                          </a:solidFill>
                          <a:latin typeface="Aptos"/>
                        </a:rPr>
                        <a:t>87,5%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14 de 16 da folha meta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3853A"/>
                          </a:solidFill>
                          <a:latin typeface="Aptos"/>
                        </a:rPr>
                        <a:t>118,1%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acima do esperado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3853A"/>
                          </a:solidFill>
                          <a:latin typeface="Aptos"/>
                        </a:rPr>
                        <a:t>90,0%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5 p.p. acima da meta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081551"/>
                          </a:solidFill>
                          <a:latin typeface="Aptos"/>
                        </a:rPr>
                        <a:t>C.23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Pernambuco</a:t>
                      </a:r>
                    </a:p>
                  </a:txBody>
                  <a:tcPr anchor="ctr" marL="95250" marR="76200" marT="57150" marB="57150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3853A"/>
                          </a:solidFill>
                          <a:latin typeface="Aptos"/>
                        </a:rPr>
                        <a:t>94,1%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16 de 17 da folha meta</a:t>
                      </a:r>
                    </a:p>
                  </a:txBody>
                  <a:tcPr anchor="ctr" marL="95250" marR="76200" marT="57150" marB="57150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3853A"/>
                          </a:solidFill>
                          <a:latin typeface="Aptos"/>
                        </a:rPr>
                        <a:t>110,7%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acima do esperado</a:t>
                      </a:r>
                    </a:p>
                  </a:txBody>
                  <a:tcPr anchor="ctr" marL="95250" marR="76200" marT="57150" marB="57150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3853A"/>
                          </a:solidFill>
                          <a:latin typeface="Aptos"/>
                        </a:rPr>
                        <a:t>87,5%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2,5 p.p. acima da meta</a:t>
                      </a:r>
                    </a:p>
                  </a:txBody>
                  <a:tcPr anchor="ctr" marL="95250" marR="76200" marT="57150" marB="57150"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33400" y="3962400"/>
            <a:ext cx="107632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Como ler: Baixando Serviço mede quantos técnicos da folha meta estão de fato executando ordens no dia. A regional R7.1 fechou 06/07 com Prazo 24h em 88,9% e Cumprimento de Agenda em 86,1% — ambos acima da meta de 85%, puxados por Pernambuco. Sergipe fica 5 p.p. abaixo da meta de Agenda (80,0%); Pernambuco está 8,8 p.p. acima (93,8%).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" y="4476750"/>
            <a:ext cx="5191125" cy="1600200"/>
          </a:xfrm>
          <a:prstGeom prst="roundRect">
            <a:avLst>
              <a:gd name="adj" fmla="val 7000"/>
            </a:avLst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4610100"/>
            <a:ext cx="3048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9FC9EE"/>
                </a:solidFill>
                <a:latin typeface="Aptos"/>
              </a:rPr>
              <a:t>DECISÃO OPERACIONAL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819650"/>
            <a:ext cx="474345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Reverter a queda de produtividade da S28 antes que vire tendência e fechar a lacuna de Cumprimento de Agenda em Sergipe (80% vs meta de 85%). Execução também nominal: a GA de Leandro Sousa de Lorena concentra o maior gap em Pernambuco, e 8 técnicos concentram os maiores desvios.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53125" y="4476750"/>
            <a:ext cx="180975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0" y="4629150"/>
            <a:ext cx="15430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300" b="1">
                <a:solidFill>
                  <a:srgbClr val="1476C9"/>
                </a:solidFill>
                <a:latin typeface="Aptos"/>
              </a:rPr>
              <a:t>6 de 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4972050"/>
            <a:ext cx="154305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5"/>
                </a:solidFill>
                <a:latin typeface="Aptos"/>
              </a:rPr>
              <a:t>registros-semana em Q4/NP (produtividade mais baixa ou sem produção) no quartil 11 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77175" y="4476750"/>
            <a:ext cx="180975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0050" y="4629150"/>
            <a:ext cx="15430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300" b="1">
                <a:solidFill>
                  <a:srgbClr val="1476C9"/>
                </a:solidFill>
                <a:latin typeface="Aptos"/>
              </a:rPr>
              <a:t>63 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0050" y="4972050"/>
            <a:ext cx="154305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5"/>
                </a:solidFill>
                <a:latin typeface="Aptos"/>
              </a:rPr>
              <a:t>de gap estimado em 7 dias (01–07/07), considerando meta por tempo de casa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01225" y="4476750"/>
            <a:ext cx="180975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44100" y="4629150"/>
            <a:ext cx="15430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300" b="1">
                <a:solidFill>
                  <a:srgbClr val="1476C9"/>
                </a:solidFill>
                <a:latin typeface="Aptos"/>
              </a:rPr>
              <a:t>-32%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4100" y="4972050"/>
            <a:ext cx="154305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5"/>
                </a:solidFill>
                <a:latin typeface="Aptos"/>
              </a:rPr>
              <a:t>queda de Produção 11 OK entre a semana fechada e a semana em curso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Fonte: Analítico Nominal 01–07/07/2026, Quartil de Produtividade S27/S28 e exportações de motivo/submotivo de improdutividade da R7.1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5320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2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429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DIAGNÓSTICO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71500"/>
            <a:ext cx="9525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81551"/>
                </a:solidFill>
                <a:latin typeface="Aptos Display"/>
              </a:rPr>
              <a:t>O quadro está concentrado nos quartis mais produtivos — o desafio é sustentar o ritmo da S27 na semana em curso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428750"/>
            <a:ext cx="5810250" cy="35433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1581150"/>
            <a:ext cx="31432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081551"/>
                </a:solidFill>
                <a:latin typeface="Aptos"/>
              </a:rPr>
              <a:t>32 técnicos elegíveis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8500" y="1600200"/>
            <a:ext cx="29146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0">
                <a:solidFill>
                  <a:srgbClr val="667085"/>
                </a:solidFill>
                <a:latin typeface="Aptos"/>
              </a:rPr>
              <a:t>Quadro 100% veterano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1809750"/>
            <a:ext cx="53911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Quartil de produtividade (11 OK), S27 e S28. Todo o quadro tem mais de 90 dias de casa: 16 técnicos em Sergipe, 16 em Pernambuco.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950" y="2114550"/>
            <a:ext cx="2361323" cy="19050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04273" y="2114550"/>
            <a:ext cx="1347787" cy="190500"/>
          </a:xfrm>
          <a:prstGeom prst="rect">
            <a:avLst/>
          </a:prstGeom>
          <a:solidFill>
            <a:srgbClr val="E4B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52061" y="2114550"/>
            <a:ext cx="1180661" cy="1905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32723" y="2114550"/>
            <a:ext cx="506768" cy="190500"/>
          </a:xfrm>
          <a:prstGeom prst="rect">
            <a:avLst/>
          </a:prstGeom>
          <a:solidFill>
            <a:srgbClr val="D9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2950" y="2400300"/>
            <a:ext cx="66675" cy="26670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50" y="2381250"/>
            <a:ext cx="12573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82238"/>
                </a:solidFill>
                <a:latin typeface="Aptos"/>
              </a:rPr>
              <a:t>43,8%</a:t>
            </a:r>
          </a:p>
          <a:p>
            <a:pPr algn="l">
              <a:lnSpc>
                <a:spcPct val="106000"/>
              </a:lnSpc>
              <a:spcBef>
                <a:spcPts val="200"/>
              </a:spcBef>
            </a:pPr>
            <a:r>
              <a:rPr sz="850" b="0">
                <a:solidFill>
                  <a:srgbClr val="667085"/>
                </a:solidFill>
                <a:latin typeface="Aptos"/>
              </a:rPr>
              <a:t>Q1 — produtividade mais alta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14550" y="2400300"/>
            <a:ext cx="66675" cy="266700"/>
          </a:xfrm>
          <a:prstGeom prst="rect">
            <a:avLst/>
          </a:prstGeom>
          <a:solidFill>
            <a:srgbClr val="E4B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28850" y="2381250"/>
            <a:ext cx="12573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82238"/>
                </a:solidFill>
                <a:latin typeface="Aptos"/>
              </a:rPr>
              <a:t>25,0%</a:t>
            </a:r>
          </a:p>
          <a:p>
            <a:pPr algn="l">
              <a:lnSpc>
                <a:spcPct val="106000"/>
              </a:lnSpc>
              <a:spcBef>
                <a:spcPts val="200"/>
              </a:spcBef>
            </a:pPr>
            <a:r>
              <a:rPr sz="850" b="0">
                <a:solidFill>
                  <a:srgbClr val="667085"/>
                </a:solidFill>
                <a:latin typeface="Aptos"/>
              </a:rPr>
              <a:t>Q2 — intermediária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86150" y="2400300"/>
            <a:ext cx="66675" cy="2667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0450" y="2381250"/>
            <a:ext cx="12573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82238"/>
                </a:solidFill>
                <a:latin typeface="Aptos"/>
              </a:rPr>
              <a:t>21,9%</a:t>
            </a:r>
          </a:p>
          <a:p>
            <a:pPr algn="l">
              <a:lnSpc>
                <a:spcPct val="106000"/>
              </a:lnSpc>
              <a:spcBef>
                <a:spcPts val="200"/>
              </a:spcBef>
            </a:pPr>
            <a:r>
              <a:rPr sz="850" b="0">
                <a:solidFill>
                  <a:srgbClr val="667085"/>
                </a:solidFill>
                <a:latin typeface="Aptos"/>
              </a:rPr>
              <a:t>Q3 — abaixo da intermediária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57750" y="2400300"/>
            <a:ext cx="66675" cy="266700"/>
          </a:xfrm>
          <a:prstGeom prst="rect">
            <a:avLst/>
          </a:prstGeom>
          <a:solidFill>
            <a:srgbClr val="D9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72050" y="2381250"/>
            <a:ext cx="12573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82238"/>
                </a:solidFill>
                <a:latin typeface="Aptos"/>
              </a:rPr>
              <a:t>9,4%</a:t>
            </a:r>
          </a:p>
          <a:p>
            <a:pPr algn="l">
              <a:lnSpc>
                <a:spcPct val="106000"/>
              </a:lnSpc>
              <a:spcBef>
                <a:spcPts val="200"/>
              </a:spcBef>
            </a:pPr>
            <a:r>
              <a:rPr sz="850" b="0">
                <a:solidFill>
                  <a:srgbClr val="667085"/>
                </a:solidFill>
                <a:latin typeface="Aptos"/>
              </a:rPr>
              <a:t>Q4/NP — mais baixa ou sem produção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2950" y="2781300"/>
            <a:ext cx="5391150" cy="438150"/>
          </a:xfrm>
          <a:prstGeom prst="rect">
            <a:avLst/>
          </a:prstGeom>
          <a:solidFill>
            <a:srgbClr val="F1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2950" y="2781300"/>
            <a:ext cx="47625" cy="43815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300" y="2838450"/>
            <a:ext cx="51816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2F5C3E"/>
                </a:solidFill>
                <a:latin typeface="Aptos"/>
              </a:rPr>
              <a:t>O quadro está concentrado nos quartis de maior produtividade — quase 70% dos registros-semana estão em Q1/Q2. O risco não está na distribuição do time: está na queda de ritmo entre a semana fechada e a atual.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3333750"/>
            <a:ext cx="3619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Gap estimado por cluster (01–07/07)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5750" y="3343275"/>
            <a:ext cx="2057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1">
                <a:solidFill>
                  <a:srgbClr val="D94545"/>
                </a:solidFill>
                <a:latin typeface="Aptos"/>
              </a:rPr>
              <a:t>63 OS em 7 dias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3581400"/>
            <a:ext cx="1143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C.23 Pernambuco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62150" y="3600450"/>
            <a:ext cx="3619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62150" y="3600450"/>
            <a:ext cx="3619500" cy="11430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57850" y="35814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950" y="3810000"/>
            <a:ext cx="1143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C.21 Sergipe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62150" y="3829050"/>
            <a:ext cx="3619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962150" y="3829050"/>
            <a:ext cx="2081212" cy="114300"/>
          </a:xfrm>
          <a:prstGeom prst="rect">
            <a:avLst/>
          </a:prstGeom>
          <a:solidFill>
            <a:srgbClr val="78A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7850" y="38100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4095750"/>
            <a:ext cx="53911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Gap = máximo(meta por faixa de tempo de casa × dias trabalhados − volume OK, 0), estimado a partir do Analítico Nominal (dias trabalhados inferidos por Volume OK / Prod. OK).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950" y="4400550"/>
            <a:ext cx="53911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1 técnico (Ramon dos Santos, C.21) ficou sem nenhuma baixa no período inteiro — confirmar com RH/escala.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4150" y="1428750"/>
            <a:ext cx="5124450" cy="35433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43700" y="1581150"/>
            <a:ext cx="304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081551"/>
                </a:solidFill>
                <a:latin typeface="Aptos"/>
              </a:rPr>
              <a:t>98 visitas improdutivas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8650" y="1600200"/>
            <a:ext cx="32194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1">
                <a:solidFill>
                  <a:srgbClr val="D94545"/>
                </a:solidFill>
                <a:latin typeface="Aptos"/>
              </a:rPr>
              <a:t>82 com motivo registrado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3700" y="1809750"/>
            <a:ext cx="47053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Motivos registrados nos 4 maiores grupos (01–07/07):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3700" y="2228850"/>
            <a:ext cx="1809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Cliente ausente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29650" y="2247900"/>
            <a:ext cx="22860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629650" y="2247900"/>
            <a:ext cx="2286000" cy="1143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91850" y="222885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3700" y="2552700"/>
            <a:ext cx="1809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Abertura indevida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29650" y="2571750"/>
            <a:ext cx="22860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629650" y="2571750"/>
            <a:ext cx="1803654" cy="1143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991850" y="25527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3700" y="2876550"/>
            <a:ext cx="1809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Solicitação de reagendamento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29650" y="2895600"/>
            <a:ext cx="22860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29650" y="2895600"/>
            <a:ext cx="1444752" cy="1143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91850" y="287655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43700" y="3200400"/>
            <a:ext cx="1809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Falha massiva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29650" y="3219450"/>
            <a:ext cx="22860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629650" y="3219450"/>
            <a:ext cx="1323593" cy="1143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91850" y="32004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11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43700" y="3619500"/>
            <a:ext cx="4705350" cy="876300"/>
          </a:xfrm>
          <a:prstGeom prst="rect">
            <a:avLst/>
          </a:prstGeom>
          <a:solidFill>
            <a:srgbClr val="F1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743700" y="3619500"/>
            <a:ext cx="47625" cy="8763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96100" y="3733800"/>
            <a:ext cx="8572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>
                <a:solidFill>
                  <a:srgbClr val="13853A"/>
                </a:solidFill>
                <a:latin typeface="Aptos"/>
              </a:rPr>
              <a:t>70%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29550" y="3695700"/>
            <a:ext cx="350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4A5B52"/>
                </a:solidFill>
                <a:latin typeface="Aptos"/>
              </a:rPr>
              <a:t>das improdutivas classificadas estão nos 4 principais motivos, com “Cliente ausente” e “Abertura indevida” à frente — parte relevante nasce antes do despacho ou por ausência do cliente na visita.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3400" y="5143500"/>
            <a:ext cx="3638550" cy="1123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3400" y="5143500"/>
            <a:ext cx="3638550" cy="28575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6750" y="5257800"/>
            <a:ext cx="381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>
                <a:solidFill>
                  <a:srgbClr val="A2B2C6"/>
                </a:solidFill>
                <a:latin typeface="Aptos"/>
              </a:rPr>
              <a:t>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7750" y="5257800"/>
            <a:ext cx="3009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Reverter a queda S27→S28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7750" y="5467350"/>
            <a:ext cx="30099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Produção 11 OK caiu de 4,4 para 3,0 OS/dia. Acompanhamento diário para retomar o patamar da semana anterior até o fim da S28.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24350" y="5143500"/>
            <a:ext cx="3638550" cy="1123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24350" y="5143500"/>
            <a:ext cx="3638550" cy="28575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57700" y="5257800"/>
            <a:ext cx="381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>
                <a:solidFill>
                  <a:srgbClr val="A2B2C6"/>
                </a:solidFill>
                <a:latin typeface="Aptos"/>
              </a:rPr>
              <a:t>02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38700" y="5257800"/>
            <a:ext cx="3009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Plano individual nominal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38700" y="5467350"/>
            <a:ext cx="30099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Foco nos 8 maiores gaps individuais e na GA de Pernambuco com maior concentração de perda. Detalhe na página seguinte.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15300" y="5143500"/>
            <a:ext cx="3638550" cy="1123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15300" y="5143500"/>
            <a:ext cx="3638550" cy="28575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48650" y="5257800"/>
            <a:ext cx="381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>
                <a:solidFill>
                  <a:srgbClr val="A2B2C6"/>
                </a:solidFill>
                <a:latin typeface="Aptos"/>
              </a:rPr>
              <a:t>03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29650" y="5257800"/>
            <a:ext cx="3009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Qualidade da demanda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29650" y="5467350"/>
            <a:ext cx="30099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Travar abertura de OS sem validação técnica e confirmar a presença do cliente antes do despacho — os dois motivos somam 34 das 82 baixas classificadas.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Fonte: Analítico Nominal por técnico, 01 a 07/07/2026 · 32 técnicos elegíveis · gap estimado, dias trabalhados inferidos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5320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3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429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GESTÃO NOMINAL · 01 A 07/07/2026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71500"/>
            <a:ext cx="9525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81551"/>
                </a:solidFill>
                <a:latin typeface="Aptos Display"/>
              </a:rPr>
              <a:t>Uma área de gestão em Pernambuco e oito técnicos concentram a maior parte do gap da regional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409700"/>
            <a:ext cx="4305300" cy="381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1562100"/>
            <a:ext cx="2857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081551"/>
                </a:solidFill>
                <a:latin typeface="Aptos"/>
              </a:rPr>
              <a:t>Gap por área de gestão (GA)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500" y="1581150"/>
            <a:ext cx="17907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em OS não executadas (estimado)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1905000"/>
            <a:ext cx="1638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Leandro Sousa de Lorena · C.23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57450" y="19240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57450" y="1924050"/>
            <a:ext cx="1714500" cy="11430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8150" y="19050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209800"/>
            <a:ext cx="1638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Caio Vinicius Rosendo dos Santos · C.21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57450" y="22288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57450" y="2228850"/>
            <a:ext cx="1066419" cy="11430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8150" y="22098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2514600"/>
            <a:ext cx="1638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Luiz Cavalcanti da Silva Neto · C.23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57450" y="25336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57450" y="2533650"/>
            <a:ext cx="138874" cy="114300"/>
          </a:xfrm>
          <a:prstGeom prst="rect">
            <a:avLst/>
          </a:prstGeom>
          <a:solidFill>
            <a:srgbClr val="78A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48150" y="25146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2950" y="3486150"/>
            <a:ext cx="3886200" cy="1600200"/>
          </a:xfrm>
          <a:prstGeom prst="rect">
            <a:avLst/>
          </a:prstGeom>
          <a:solidFill>
            <a:srgbClr val="F1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2950" y="3486150"/>
            <a:ext cx="47625" cy="1600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350" y="3600450"/>
            <a:ext cx="1143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13853A"/>
                </a:solidFill>
                <a:latin typeface="Aptos"/>
              </a:rPr>
              <a:t>1 técnico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350" y="3905250"/>
            <a:ext cx="3581400" cy="1104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4A5B52"/>
                </a:solidFill>
                <a:latin typeface="Aptos"/>
              </a:rPr>
              <a:t>ficou sem nenhuma baixa no período inteiro (01–07/07): Ramon dos Santos (C.21, GA Caio Vinicius Rosendo dos Santos) — capacidade fora de campo a confirmar com RH/escala.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029200" y="1409700"/>
          <a:ext cx="6629400" cy="3352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9800"/>
                <a:gridCol w="2286000"/>
                <a:gridCol w="2133600"/>
              </a:tblGrid>
              <a:tr h="838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TÉCNICOS</a:t>
                      </a:r>
                    </a:p>
                  </a:txBody>
                  <a:tcPr anchor="ctr" marL="95250" marR="76200" marT="38100" marB="3810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O QUE OS DADOS MOSTRAM</a:t>
                      </a:r>
                    </a:p>
                  </a:txBody>
                  <a:tcPr anchor="ctr" marL="95250" marR="76200" marT="38100" marB="3810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AÇÃO IMEDIATA</a:t>
                      </a:r>
                    </a:p>
                  </a:txBody>
                  <a:tcPr anchor="ctr" marL="95250" marR="76200" marT="38100" marB="38100">
                    <a:solidFill>
                      <a:srgbClr val="081551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1 técnico sem baixa no período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667085"/>
                          </a:solidFill>
                          <a:latin typeface="Aptos"/>
                        </a:rPr>
                        <a:t>Ramon dos Santos (C.21)</a:t>
                      </a:r>
                    </a:p>
                  </a:txBody>
                  <a:tcPr anchor="ctr" marL="9525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Nenhuma OS concluída entre 01 e 07/07. Não é baixa produtividade: é capacidade fora de campo.</a:t>
                      </a:r>
                    </a:p>
                  </a:txBody>
                  <a:tcPr anchor="ctr" marL="9525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Confirmar com RH e escala em 24h se é férias, atestado ou vaga a repor.</a:t>
                      </a:r>
                    </a:p>
                  </a:txBody>
                  <a:tcPr anchor="ctr" marL="95250" marR="76200" marT="38100" marB="3810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8 maiores desvios individuais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667085"/>
                          </a:solidFill>
                          <a:latin typeface="Aptos"/>
                        </a:rPr>
                        <a:t>Idecacio Lucas dos Santos (gap 8); Anderson Henrique da Silva Ferreira, Heitor Cezar Costa da Silva e Tiago de Jesus Andrade (gap 6); Fabio Santos Silva e Andre Felipe Luis (gap 5); Ubiratan Rodrigues de Barros e Darlan de Oliveira Rocha (gap 4) — C.21/C.23</a:t>
                      </a:r>
                    </a:p>
                  </a:txBody>
                  <a:tcPr anchor="ctr" marL="95250" marR="76200" marT="38100" marB="381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Concentram 44 das 63 OS de gap da regional; a maioria com poucos dias trabalhados no período.</a:t>
                      </a:r>
                    </a:p>
                  </a:txBody>
                  <a:tcPr anchor="ctr" marL="95250" marR="76200" marT="38100" marB="381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Conversa individual gestor-técnico esta semana, com plano simples de recuperação e verificação da escala real.</a:t>
                      </a:r>
                    </a:p>
                  </a:txBody>
                  <a:tcPr anchor="ctr" marL="95250" marR="76200" marT="38100" marB="38100">
                    <a:solidFill>
                      <a:srgbClr val="F8FAFD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3853A"/>
                          </a:solidFill>
                          <a:latin typeface="Aptos"/>
                        </a:rPr>
                        <a:t>Referências a replicar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667085"/>
                          </a:solidFill>
                          <a:latin typeface="Aptos"/>
                        </a:rPr>
                        <a:t>Edilson Pereira da Silva (6,0) e Jose Paulo de Sousa (5,67) — C.23; Gustavo da Silva Bonifacio (5,6), Erlan Cardoso da Silva (4,6) e Emanoel Santos Vieira (4,4) — C.21</a:t>
                      </a:r>
                    </a:p>
                  </a:txBody>
                  <a:tcPr anchor="ctr" marL="95250" marR="76200" marT="38100" marB="38100"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Bem acima da meta de 4 OS/dia, nas mesmas condições de campo.</a:t>
                      </a:r>
                    </a:p>
                  </a:txBody>
                  <a:tcPr anchor="ctr" marL="95250" marR="76200" marT="38100" marB="38100"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Mapear rota, carga e método desses técnicos e usar como padrão, priorizando a GA de Leandro Sousa de Lorena.</a:t>
                      </a:r>
                    </a:p>
                  </a:txBody>
                  <a:tcPr anchor="ctr" marL="95250" marR="76200" marT="38100" marB="38100">
                    <a:solidFill>
                      <a:srgbClr val="F1F9F1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33400" y="5600700"/>
            <a:ext cx="2152650" cy="742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3400" y="5600700"/>
            <a:ext cx="2152650" cy="28575"/>
          </a:xfrm>
          <a:prstGeom prst="rect">
            <a:avLst/>
          </a:prstGeom>
          <a:solidFill>
            <a:srgbClr val="D9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750" y="5734050"/>
            <a:ext cx="495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D94545"/>
                </a:solidFill>
                <a:latin typeface="Aptos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0150" y="5695950"/>
            <a:ext cx="1409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sem baixa no período — resolver em 24h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00350" y="5600700"/>
            <a:ext cx="2152650" cy="742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00350" y="5600700"/>
            <a:ext cx="2152650" cy="28575"/>
          </a:xfrm>
          <a:prstGeom prst="rect">
            <a:avLst/>
          </a:prstGeom>
          <a:solidFill>
            <a:srgbClr val="D9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33700" y="5734050"/>
            <a:ext cx="495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D94545"/>
                </a:solidFill>
                <a:latin typeface="Aptos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67100" y="5695950"/>
            <a:ext cx="1409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maior desvio individual — plano já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67300" y="5600700"/>
            <a:ext cx="2152650" cy="742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67300" y="5600700"/>
            <a:ext cx="2152650" cy="28575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00650" y="5734050"/>
            <a:ext cx="495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13853A"/>
                </a:solidFill>
                <a:latin typeface="Aptos"/>
              </a:rPr>
              <a:t>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34050" y="5695950"/>
            <a:ext cx="1409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Q1 — produtividade mais alta, usar de referência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34250" y="5600700"/>
            <a:ext cx="2152650" cy="742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34250" y="5600700"/>
            <a:ext cx="2152650" cy="28575"/>
          </a:xfrm>
          <a:prstGeom prst="rect">
            <a:avLst/>
          </a:prstGeom>
          <a:solidFill>
            <a:srgbClr val="E4B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67600" y="5734050"/>
            <a:ext cx="495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E4BD30"/>
                </a:solidFill>
                <a:latin typeface="Aptos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5695950"/>
            <a:ext cx="1409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Q2 — produtividade intermediária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01200" y="5600700"/>
            <a:ext cx="2152650" cy="742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01200" y="5600700"/>
            <a:ext cx="2152650" cy="28575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4550" y="5734050"/>
            <a:ext cx="495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F08A24"/>
                </a:solidFill>
                <a:latin typeface="Aptos"/>
              </a:rPr>
              <a:t>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67950" y="5695950"/>
            <a:ext cx="1409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Q3/Q4/NP — abaixo do ideal ou sem produção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Causas não comprovadas pelos dados permanecem marcadas como “em validação”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5320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4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429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FCA · FATO, CAUSA E 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71500"/>
            <a:ext cx="9525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81551"/>
                </a:solidFill>
                <a:latin typeface="Aptos Display"/>
              </a:rPr>
              <a:t>Quatro frentes colocam a recuperação do Nordeste em execução nesta semana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00050" y="1409700"/>
          <a:ext cx="11391900" cy="4305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0"/>
                <a:gridCol w="2457450"/>
                <a:gridCol w="2552700"/>
                <a:gridCol w="1104900"/>
                <a:gridCol w="2057400"/>
                <a:gridCol w="1314450"/>
              </a:tblGrid>
              <a:tr h="8610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FATO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CAUSA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AÇÃO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PRAZO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RESPONSÁVEL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</a:tr>
              <a:tr h="8610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Sergipe abaixo na meta de Cumprimento de Agenda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Agenda 80,0% em Sergipe · 93,8% em Pernambuco, em 06/07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Produção e Prazo 24h seguem dentro da meta nos dois clusters — o desvio está concentrado na agenda de Sergipe.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Controle diário de Cumprimento de Agenda em Sergipe, com lista nominal de OS não atendidas e providência no mesmo dia.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08/07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1ª revisão 15/07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Gestores de operação de Sergipe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14F88"/>
                          </a:solidFill>
                          <a:latin typeface="Aptos"/>
                        </a:rPr>
                        <a:t>A iniciar</a:t>
                      </a:r>
                    </a:p>
                  </a:txBody>
                  <a:tcPr anchor="ctr" marL="95250" marR="76200" marT="57150" marB="57150">
                    <a:solidFill>
                      <a:srgbClr val="DCECF9"/>
                    </a:solidFill>
                  </a:tcPr>
                </a:tc>
              </a:tr>
              <a:tr h="8610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63 OS de gap estimado em 7 dias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concentrado na GA de Leandro Sousa de Lorena (PE) e 8 técnicos críticos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1 técnico sem nenhuma baixa no período; 8 com maior desvio individual, a maioria com poucos dias trabalhados.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Confirmar com RH a situação do técnico parado; plano individual para os 8 críticos; ajuste de carga e rota para os demais.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08/07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planos até 10/07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GA Leandro Sousa de Lorena e GA Caio Vinicius Rosendo dos Santos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8A1717"/>
                          </a:solidFill>
                          <a:latin typeface="Aptos"/>
                        </a:rPr>
                        <a:t>Imediato</a:t>
                      </a:r>
                    </a:p>
                  </a:txBody>
                  <a:tcPr anchor="ctr" marL="95250" marR="76200" marT="57150" marB="57150">
                    <a:solidFill>
                      <a:srgbClr val="FDE2DF"/>
                    </a:solidFill>
                  </a:tcPr>
                </a:tc>
              </a:tr>
              <a:tr h="8610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98 visitas improdutivas no período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82 com motivo registrado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Cliente ausente (19) e Abertura indevida (15) lideram os motivos registrados — 70% das classificadas concentradas nos 4 principais motivos.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Confirmar o cliente antes do despacho; travar abertura de OS sem validação técnica; revisar agendamento para reduzir reagendamento.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08/07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travas até 10/07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Equipe de BI/Performance regional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765400"/>
                          </a:solidFill>
                          <a:latin typeface="Aptos"/>
                        </a:rPr>
                        <a:t>Em validação</a:t>
                      </a:r>
                    </a:p>
                  </a:txBody>
                  <a:tcPr anchor="ctr" marL="95250" marR="76200" marT="57150" marB="57150">
                    <a:solidFill>
                      <a:srgbClr val="FFF0C7"/>
                    </a:solidFill>
                  </a:tcPr>
                </a:tc>
              </a:tr>
              <a:tr h="8610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Queda de 32% na Produção 11 OK (S27→S28)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4,4 → 3,0 OS/dia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Queda presente nos dois clusters, mais acentuada em Sergipe (-40%) do que em Pernambuco (-26%).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Acompanhar o fechamento da S28 frente à S27, priorizando as GAs com maior gap identificado (Leandro Sousa de Lorena e Caio Vinicius Rosendo dos Santos).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12/07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fechamento da S28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Gestores de operação da regional R7.1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8A4C00"/>
                          </a:solidFill>
                          <a:latin typeface="Aptos"/>
                        </a:rPr>
                        <a:t>Atenção</a:t>
                      </a:r>
                    </a:p>
                  </a:txBody>
                  <a:tcPr anchor="ctr" marL="95250" marR="76200" marT="57150" marB="57150">
                    <a:solidFill>
                      <a:srgbClr val="FFE5CB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00050" y="5886450"/>
            <a:ext cx="11391900" cy="457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0050" y="5886450"/>
            <a:ext cx="66675" cy="457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6038850"/>
            <a:ext cx="190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FFFFFF"/>
                </a:solidFill>
                <a:latin typeface="Aptos"/>
              </a:rPr>
              <a:t>DECISÕES SOLICITADAS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1750" y="6038850"/>
            <a:ext cx="8953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D5DEF3"/>
                </a:solidFill>
                <a:latin typeface="Aptos"/>
              </a:rPr>
              <a:t>Confirmar responsáveis e prazos   ·   Ratificar 85% como meta de Prazo 24h e Cumprimento de Agenda   ·   Priorizar a GA de Leandro Sousa de Lorena na recuperação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