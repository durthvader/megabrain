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BI operacional e bases nominais do projeto 3Ps · OS = ordem de serviço concluída com baixa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1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OPERAÇÕES · CEARÁ · 06/07/2026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081551"/>
                </a:solidFill>
                <a:latin typeface="Aptos Display"/>
              </a:rPr>
              <a:t>Fortaleza concentra o risco; o Interior precisa proteger o Prazo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10668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0">
                <a:solidFill>
                  <a:srgbClr val="45516A"/>
                </a:solidFill>
                <a:latin typeface="Aptos"/>
              </a:rPr>
              <a:t>Fortaleza (C.27) está abaixo da meta nos três indicadores. O Interior (C.26) cumpre Presença e fechou o Prazo no limite, mas começou a semana com fila de ordens acima de um dia de trabalho.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33400" y="1924050"/>
          <a:ext cx="11125200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0250"/>
                <a:gridCol w="2152650"/>
                <a:gridCol w="2381250"/>
                <a:gridCol w="2247900"/>
                <a:gridCol w="2343150"/>
              </a:tblGrid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Cluster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Presença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mínima 95%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Produção OK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semana 29/06–05/07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Prazo 24h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meta 85% das ordens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Fila acumulada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BFC9E3"/>
                          </a:solidFill>
                          <a:latin typeface="Aptos"/>
                        </a:rPr>
                        <a:t>em dias de trabalho, 06/07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81551"/>
                          </a:solidFill>
                          <a:latin typeface="Aptos"/>
                        </a:rPr>
                        <a:t>C.26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Ceará Interior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102,5%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da meta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9A6200"/>
                          </a:solidFill>
                          <a:latin typeface="Aptos"/>
                        </a:rPr>
                        <a:t>3,5 OS/dia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veteranos abaixo da meta de 4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9A6200"/>
                          </a:solidFill>
                          <a:latin typeface="Aptos"/>
                        </a:rPr>
                        <a:t>85,2%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só 0,2 p.p. acima da meta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D94545"/>
                          </a:solidFill>
                          <a:latin typeface="Aptos"/>
                        </a:rPr>
                        <a:t>1,125 dia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acima do limite de 1 dia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081551"/>
                          </a:solidFill>
                          <a:latin typeface="Aptos"/>
                        </a:rPr>
                        <a:t>C.27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Fortaleza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D94545"/>
                          </a:solidFill>
                          <a:latin typeface="Aptos"/>
                        </a:rPr>
                        <a:t>94,5%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0,5 p.p. abaixo da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D94545"/>
                          </a:solidFill>
                          <a:latin typeface="Aptos"/>
                        </a:rPr>
                        <a:t>3,2 OS/dia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61 dos 81 técnicos abaixo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D94545"/>
                          </a:solidFill>
                          <a:latin typeface="Aptos"/>
                        </a:rPr>
                        <a:t>83,2%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1,8 p.p. abaixo da meta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600" b="1">
                          <a:solidFill>
                            <a:srgbClr val="13853A"/>
                          </a:solidFill>
                          <a:latin typeface="Aptos"/>
                        </a:rPr>
                        <a:t>0,820 dia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667085"/>
                          </a:solidFill>
                          <a:latin typeface="Aptos"/>
                        </a:rPr>
                        <a:t>dentro do limite</a:t>
                      </a:r>
                    </a:p>
                  </a:txBody>
                  <a:tcPr anchor="ctr" marL="95250" marR="76200" marT="57150" marB="57150"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33400" y="3962400"/>
            <a:ext cx="107632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Como ler: Produção OK conta apenas ordens de serviço concluídas com sucesso. Fila de 1,125 dia significa que, se nenhuma ordem nova entrar, a equipe do Interior precisa de mais de um dia inteiro só para zerar o que já está aberto.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4476750"/>
            <a:ext cx="5191125" cy="1409700"/>
          </a:xfrm>
          <a:prstGeom prst="roundRect">
            <a:avLst>
              <a:gd name="adj" fmla="val 7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2000" y="4610100"/>
            <a:ext cx="3048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9FC9EE"/>
                </a:solidFill>
                <a:latin typeface="Aptos"/>
              </a:rPr>
              <a:t>DECISÃO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4819650"/>
            <a:ext cx="474345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50" b="1">
                <a:solidFill>
                  <a:srgbClr val="FFFFFF"/>
                </a:solidFill>
                <a:latin typeface="Aptos"/>
              </a:rPr>
              <a:t>Concentrar a semana em Fortaleza e proteger o Prazo no Interior. A execução começa nominal: 3 áreas e 15 técnicos definem metade da recuperação.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53125" y="4476750"/>
            <a:ext cx="1809750" cy="14097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86 de 127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4972050"/>
            <a:ext cx="15430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técnicos ficaram abaixo da própria meta de produção em 01–03/07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77175" y="4476750"/>
            <a:ext cx="1809750" cy="14097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005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245,5 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0050" y="4972050"/>
            <a:ext cx="15430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deixaram de ser executadas — o equivalente a 20 técnicos parados por 3 dias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01225" y="4476750"/>
            <a:ext cx="1809750" cy="14097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44100" y="4629150"/>
            <a:ext cx="15430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300" b="1">
                <a:solidFill>
                  <a:srgbClr val="1476C9"/>
                </a:solidFill>
                <a:latin typeface="Aptos"/>
              </a:rPr>
              <a:t>49%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4100" y="4972050"/>
            <a:ext cx="1543050" cy="800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dessa perda está em apenas 3 das 12 áreas de gestão (GAs)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Analítico Nominal 01–03/07/2026 e painel de improdutividade de 06/07 · Produtividade OK é a métrica oficial; Baremo OK é visão complementar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2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DIAGNÓSTICO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O desvio está no time veterano — e boa parte nasce antes de o técnico sair para a rua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5810250" cy="35433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81150"/>
            <a:ext cx="314325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81551"/>
                </a:solidFill>
                <a:latin typeface="Aptos"/>
              </a:rPr>
              <a:t>127 técnicos elegíveis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1600200"/>
            <a:ext cx="25336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300" b="1">
                <a:solidFill>
                  <a:srgbClr val="D94545"/>
                </a:solidFill>
                <a:latin typeface="Aptos"/>
              </a:rPr>
              <a:t>86 abaixo da meta (68%)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809750"/>
            <a:ext cx="53911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Meta individual por tempo de casa: 3 OS/dia até 59 dias, 3,5 de 60 a 89 dias e 4 acima de 90 dias.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2950" y="2038350"/>
            <a:ext cx="1740450" cy="19050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3400" y="2038350"/>
            <a:ext cx="424500" cy="190500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07900" y="2038350"/>
            <a:ext cx="2886600" cy="1905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94499" y="2038350"/>
            <a:ext cx="339600" cy="190500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2950" y="2324100"/>
            <a:ext cx="66675" cy="26670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250" y="23050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41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na meta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14550" y="2324100"/>
            <a:ext cx="66675" cy="266700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28850" y="23050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10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novatos abaixo, &lt;90d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86150" y="2324100"/>
            <a:ext cx="66675" cy="2667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00450" y="23050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68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veteranos abaixo, &gt;90d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57750" y="2324100"/>
            <a:ext cx="66675" cy="266700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72050" y="2305050"/>
            <a:ext cx="12573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182238"/>
                </a:solidFill>
                <a:latin typeface="Aptos"/>
              </a:rPr>
              <a:t>8</a:t>
            </a:r>
          </a:p>
          <a:p>
            <a:pPr algn="l">
              <a:lnSpc>
                <a:spcPct val="106000"/>
              </a:lnSpc>
              <a:spcBef>
                <a:spcPts val="200"/>
              </a:spcBef>
            </a:pPr>
            <a:r>
              <a:rPr sz="850" b="0">
                <a:solidFill>
                  <a:srgbClr val="667085"/>
                </a:solidFill>
                <a:latin typeface="Aptos"/>
              </a:rPr>
              <a:t>sem produção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2950" y="2705100"/>
            <a:ext cx="5391150" cy="400050"/>
          </a:xfrm>
          <a:prstGeom prst="rect">
            <a:avLst/>
          </a:prstGeom>
          <a:solidFill>
            <a:srgbClr val="FD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2950" y="2705100"/>
            <a:ext cx="47625" cy="40005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300" y="2762250"/>
            <a:ext cx="5181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5A4632"/>
                </a:solidFill>
                <a:latin typeface="Aptos"/>
              </a:rPr>
              <a:t>91% do quadro (115 de 127) é veterano. O problema não é rampa de novato: está no time que já deveria entregar a meta cheia.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238500"/>
            <a:ext cx="3619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OS não executadas por cluster (gap)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95750" y="3248025"/>
            <a:ext cx="2057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>
                <a:solidFill>
                  <a:srgbClr val="D94545"/>
                </a:solidFill>
                <a:latin typeface="Aptos"/>
              </a:rPr>
              <a:t>245,5 OS em 3 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348615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C.27 Fortaleza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62150" y="3505200"/>
            <a:ext cx="3619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62150" y="3505200"/>
            <a:ext cx="36195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7850" y="34861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950" y="371475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C.26 Interior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2150" y="3733800"/>
            <a:ext cx="3619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62150" y="3733800"/>
            <a:ext cx="1864042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7850" y="37147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83,5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4000500"/>
            <a:ext cx="5391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Gap = soma do que faltou para cada técnico bater a própria meta. Exemplo: meta de 4 OS/dia × 3 dias = 12; quem entregou 8 deixou 4 OS de gap.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343400"/>
            <a:ext cx="53911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As outras 111 visitas do painel ao lado ainda estão sem motivo registrado — reconciliação com o BI até 08/07.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4150" y="1428750"/>
            <a:ext cx="5124450" cy="35433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43700" y="1581150"/>
            <a:ext cx="304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500" b="1">
                <a:solidFill>
                  <a:srgbClr val="081551"/>
                </a:solidFill>
                <a:latin typeface="Aptos"/>
              </a:rPr>
              <a:t>328 visitas improdutivas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0150" y="1600200"/>
            <a:ext cx="264795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>
                <a:solidFill>
                  <a:srgbClr val="D94545"/>
                </a:solidFill>
                <a:latin typeface="Aptos"/>
              </a:rPr>
              <a:t>217 têm motivo e submotivo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3700" y="1809750"/>
            <a:ext cx="47053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Visita improdutiva: o técnico foi ao endereço e voltou sem executar o serviço. Motivos registrados nos 4 maiores grupos: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3700" y="222885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OS aberta sem necessidade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29650" y="224790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629650" y="2247900"/>
            <a:ext cx="2286000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91850" y="22288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59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3700" y="255270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Cliente ausente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29650" y="257175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29650" y="2571750"/>
            <a:ext cx="2013966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91850" y="25527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52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3700" y="287655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Cliente pediu reagendamento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29650" y="289560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29650" y="2895600"/>
            <a:ext cx="1394460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91850" y="287655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36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43700" y="3200400"/>
            <a:ext cx="1809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Falha massiva na rede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29650" y="3219450"/>
            <a:ext cx="22860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629650" y="3219450"/>
            <a:ext cx="891540" cy="114300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91850" y="3200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43700" y="3619500"/>
            <a:ext cx="4705350" cy="87630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43700" y="3619500"/>
            <a:ext cx="47625" cy="8763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96100" y="3733800"/>
            <a:ext cx="8572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900" b="1">
                <a:solidFill>
                  <a:srgbClr val="13853A"/>
                </a:solidFill>
                <a:latin typeface="Aptos"/>
              </a:rPr>
              <a:t>78%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29550" y="3695700"/>
            <a:ext cx="3505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4A5B52"/>
                </a:solidFill>
                <a:latin typeface="Aptos"/>
              </a:rPr>
              <a:t>das improdutivas classificadas nascem antes do despacho: OS mal aberta, cliente não confirmado ou falha de rede já conhecida. Cobrar só o técnico não resolve.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96100" y="4133850"/>
            <a:ext cx="44386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4A5B52"/>
                </a:solidFill>
                <a:latin typeface="Aptos"/>
              </a:rPr>
              <a:t>As outras 111 (34%) não têm motivo no BI — não é mais recorte de tela, é lacuna real do sistema, ainda sem explicação.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3340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340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6675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5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Controle diário em 3 horários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4775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9h: quem está em campo e com carga. 12h: quem ainda não concluiu a primeira OS. 16h30: quem vai fechar o dia sem produção. Cada caso com motivo e providência no mesmo dia.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2435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32435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5770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3870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Plano individual por técnico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83870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Prioridade para os 15 casos que definem metade da recuperação: 7 parados, 2 fora da agenda B2C e os maiores desvios. Detalhe nominal na página seguinte.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15300" y="5143500"/>
            <a:ext cx="3638550" cy="1123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15300" y="5143500"/>
            <a:ext cx="3638550" cy="28575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48650" y="5257800"/>
            <a:ext cx="381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000" b="1">
                <a:solidFill>
                  <a:srgbClr val="A2B2C6"/>
                </a:solidFill>
                <a:latin typeface="Aptos"/>
              </a:rPr>
              <a:t>03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29650" y="5257800"/>
            <a:ext cx="30099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Qualidade da demanda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29650" y="5467350"/>
            <a:ext cx="3009900" cy="742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Travar abertura de OS sem validação técnica, confirmar o cliente antes do despacho e suspender despachos em áreas com falha massiva ativa.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Fonte: Analítico Nominal por técnico, 01 a 03/07/2026 · 127 técnicos elegíveis · valores em OS 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3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GESTÃO NOMINAL · 01 A 03/07/2026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A recuperação tem nome: 3 áreas e 15 técnicos concentram metade da perda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09700"/>
            <a:ext cx="4305300" cy="381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62100"/>
            <a:ext cx="2857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>
                <a:solidFill>
                  <a:srgbClr val="081551"/>
                </a:solidFill>
                <a:latin typeface="Aptos"/>
              </a:rPr>
              <a:t>Perda por área de gestão (GA)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0" y="1581150"/>
            <a:ext cx="1600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em OS não executadas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9050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Pedro Henrique · C.27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7450" y="19240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57450" y="1924050"/>
            <a:ext cx="17145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150" y="19050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2098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Romildo Albuquerque · C.26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7450" y="22288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57450" y="2228850"/>
            <a:ext cx="1006411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8150" y="22098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37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146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Agenor Vieira · C.27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57450" y="25336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57450" y="2533650"/>
            <a:ext cx="570928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8150" y="25146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8194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Thiago Rabelo · C.27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57450" y="28384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57450" y="2838450"/>
            <a:ext cx="543496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48150" y="28194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3124200"/>
            <a:ext cx="1638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José Orlando · C.27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7450" y="31432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57450" y="3143250"/>
            <a:ext cx="517779" cy="114300"/>
          </a:xfrm>
          <a:prstGeom prst="rect">
            <a:avLst/>
          </a:prstGeom>
          <a:solidFill>
            <a:srgbClr val="78A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48150" y="3124200"/>
            <a:ext cx="4191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950" y="3543300"/>
            <a:ext cx="3886200" cy="1447800"/>
          </a:xfrm>
          <a:prstGeom prst="rect">
            <a:avLst/>
          </a:prstGeom>
          <a:solidFill>
            <a:srgbClr val="F1F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2950" y="3543300"/>
            <a:ext cx="47625" cy="14478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5350" y="3676650"/>
            <a:ext cx="76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"/>
              </a:rPr>
              <a:t>26%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5350" y="3981450"/>
            <a:ext cx="35814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4A5B52"/>
                </a:solidFill>
                <a:latin typeface="Aptos"/>
              </a:rPr>
              <a:t>de toda a perda do Ceará está numa única área: a de Pedro Henrique, com 21 dos 22 técnicos abaixo da meta. A mesma área lidera as visitas improdutivas (82 de 328). É por ela que a recuperação começa.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029200" y="1409700"/>
          <a:ext cx="6629400" cy="3771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09800"/>
                <a:gridCol w="2286000"/>
                <a:gridCol w="2133600"/>
              </a:tblGrid>
              <a:tr h="6286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TÉCNICOS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O QUE OS DADOS MOSTRAM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AÇÃO IMEDIATA</a:t>
                      </a:r>
                    </a:p>
                  </a:txBody>
                  <a:tcPr anchor="ctr" marL="95250" marR="76200" marT="38100" marB="38100">
                    <a:solidFill>
                      <a:srgbClr val="081551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7 técnicos parados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Anderson Saraiva, Genilson Nogueira e Felipe Morais (C.26); Emanoel Dias, Egtonio Nunes, Felipe Damasceno e Otávio Dantas (C.27)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Nenhum dia trabalhado entre 01 e 03/07. Não é baixa produtividade: é capacidade fora de campo.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Confirmar com RH e escala, em 24h, se é férias, atestado ou vaga a repor — e devolver a capacidade ao campo.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2 técnicos fora da agenda B2C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John Wayne Queiroz (C.27) e Jean Carlos Freitas (C.26)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Trabalharam os 3 dias, mas quase só em OEM, B2B e apoio — atividades que não contam para a meta. Aparecem como os piores do ranking sem serem.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Decidir a alocação: devolver à agenda B2C ou formalizar a função atual e tirá-los desta medição.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6 técnicos com maior desvio em rota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José Danrley (0,7 OS/dia), Jackson Lima (1,3), Daniel Anderson (2,0) — C.26; Matheus Silva (0,5), Antonio Valgleison (2,0), Douglas Maciel (1,7) — C.27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Menor entrega entre quem ficou em rota o período todo. Junto com os 2 casos de agenda, os 8 maiores desvios somam 27% da perda.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Conversa individual gestor-técnico esta semana, com plano simples de recuperação e acompanhamento diário.</a:t>
                      </a:r>
                    </a:p>
                  </a:txBody>
                  <a:tcPr anchor="ctr" marL="95250" marR="76200" marT="38100" marB="3810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4 técnicos travados pela demanda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André Jefferson, Jadson Araújo, Adriano Sousa e Luiz Nauá (C.27)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6 a 7 visitas improdutivas cada um em 3 dias — o dia foi consumido por cliente ausente e OS aberta sem necessidade.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Tratar pela frente de qualidade da demanda (confirmação de cliente e trava de abertura); não é caso de cobrança individual.</a:t>
                      </a:r>
                    </a:p>
                  </a:txBody>
                  <a:tcPr anchor="ctr" marL="95250" marR="76200" marT="38100" marB="38100">
                    <a:solidFill>
                      <a:srgbClr val="F8FAFD"/>
                    </a:solidFill>
                  </a:tcPr>
                </a:tc>
              </a:tr>
              <a:tr h="62865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3853A"/>
                          </a:solidFill>
                          <a:latin typeface="Aptos"/>
                        </a:rPr>
                        <a:t>Referências a replicar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>
                          <a:solidFill>
                            <a:srgbClr val="667085"/>
                          </a:solidFill>
                          <a:latin typeface="Aptos"/>
                        </a:rPr>
                        <a:t>Carlos André (7,3 OS/dia), Miguel Gomes (7,0) — C.26; Francisco Wagner (6,0) — C.27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Quase o dobro da meta, nas mesmas condições de campo. A meta de 4 OS/dia é atingível.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50" b="0">
                          <a:solidFill>
                            <a:srgbClr val="182238"/>
                          </a:solidFill>
                          <a:latin typeface="Aptos"/>
                        </a:rPr>
                        <a:t>Mapear rota, carga e método desses técnicos e usar como padrão nos planos individuais.</a:t>
                      </a:r>
                    </a:p>
                  </a:txBody>
                  <a:tcPr anchor="ctr" marL="95250" marR="76200" marT="38100" marB="38100">
                    <a:solidFill>
                      <a:srgbClr val="F1F9F1"/>
                    </a:solidFill>
                  </a:tcPr>
                </a:tc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5334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3400" y="5600700"/>
            <a:ext cx="2152650" cy="28575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7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D94545"/>
                </a:solidFill>
                <a:latin typeface="Aptos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01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parados — resolver em 24h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035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800350" y="5600700"/>
            <a:ext cx="2152650" cy="28575"/>
          </a:xfrm>
          <a:prstGeom prst="rect">
            <a:avLst/>
          </a:prstGeom>
          <a:solidFill>
            <a:srgbClr val="D9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3370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D94545"/>
                </a:solidFill>
                <a:latin typeface="Aptos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6710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desvio crítico, 27% da perda — plano individual já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673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67300" y="5600700"/>
            <a:ext cx="2152650" cy="28575"/>
          </a:xfrm>
          <a:prstGeom prst="rect">
            <a:avLst/>
          </a:prstGeom>
          <a:solidFill>
            <a:srgbClr val="F08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006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F08A24"/>
                </a:solidFill>
                <a:latin typeface="Aptos"/>
              </a:rPr>
              <a:t>33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340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desvio médio (2,5 a 5 OS) — conversa até 10/07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3425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34250" y="5600700"/>
            <a:ext cx="2152650" cy="28575"/>
          </a:xfrm>
          <a:prstGeom prst="rect">
            <a:avLst/>
          </a:prstGeom>
          <a:solidFill>
            <a:srgbClr val="E4B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6760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E4BD30"/>
                </a:solidFill>
                <a:latin typeface="Aptos"/>
              </a:rPr>
              <a:t>38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0100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quase na meta (até 2 OS) — ajuste de carga e rota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01200" y="5600700"/>
            <a:ext cx="2152650" cy="742950"/>
          </a:xfrm>
          <a:prstGeom prst="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601200" y="5600700"/>
            <a:ext cx="2152650" cy="285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34550" y="5734050"/>
            <a:ext cx="4953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"/>
              </a:rPr>
              <a:t>41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67950" y="5695950"/>
            <a:ext cx="14097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na meta — reconhecer e usar de referência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5320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Causas não comprovadas pelos dados permanecem marcadas como “em validação”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5320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4 /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42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FCA · FATO, CAUSA E AÇÃO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71500"/>
            <a:ext cx="9525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Quatro frentes colocam a recuperação em execução nesta semana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00050" y="1409700"/>
          <a:ext cx="11391900" cy="4305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/>
                <a:gridCol w="2457450"/>
                <a:gridCol w="2552700"/>
                <a:gridCol w="1104900"/>
                <a:gridCol w="2057400"/>
                <a:gridCol w="1314450"/>
              </a:tblGrid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FATO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CAUSA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AÇÃO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PRAZO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RESPONSÁVEL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anchor="ctr" marL="95250" marR="76200" marT="57150" marB="57150">
                    <a:solidFill>
                      <a:srgbClr val="081551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Fortaleza abaixo nos 3 Ps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Presença 94,5% · Produção 3,2 OS/dia · Prazo 83,2%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Em Produção, 61 dos 81 técnicos estão abaixo da meta, com metade da perda em 3 áreas (Pedro Henrique, Agenor e Thiago Rabelo). Para Presença e Prazo a causa ainda está em levantamento.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Controle diário em 3 horários — 9h presença e carga, 12h primeira OS concluída, 16h30 risco de dia sem produção — com lista nominal e providência no mesmo dia.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07/07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1ª revisão 13/07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José Nilton (GO), Jefferson Oliveira e GAs de Fortaleza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14F88"/>
                          </a:solidFill>
                          <a:latin typeface="Aptos"/>
                        </a:rPr>
                        <a:t>A iniciar</a:t>
                      </a:r>
                    </a:p>
                  </a:txBody>
                  <a:tcPr anchor="ctr" marL="95250" marR="76200" marT="57150" marB="57150">
                    <a:solidFill>
                      <a:srgbClr val="DCECF9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245,5 OS não executadas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86 dos 127 técnicos abaixo da meta em 01–03/07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Três perfis distintos: 7 técnicos sem nenhum dia trabalhado, 2 alocados fora da agenda B2C e 8 casos críticos que somam 27% da perda; os demais estão a menos de 5 OS da meta.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Confirmar com RH a situação dos 7 parados; decidir a alocação dos 2 desviados; plano individual para os 8 críticos; ajuste de carga e rota para os demais.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08/07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planos até 10/07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GAs dos dois clusters, coordenados pelos GOs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8A1717"/>
                          </a:solidFill>
                          <a:latin typeface="Aptos"/>
                        </a:rPr>
                        <a:t>Imediato</a:t>
                      </a:r>
                    </a:p>
                  </a:txBody>
                  <a:tcPr anchor="ctr" marL="95250" marR="76200" marT="57150" marB="57150">
                    <a:solidFill>
                      <a:srgbClr val="FDE2DF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328 visitas improdutivas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217 têm motivo e submotivo registrado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Entre as 217 classificadas, 78% nascem antes do despacho: OS aberta sem necessidade, cliente não confirmado, reagendamento não retirado da fila e falha massiva. As outras 111 (34%) não têm motivo no BI — lacuna real, não recorte de tela.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Reconciliar com o BI por que 111 baixas não têm motivo registrado; travar abertura de OS sem validação técnica; confirmar o cliente antes do despacho; suspender despacho em área com falha massiva ativa.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08/07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travas até 10/07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Biondillo (Performance), Davi dos Reis Luz (BI) e GOs do Ceará</a:t>
                      </a:r>
                    </a:p>
                  </a:txBody>
                  <a:tcPr anchor="ctr" marL="95250" marR="76200" marT="57150" marB="5715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765400"/>
                          </a:solidFill>
                          <a:latin typeface="Aptos"/>
                        </a:rPr>
                        <a:t>Em validação</a:t>
                      </a:r>
                    </a:p>
                  </a:txBody>
                  <a:tcPr anchor="ctr" marL="95250" marR="76200" marT="57150" marB="57150">
                    <a:solidFill>
                      <a:srgbClr val="FFF0C7"/>
                    </a:solidFill>
                  </a:tcPr>
                </a:tc>
              </a:tr>
              <a:tr h="8610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Fila do Interior acima do limite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1,125 dia de trabalho acumulado em 06/07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Ainda sem dados de entrada de ordens por hora — não é possível afirmar se é excesso de demanda ou perda de capacidade. Causa em validação.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Toda manhã, atacar primeiro as ordens abertas há mais de 20 horas, antes de estourarem o prazo de 24h, e medir a fila no fim do dia até voltar a 1 dia ou menos.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81551"/>
                          </a:solidFill>
                          <a:latin typeface="Aptos"/>
                        </a:rPr>
                        <a:t>07/07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00" b="0">
                          <a:solidFill>
                            <a:srgbClr val="667085"/>
                          </a:solidFill>
                          <a:latin typeface="Aptos"/>
                        </a:rPr>
                        <a:t>fila ≤ 1 dia até 10/07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José Geraldo (GO), Francisco Cleiton e GAs do Interior</a:t>
                      </a:r>
                    </a:p>
                  </a:txBody>
                  <a:tcPr anchor="ctr" marL="95250" marR="76200" marT="57150" marB="5715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8A4C00"/>
                          </a:solidFill>
                          <a:latin typeface="Aptos"/>
                        </a:rPr>
                        <a:t>Atenção</a:t>
                      </a:r>
                    </a:p>
                  </a:txBody>
                  <a:tcPr anchor="ctr" marL="95250" marR="76200" marT="57150" marB="57150">
                    <a:solidFill>
                      <a:srgbClr val="FFE5CB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00050" y="5886450"/>
            <a:ext cx="11391900" cy="457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0050" y="5886450"/>
            <a:ext cx="66675" cy="457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60388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FFFFFF"/>
                </a:solidFill>
                <a:latin typeface="Aptos"/>
              </a:rPr>
              <a:t>DECISÕES SOLICITADAS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1750" y="6038850"/>
            <a:ext cx="895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D5DEF3"/>
                </a:solidFill>
                <a:latin typeface="Aptos"/>
              </a:rPr>
              <a:t>Confirmar responsáveis e prazos   ·   Ratificar 85% como meta do Prazo 24h   ·   Manter Produtividade OK como métrica oficial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