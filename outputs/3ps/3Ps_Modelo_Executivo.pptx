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VISÃO EXECUTIVA</a:t>
            </a:r>
          </a:p>
          <a:p/>
          <a:p>
            <a:r>
              <a:t>1. Cabeçalho: troque REGIÃO, CÓDIGO e DATA na tarja azul; escreva a manchete (título grande) e o resumo (texto cinza) logo abaixo.</a:t>
            </a:r>
          </a:p>
          <a:p>
            <a:r>
              <a:t>2. Tabela de indicadores: renomeie os 4 indicadores no cabeçalho azul-marinho e preencha os valores dos clusters. A COR DO NÚMERO é o semáforo:</a:t>
            </a:r>
          </a:p>
          <a:p>
            <a:r>
              <a:t>   • VERDE = na meta   • ÂMBAR/DOURADO = atenção, no limite   • VERMELHO = abaixo da meta.</a:t>
            </a:r>
          </a:p>
          <a:p>
            <a:r>
              <a:t>   Para trocar a cor: selecione o número &gt; Página Inicial &gt; Cor da Fonte. A 1ª linha está toda verde e a 2ª mostra os três estados, de propósito, como referência.</a:t>
            </a:r>
          </a:p>
          <a:p>
            <a:r>
              <a:t>   Para adicionar/remover um cluster: clique na tabela &gt; guia Layout &gt; Inserir/Excluir linha.</a:t>
            </a:r>
          </a:p>
          <a:p>
            <a:r>
              <a:t>3. 'Como ler': caixa opcional. Apague se o indicador for autoexplicativo.</a:t>
            </a:r>
          </a:p>
          <a:p>
            <a:r>
              <a:t>4. Bloco azul-marinho = a decisão. Os 3 cartões à direita = evidências que sustentam a decisão (pode usar 2 ou 3; para 2, apague o último e centralize os que sobrarem).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DIAGNÓSTICO DE PRODUÇÃO</a:t>
            </a:r>
          </a:p>
          <a:p/>
          <a:p>
            <a:r>
              <a:t>PAINEL ESQUERDO (distribuição da produtividade):</a:t>
            </a:r>
          </a:p>
          <a:p>
            <a:r>
              <a:t>• A barra colorida é empilhada: os 4 segmentos devem somar a largura total. Para mudar a proporção, clique num segmento e ajuste a LARGURA em Formatar Forma &gt; Tamanho (ou arraste a alça lateral). Reposicione o segmento seguinte para encostar no anterior.</a:t>
            </a:r>
          </a:p>
          <a:p>
            <a:r>
              <a:t>• Atualize os percentuais e rótulos da legenda logo abaixo.</a:t>
            </a:r>
          </a:p>
          <a:p>
            <a:r>
              <a:t>• Barras de gap por cluster: a maior barra = 100%; as outras, proporcionais. Ajuste largura em Formatar Forma.</a:t>
            </a:r>
          </a:p>
          <a:p/>
          <a:p>
            <a:r>
              <a:t>PAINEL DIREITO (motivos de improdutividade):</a:t>
            </a:r>
          </a:p>
          <a:p>
            <a:r>
              <a:t>• Liste os 4 maiores motivos. A barra do 1º é a mais longa (100%); as demais, proporcionais.</a:t>
            </a:r>
          </a:p>
          <a:p>
            <a:r>
              <a:t>• A caixa verde traz o insight-chave sobre os motivos.</a:t>
            </a:r>
          </a:p>
          <a:p/>
          <a:p>
            <a:r>
              <a:t>RODAPÉ: as 3 frentes de ação (01/02/03). Mantenha títulos curtos e a descrição objetiva.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GESTÃO NOMINAL</a:t>
            </a:r>
          </a:p>
          <a:p/>
          <a:p>
            <a:r>
              <a:t>PAINEL ESQUERDO (gap por área de gestão / GA):</a:t>
            </a:r>
          </a:p>
          <a:p>
            <a:r>
              <a:t>• Liste os gestores com maior gap. A maior barra = 100%; as demais, proporcionais (ajuste a largura em Formatar Forma). As duas últimas usam azul mais claro só para dar hierarquia visual.</a:t>
            </a:r>
          </a:p>
          <a:p>
            <a:r>
              <a:t>• A caixa verde é um destaque de apoio (percentual concentrado, técnico parado etc.).</a:t>
            </a:r>
          </a:p>
          <a:p/>
          <a:p>
            <a:r>
              <a:t>TABELA À DIREITA (casos que exigem decisão individual):</a:t>
            </a:r>
          </a:p>
          <a:p>
            <a:r>
              <a:t>• Cada linha é um grupo de casos: coluna 1 = quem, coluna 2 = o que os dados mostram, coluna 3 = ação imediata.</a:t>
            </a:r>
          </a:p>
          <a:p>
            <a:r>
              <a:t>• A ÚLTIMA linha (verde) é para 'Referências a replicar' — técnicos acima da meta. Se não quiser usar, exclua a linha (clique na tabela &gt; Layout &gt; Excluir linha).</a:t>
            </a:r>
          </a:p>
          <a:p>
            <a:r>
              <a:t>• Para mais grupos, adicione linhas pela guia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FCA (FATO, CAUSA, AÇÃO)</a:t>
            </a:r>
          </a:p>
          <a:p/>
          <a:p>
            <a:r>
              <a:t>• Uma linha por frente: Fato (o problema + dado) / Causa / Ação / Prazo / Responsável / Status.</a:t>
            </a:r>
          </a:p>
          <a:p>
            <a:r>
              <a:t>• A coluna STATUS tem 4 estilos prontos, um por linha, como amostra — use o que couber:</a:t>
            </a:r>
          </a:p>
          <a:p>
            <a:r>
              <a:t>   A INICIAR (azul) · IMEDIATO (vermelho) · EM VALIDAÇÃO (amarelo) · ATENÇÃO (laranja).</a:t>
            </a:r>
          </a:p>
          <a:p>
            <a:r>
              <a:t>   Para mudar o estilo de uma célula: selecione-a, troque o preenchimento (Formatar Forma &gt; Preenchimento) e a cor da fonte, ou copie a célula da linha que já tem o estilo desejado.</a:t>
            </a:r>
          </a:p>
          <a:p>
            <a:r>
              <a:t>• Regra editorial: causa não comprovada pelos dados fica como 'Em validação'.</a:t>
            </a:r>
          </a:p>
          <a:p>
            <a:r>
              <a:t>• Para menos frentes, exclua linhas (Layout &gt; Excluir linha) e estique as demais.</a:t>
            </a:r>
          </a:p>
          <a:p>
            <a:r>
              <a:t>• Barra azul-marinho no rodapé = decisões que você pede à diretoria (separadas por · 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Fonte: [descreva a base e o período] · OS = ordem de serviço concluída com baixa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5320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1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429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OPERAÇÕES · [REGIÃO] ([CÓDIGO]) · [DD/MM/AAAA]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71500"/>
            <a:ext cx="9525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81551"/>
                </a:solidFill>
                <a:latin typeface="Aptos Display"/>
              </a:rPr>
              <a:t>[Manchete da regional: a mensagem principal do fechamento em uma frase]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447800"/>
            <a:ext cx="10668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45516A"/>
                </a:solidFill>
                <a:latin typeface="Aptos"/>
              </a:rPr>
              <a:t>[Resumo em 2 a 3 linhas: como cada cluster fechou nos indicadores, destacando o que está na meta e o que ficou abaixo. Este é o texto de contexto que a diretoria lê primeiro.]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3400" y="1924050"/>
          <a:ext cx="11125200" cy="1809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0250"/>
                <a:gridCol w="2152650"/>
                <a:gridCol w="2381250"/>
                <a:gridCol w="2247900"/>
                <a:gridCol w="2343150"/>
              </a:tblGrid>
              <a:tr h="60325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Cluster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Indicador 1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BFC9E3"/>
                          </a:solidFill>
                          <a:latin typeface="Aptos"/>
                        </a:rPr>
                        <a:t>meta / referência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Indicador 2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BFC9E3"/>
                          </a:solidFill>
                          <a:latin typeface="Aptos"/>
                        </a:rPr>
                        <a:t>meta / referência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Indicador 3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BFC9E3"/>
                          </a:solidFill>
                          <a:latin typeface="Aptos"/>
                        </a:rPr>
                        <a:t>meta / referência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Indicador 4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BFC9E3"/>
                          </a:solidFill>
                          <a:latin typeface="Aptos"/>
                        </a:rPr>
                        <a:t>meta / referência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</a:tr>
              <a:tr h="60325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081551"/>
                          </a:solidFill>
                          <a:latin typeface="Aptos"/>
                        </a:rPr>
                        <a:t>C.00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Cluster A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3853A"/>
                          </a:solidFill>
                          <a:latin typeface="Aptos"/>
                        </a:rPr>
                        <a:t>00,0%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acima da meta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3853A"/>
                          </a:solidFill>
                          <a:latin typeface="Aptos"/>
                        </a:rPr>
                        <a:t>00,0%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acima do esperado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3853A"/>
                          </a:solidFill>
                          <a:latin typeface="Aptos"/>
                        </a:rPr>
                        <a:t>00,0%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acima da meta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3853A"/>
                          </a:solidFill>
                          <a:latin typeface="Aptos"/>
                        </a:rPr>
                        <a:t>0,00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dentro do limite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081551"/>
                          </a:solidFill>
                          <a:latin typeface="Aptos"/>
                        </a:rPr>
                        <a:t>C.00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Cluster B</a:t>
                      </a:r>
                    </a:p>
                  </a:txBody>
                  <a:tcPr anchor="ctr" marL="95250" marR="76200" marT="57150" marB="57150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3853A"/>
                          </a:solidFill>
                          <a:latin typeface="Aptos"/>
                        </a:rPr>
                        <a:t>00,0%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na meta</a:t>
                      </a:r>
                    </a:p>
                  </a:txBody>
                  <a:tcPr anchor="ctr" marL="95250" marR="76200" marT="57150" marB="57150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9A6200"/>
                          </a:solidFill>
                          <a:latin typeface="Aptos"/>
                        </a:rPr>
                        <a:t>00,0%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no limite da meta</a:t>
                      </a:r>
                    </a:p>
                  </a:txBody>
                  <a:tcPr anchor="ctr" marL="95250" marR="76200" marT="57150" marB="57150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D94545"/>
                          </a:solidFill>
                          <a:latin typeface="Aptos"/>
                        </a:rPr>
                        <a:t>00,0%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abaixo da meta</a:t>
                      </a:r>
                    </a:p>
                  </a:txBody>
                  <a:tcPr anchor="ctr" marL="95250" marR="76200" marT="57150" marB="57150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D94545"/>
                          </a:solidFill>
                          <a:latin typeface="Aptos"/>
                        </a:rPr>
                        <a:t>0,00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acima do limite</a:t>
                      </a:r>
                    </a:p>
                  </a:txBody>
                  <a:tcPr anchor="ctr" marL="95250" marR="76200" marT="57150" marB="57150"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33400" y="3829050"/>
            <a:ext cx="10763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Como ler: [opcional] explique aqui, em uma frase, como interpretar o indicador menos óbvio da tabela. Se não precisar, apague esta caixa.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" y="4476750"/>
            <a:ext cx="5191125" cy="1600200"/>
          </a:xfrm>
          <a:prstGeom prst="roundRect">
            <a:avLst>
              <a:gd name="adj" fmla="val 7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4610100"/>
            <a:ext cx="3048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9FC9EE"/>
                </a:solidFill>
                <a:latin typeface="Aptos"/>
              </a:rPr>
              <a:t>DECISÃO OPERACIONAL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819650"/>
            <a:ext cx="474345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FFFFFF"/>
                </a:solidFill>
                <a:latin typeface="Aptos"/>
              </a:rPr>
              <a:t>[A decisão central da semana em 2 a 3 linhas: onde concentrar o esforço e por quê. É a frase que você quer que a diretoria leve como conclusão do slide.]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53125" y="4476750"/>
            <a:ext cx="180975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0" y="4629150"/>
            <a:ext cx="15430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1">
                <a:solidFill>
                  <a:srgbClr val="1476C9"/>
                </a:solidFill>
                <a:latin typeface="Aptos"/>
              </a:rPr>
              <a:t>[nº]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4972050"/>
            <a:ext cx="154305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[o que este número representa — evidência que sustenta a decisão]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77175" y="4476750"/>
            <a:ext cx="180975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0050" y="4629150"/>
            <a:ext cx="15430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1">
                <a:solidFill>
                  <a:srgbClr val="1476C9"/>
                </a:solidFill>
                <a:latin typeface="Aptos"/>
              </a:rPr>
              <a:t>[nº]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0050" y="4972050"/>
            <a:ext cx="154305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[segunda evidência de apoio]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01225" y="4476750"/>
            <a:ext cx="180975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4100" y="4629150"/>
            <a:ext cx="15430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1">
                <a:solidFill>
                  <a:srgbClr val="1476C9"/>
                </a:solidFill>
                <a:latin typeface="Aptos"/>
              </a:rPr>
              <a:t>[nº]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4100" y="4972050"/>
            <a:ext cx="154305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[terceira evidência — apague este cartão se usar só dois]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Fonte: [Analítico Nominal e painel de improdutividade do período]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5320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2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429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DIAGNÓSTICO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71500"/>
            <a:ext cx="9525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81551"/>
                </a:solidFill>
                <a:latin typeface="Aptos Display"/>
              </a:rPr>
              <a:t>[Diagnóstico em uma frase: onde está concentrado o problema de produção]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428750"/>
            <a:ext cx="5810250" cy="35433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1581150"/>
            <a:ext cx="31432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081551"/>
                </a:solidFill>
                <a:latin typeface="Aptos"/>
              </a:rPr>
              <a:t>[00] técnicos elegíveis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1600200"/>
            <a:ext cx="25336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300" b="1">
                <a:solidFill>
                  <a:srgbClr val="D94545"/>
                </a:solidFill>
                <a:latin typeface="Aptos"/>
              </a:rPr>
              <a:t>[00 abaixo da meta (00%)]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809750"/>
            <a:ext cx="53911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[Critério da distribuição: por quartil de produtividade ou por tempo de casa. Explique a régua em uma linha.]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950" y="2038350"/>
            <a:ext cx="2156460" cy="19050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99410" y="2038350"/>
            <a:ext cx="1347787" cy="190500"/>
          </a:xfrm>
          <a:prstGeom prst="rect">
            <a:avLst/>
          </a:prstGeom>
          <a:solidFill>
            <a:srgbClr val="E4B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7197" y="2038350"/>
            <a:ext cx="1347787" cy="1905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94985" y="2038350"/>
            <a:ext cx="539115" cy="190500"/>
          </a:xfrm>
          <a:prstGeom prst="rect">
            <a:avLst/>
          </a:prstGeom>
          <a:solidFill>
            <a:srgbClr val="D9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2950" y="2324100"/>
            <a:ext cx="66675" cy="26670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50" y="2305050"/>
            <a:ext cx="12573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82238"/>
                </a:solidFill>
                <a:latin typeface="Aptos"/>
              </a:rPr>
              <a:t>40%</a:t>
            </a:r>
          </a:p>
          <a:p>
            <a:pPr algn="l">
              <a:lnSpc>
                <a:spcPct val="106000"/>
              </a:lnSpc>
              <a:spcBef>
                <a:spcPts val="200"/>
              </a:spcBef>
            </a:pPr>
            <a:r>
              <a:rPr sz="850" b="0">
                <a:solidFill>
                  <a:srgbClr val="667085"/>
                </a:solidFill>
                <a:latin typeface="Aptos"/>
              </a:rPr>
              <a:t>[faixa mais produtiva]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14550" y="2324100"/>
            <a:ext cx="66675" cy="266700"/>
          </a:xfrm>
          <a:prstGeom prst="rect">
            <a:avLst/>
          </a:prstGeom>
          <a:solidFill>
            <a:srgbClr val="E4B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28850" y="2305050"/>
            <a:ext cx="12573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82238"/>
                </a:solidFill>
                <a:latin typeface="Aptos"/>
              </a:rPr>
              <a:t>25%</a:t>
            </a:r>
          </a:p>
          <a:p>
            <a:pPr algn="l">
              <a:lnSpc>
                <a:spcPct val="106000"/>
              </a:lnSpc>
              <a:spcBef>
                <a:spcPts val="200"/>
              </a:spcBef>
            </a:pPr>
            <a:r>
              <a:rPr sz="850" b="0">
                <a:solidFill>
                  <a:srgbClr val="667085"/>
                </a:solidFill>
                <a:latin typeface="Aptos"/>
              </a:rPr>
              <a:t>[faixa intermediária]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86150" y="2324100"/>
            <a:ext cx="66675" cy="2667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0450" y="2305050"/>
            <a:ext cx="12573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82238"/>
                </a:solidFill>
                <a:latin typeface="Aptos"/>
              </a:rPr>
              <a:t>25%</a:t>
            </a:r>
          </a:p>
          <a:p>
            <a:pPr algn="l">
              <a:lnSpc>
                <a:spcPct val="106000"/>
              </a:lnSpc>
              <a:spcBef>
                <a:spcPts val="200"/>
              </a:spcBef>
            </a:pPr>
            <a:r>
              <a:rPr sz="850" b="0">
                <a:solidFill>
                  <a:srgbClr val="667085"/>
                </a:solidFill>
                <a:latin typeface="Aptos"/>
              </a:rPr>
              <a:t>[abaixo da intermediária]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57750" y="2324100"/>
            <a:ext cx="66675" cy="266700"/>
          </a:xfrm>
          <a:prstGeom prst="rect">
            <a:avLst/>
          </a:prstGeom>
          <a:solidFill>
            <a:srgbClr val="D9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72050" y="2305050"/>
            <a:ext cx="12573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82238"/>
                </a:solidFill>
                <a:latin typeface="Aptos"/>
              </a:rPr>
              <a:t>10%</a:t>
            </a:r>
          </a:p>
          <a:p>
            <a:pPr algn="l">
              <a:lnSpc>
                <a:spcPct val="106000"/>
              </a:lnSpc>
              <a:spcBef>
                <a:spcPts val="200"/>
              </a:spcBef>
            </a:pPr>
            <a:r>
              <a:rPr sz="850" b="0">
                <a:solidFill>
                  <a:srgbClr val="667085"/>
                </a:solidFill>
                <a:latin typeface="Aptos"/>
              </a:rPr>
              <a:t>[mais baixa / sem produção]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2950" y="2705100"/>
            <a:ext cx="5391150" cy="400050"/>
          </a:xfrm>
          <a:prstGeom prst="rect">
            <a:avLst/>
          </a:prstGeom>
          <a:solidFill>
            <a:srgbClr val="FD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2950" y="2705100"/>
            <a:ext cx="47625" cy="40005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300" y="2762250"/>
            <a:ext cx="5181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5A4632"/>
                </a:solidFill>
                <a:latin typeface="Aptos"/>
              </a:rPr>
              <a:t>[Leitura do quadro: a conclusão que a distribuição acima permite. Ex.: o risco não é o time inteiro, está concentrado em poucos nomes.]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3238500"/>
            <a:ext cx="3619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Gap estimado por cluster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5750" y="3248025"/>
            <a:ext cx="2057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1">
                <a:solidFill>
                  <a:srgbClr val="D94545"/>
                </a:solidFill>
                <a:latin typeface="Aptos"/>
              </a:rPr>
              <a:t>[00 OS no período]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3486150"/>
            <a:ext cx="1238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C.00 Cluster 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57400" y="3505200"/>
            <a:ext cx="3619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057400" y="3505200"/>
            <a:ext cx="3619500" cy="11430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53100" y="348615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950" y="3714750"/>
            <a:ext cx="1238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C.00 Cluster 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57400" y="3733800"/>
            <a:ext cx="3619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57400" y="3733800"/>
            <a:ext cx="1990725" cy="114300"/>
          </a:xfrm>
          <a:prstGeom prst="rect">
            <a:avLst/>
          </a:prstGeom>
          <a:solidFill>
            <a:srgbClr val="78A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53100" y="371475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4000500"/>
            <a:ext cx="53911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[Como o gap é calculado: defina a fórmula em uma linha para dar rastreabilidade ao número.]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34150" y="1428750"/>
            <a:ext cx="5124450" cy="35433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43700" y="1581150"/>
            <a:ext cx="304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081551"/>
                </a:solidFill>
                <a:latin typeface="Aptos"/>
              </a:rPr>
              <a:t>[000] visitas improdutivas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0150" y="1600200"/>
            <a:ext cx="26479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1">
                <a:solidFill>
                  <a:srgbClr val="D94545"/>
                </a:solidFill>
                <a:latin typeface="Aptos"/>
              </a:rPr>
              <a:t>[000 com motivo registrado]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3700" y="1809750"/>
            <a:ext cx="47053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Motivos registrados nos 4 maiores grupos ([período]):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3700" y="2228850"/>
            <a:ext cx="2000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[Motivo 1 — o mais frequente]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20150" y="2247900"/>
            <a:ext cx="2095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820150" y="2247900"/>
            <a:ext cx="2095500" cy="1143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91850" y="222885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43700" y="2552700"/>
            <a:ext cx="2000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[Motivo 2]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20150" y="2571750"/>
            <a:ext cx="2095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20150" y="2571750"/>
            <a:ext cx="1676400" cy="1143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91850" y="25527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43700" y="2876550"/>
            <a:ext cx="2000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[Motivo 3]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20150" y="2895600"/>
            <a:ext cx="2095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20150" y="2895600"/>
            <a:ext cx="1257300" cy="1143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91850" y="287655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43700" y="3200400"/>
            <a:ext cx="2000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[Motivo 4]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20150" y="3219450"/>
            <a:ext cx="2095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820150" y="3219450"/>
            <a:ext cx="942975" cy="1143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91850" y="32004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43700" y="3619500"/>
            <a:ext cx="4705350" cy="876300"/>
          </a:xfrm>
          <a:prstGeom prst="rect">
            <a:avLst/>
          </a:prstGeom>
          <a:solidFill>
            <a:srgbClr val="F1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743700" y="3619500"/>
            <a:ext cx="47625" cy="8763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96100" y="3733800"/>
            <a:ext cx="857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>
                <a:solidFill>
                  <a:srgbClr val="13853A"/>
                </a:solidFill>
                <a:latin typeface="Aptos"/>
              </a:rPr>
              <a:t>00%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29550" y="3695700"/>
            <a:ext cx="3505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4A5B52"/>
                </a:solidFill>
                <a:latin typeface="Aptos"/>
              </a:rPr>
              <a:t>[Insight sobre os motivos: ex.: parte relevante nasce antes do despacho, então cobrar só o técnico não resolve.]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96100" y="4133850"/>
            <a:ext cx="44386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4A5B52"/>
                </a:solidFill>
                <a:latin typeface="Aptos"/>
              </a:rPr>
              <a:t>[Opcional: observação adicional, como baixas sem motivo registrado a reconciliar com o BI.]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3400" y="5143500"/>
            <a:ext cx="3638550" cy="1123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3400" y="5143500"/>
            <a:ext cx="3638550" cy="28575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6750" y="5257800"/>
            <a:ext cx="381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A2B2C6"/>
                </a:solidFill>
                <a:latin typeface="Aptos"/>
              </a:rPr>
              <a:t>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7750" y="5257800"/>
            <a:ext cx="3009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[Frente de ação 1]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7750" y="5467350"/>
            <a:ext cx="30099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[Descreva a primeira frente de recuperação em 2 a 3 linhas: o que fazer, com que ritmo e até quando.]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24350" y="5143500"/>
            <a:ext cx="3638550" cy="1123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24350" y="5143500"/>
            <a:ext cx="3638550" cy="28575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57700" y="5257800"/>
            <a:ext cx="381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A2B2C6"/>
                </a:solidFill>
                <a:latin typeface="Aptos"/>
              </a:rPr>
              <a:t>02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38700" y="5257800"/>
            <a:ext cx="3009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[Frente de ação 2]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38700" y="5467350"/>
            <a:ext cx="30099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[Segunda frente — normalmente o plano individual nominal, detalhado no slide 3.]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15300" y="5143500"/>
            <a:ext cx="3638550" cy="1123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15300" y="5143500"/>
            <a:ext cx="3638550" cy="28575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48650" y="5257800"/>
            <a:ext cx="381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A2B2C6"/>
                </a:solidFill>
                <a:latin typeface="Aptos"/>
              </a:rPr>
              <a:t>03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29650" y="5257800"/>
            <a:ext cx="3009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[Frente de ação 3]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29650" y="5467350"/>
            <a:ext cx="30099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[Terceira frente — normalmente qualidade da demanda: travas de abertura e confirmação de cliente.]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Fonte: [Analítico Nominal por técnico, período] · [00] técnicos elegíveis · gap estimado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5320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3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429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GESTÃO NOMINAL · [DD A DD/MM/AAAA]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71500"/>
            <a:ext cx="9525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81551"/>
                </a:solidFill>
                <a:latin typeface="Aptos Display"/>
              </a:rPr>
              <a:t>[A recuperação tem nome: X áreas e Y técnicos concentram a maior parte do gap]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409700"/>
            <a:ext cx="4305300" cy="381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1562100"/>
            <a:ext cx="2857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081551"/>
                </a:solidFill>
                <a:latin typeface="Aptos"/>
              </a:rPr>
              <a:t>Gap por área de gestão (GA)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500" y="1581150"/>
            <a:ext cx="17907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em OS não executadas (estimado)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905000"/>
            <a:ext cx="1638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[Gestor 1] · C.00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57450" y="19240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7450" y="1924050"/>
            <a:ext cx="1714500" cy="11430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8150" y="19050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209800"/>
            <a:ext cx="1638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[Gestor 2] · C.00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57450" y="22288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57450" y="2228850"/>
            <a:ext cx="1457325" cy="11430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8150" y="22098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2514600"/>
            <a:ext cx="1638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[Gestor 3] · C.00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57450" y="25336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57450" y="2533650"/>
            <a:ext cx="1200149" cy="11430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8150" y="25146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2819400"/>
            <a:ext cx="1638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[Gestor 4] · C.00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57450" y="28384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57450" y="2838450"/>
            <a:ext cx="942975" cy="114300"/>
          </a:xfrm>
          <a:prstGeom prst="rect">
            <a:avLst/>
          </a:prstGeom>
          <a:solidFill>
            <a:srgbClr val="78A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48150" y="28194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3124200"/>
            <a:ext cx="1638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[Gestor 5] · C.00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57450" y="31432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57450" y="3143250"/>
            <a:ext cx="685800" cy="114300"/>
          </a:xfrm>
          <a:prstGeom prst="rect">
            <a:avLst/>
          </a:prstGeom>
          <a:solidFill>
            <a:srgbClr val="78A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48150" y="31242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2950" y="3619500"/>
            <a:ext cx="3886200" cy="1428750"/>
          </a:xfrm>
          <a:prstGeom prst="rect">
            <a:avLst/>
          </a:prstGeom>
          <a:solidFill>
            <a:srgbClr val="F1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2950" y="3619500"/>
            <a:ext cx="47625" cy="142875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5350" y="3733800"/>
            <a:ext cx="1143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13853A"/>
                </a:solidFill>
                <a:latin typeface="Aptos"/>
              </a:rPr>
              <a:t>[00%]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5350" y="4038600"/>
            <a:ext cx="3581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4A5B52"/>
                </a:solidFill>
                <a:latin typeface="Aptos"/>
              </a:rPr>
              <a:t>[Destaque de apoio da coluna de GA: ex.: quanto da perda total está na área líder, ou um técnico sem nenhuma baixa no período e o que investigar.]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5029200" y="1409700"/>
          <a:ext cx="6629400" cy="381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9800"/>
                <a:gridCol w="2286000"/>
                <a:gridCol w="2133600"/>
              </a:tblGrid>
              <a:tr h="952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TÉCNICOS</a:t>
                      </a:r>
                    </a:p>
                  </a:txBody>
                  <a:tcPr anchor="ctr" marL="95250" marR="76200" marT="38100" marB="3810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O QUE OS DADOS MOSTRAM</a:t>
                      </a:r>
                    </a:p>
                  </a:txBody>
                  <a:tcPr anchor="ctr" marL="95250" marR="76200" marT="38100" marB="3810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AÇÃO IMEDIATA</a:t>
                      </a:r>
                    </a:p>
                  </a:txBody>
                  <a:tcPr anchor="ctr" marL="95250" marR="76200" marT="38100" marB="38100">
                    <a:solidFill>
                      <a:srgbClr val="081551"/>
                    </a:solidFill>
                  </a:tcPr>
                </a:tc>
              </a:tr>
              <a:tr h="952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[Grupo de casos 1]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667085"/>
                          </a:solidFill>
                          <a:latin typeface="Aptos"/>
                        </a:rPr>
                        <a:t>[nomes dos técnicos deste grupo]</a:t>
                      </a:r>
                    </a:p>
                  </a:txBody>
                  <a:tcPr anchor="ctr" marL="9525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[O que os dados mostram sobre este grupo, em 1 a 2 frases.]</a:t>
                      </a:r>
                    </a:p>
                  </a:txBody>
                  <a:tcPr anchor="ctr" marL="9525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[Ação imediata e prazo para este grupo.]</a:t>
                      </a:r>
                    </a:p>
                  </a:txBody>
                  <a:tcPr anchor="ctr" marL="95250" marR="76200" marT="38100" marB="38100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[Grupo de casos 2 — ex.: 8 maiores desvios]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667085"/>
                          </a:solidFill>
                          <a:latin typeface="Aptos"/>
                        </a:rPr>
                        <a:t>[nomes e gaps individuais]</a:t>
                      </a:r>
                    </a:p>
                  </a:txBody>
                  <a:tcPr anchor="ctr" marL="95250" marR="76200" marT="38100" marB="381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[Diagnóstico do grupo: quanto concentram do gap, contexto de escala etc.]</a:t>
                      </a:r>
                    </a:p>
                  </a:txBody>
                  <a:tcPr anchor="ctr" marL="95250" marR="76200" marT="38100" marB="381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[Ação: conversa individual, plano de recuperação, verificação de escala.]</a:t>
                      </a:r>
                    </a:p>
                  </a:txBody>
                  <a:tcPr anchor="ctr" marL="95250" marR="76200" marT="38100" marB="38100">
                    <a:solidFill>
                      <a:srgbClr val="F8FAFD"/>
                    </a:solidFill>
                  </a:tcPr>
                </a:tc>
              </a:tr>
              <a:tr h="952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3853A"/>
                          </a:solidFill>
                          <a:latin typeface="Aptos"/>
                        </a:rPr>
                        <a:t>Referências a replicar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667085"/>
                          </a:solidFill>
                          <a:latin typeface="Aptos"/>
                        </a:rPr>
                        <a:t>[técnicos acima da meta a usar como padrão]</a:t>
                      </a:r>
                    </a:p>
                  </a:txBody>
                  <a:tcPr anchor="ctr" marL="95250" marR="76200" marT="38100" marB="38100"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[Por que servem de referência: produtividade acima da meta nas mesmas condições.]</a:t>
                      </a:r>
                    </a:p>
                  </a:txBody>
                  <a:tcPr anchor="ctr" marL="95250" marR="76200" marT="38100" marB="38100"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[Ação: mapear rota, carga e método e padronizar nos planos individuais.]</a:t>
                      </a:r>
                    </a:p>
                  </a:txBody>
                  <a:tcPr anchor="ctr" marL="95250" marR="76200" marT="38100" marB="38100">
                    <a:solidFill>
                      <a:srgbClr val="F1F9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Causas não comprovadas pelos dados permanecem marcadas como “em validação”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5320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4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429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FCA · FATO, CAUSA E 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71500"/>
            <a:ext cx="9525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81551"/>
                </a:solidFill>
                <a:latin typeface="Aptos Display"/>
              </a:rPr>
              <a:t>[Quantas frentes colocam a regional em recuperação nesta semana]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0050" y="1409700"/>
          <a:ext cx="11391900" cy="4305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/>
                <a:gridCol w="2457450"/>
                <a:gridCol w="2552700"/>
                <a:gridCol w="1104900"/>
                <a:gridCol w="2057400"/>
                <a:gridCol w="1314450"/>
              </a:tblGrid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FATO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CAUSA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AÇÃO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PRAZO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RESPONSÁVEL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</a:tr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[Fato 1 — o problema observado]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[dado que quantifica o fato]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[Causa: por que aconteceu, com o que os dados sustentam.]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[Ação concreta para tratar a causa.]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[DD/MM]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[revisão]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[Responsável]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14F88"/>
                          </a:solidFill>
                          <a:latin typeface="Aptos"/>
                        </a:rPr>
                        <a:t>A iniciar</a:t>
                      </a:r>
                    </a:p>
                  </a:txBody>
                  <a:tcPr anchor="ctr" marL="95250" marR="76200" marT="57150" marB="57150">
                    <a:solidFill>
                      <a:srgbClr val="DCECF9"/>
                    </a:solidFill>
                  </a:tcPr>
                </a:tc>
              </a:tr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[Fato 2]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[dado de apoio]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[Causa.]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[Ação.]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[DD/MM]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[planos]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[Responsável]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8A1717"/>
                          </a:solidFill>
                          <a:latin typeface="Aptos"/>
                        </a:rPr>
                        <a:t>Imediato</a:t>
                      </a:r>
                    </a:p>
                  </a:txBody>
                  <a:tcPr anchor="ctr" marL="95250" marR="76200" marT="57150" marB="57150">
                    <a:solidFill>
                      <a:srgbClr val="FDE2DF"/>
                    </a:solidFill>
                  </a:tcPr>
                </a:tc>
              </a:tr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[Fato 3]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[dado de apoio]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[Causa ainda não comprovada pelos dados.]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[Ação, incluindo o que falta para comprovar a causa.]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[DD/MM]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[travas]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[Responsável]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765400"/>
                          </a:solidFill>
                          <a:latin typeface="Aptos"/>
                        </a:rPr>
                        <a:t>Em validação</a:t>
                      </a:r>
                    </a:p>
                  </a:txBody>
                  <a:tcPr anchor="ctr" marL="95250" marR="76200" marT="57150" marB="57150">
                    <a:solidFill>
                      <a:srgbClr val="FFF0C7"/>
                    </a:solidFill>
                  </a:tcPr>
                </a:tc>
              </a:tr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[Fato 4]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[dado de apoio]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[Causa.]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[Ação.]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[DD/MM]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[meta]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[Responsável]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8A4C00"/>
                          </a:solidFill>
                          <a:latin typeface="Aptos"/>
                        </a:rPr>
                        <a:t>Atenção</a:t>
                      </a:r>
                    </a:p>
                  </a:txBody>
                  <a:tcPr anchor="ctr" marL="95250" marR="76200" marT="57150" marB="57150">
                    <a:solidFill>
                      <a:srgbClr val="FFE5CB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00050" y="5886450"/>
            <a:ext cx="11391900" cy="457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0050" y="5886450"/>
            <a:ext cx="66675" cy="457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6038850"/>
            <a:ext cx="190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FFFFFF"/>
                </a:solidFill>
                <a:latin typeface="Aptos"/>
              </a:rPr>
              <a:t>DECISÕES SOLICITADAS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1750" y="6038850"/>
            <a:ext cx="8953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D5DEF3"/>
                </a:solidFill>
                <a:latin typeface="Aptos"/>
              </a:rPr>
              <a:t>[Decisão 1]   ·   [Decisão 2]   ·   [Decisão 3]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