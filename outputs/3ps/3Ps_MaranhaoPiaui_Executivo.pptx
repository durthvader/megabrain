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477500" cy="76200"/>
          </a:xfrm>
          <a:prstGeom prst="rect">
            <a:avLst/>
          </a:prstGeom>
          <a:solidFill>
            <a:srgbClr val="081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477500" y="0"/>
            <a:ext cx="1714500" cy="76200"/>
          </a:xfrm>
          <a:prstGeom prst="rect">
            <a:avLst/>
          </a:prstGeom>
          <a:solidFill>
            <a:srgbClr val="42D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82250" y="285750"/>
            <a:ext cx="123825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2700" b="0">
                <a:solidFill>
                  <a:srgbClr val="081551"/>
                </a:solidFill>
                <a:latin typeface="Aptos Display"/>
              </a:rPr>
              <a:t>alloha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82250" y="628650"/>
            <a:ext cx="123825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800" b="1">
                <a:solidFill>
                  <a:srgbClr val="13853A"/>
                </a:solidFill>
                <a:latin typeface="Aptos"/>
              </a:rPr>
              <a:t>F I B R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6553200"/>
            <a:ext cx="9906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900" b="0">
                <a:solidFill>
                  <a:srgbClr val="8B94A6"/>
                </a:solidFill>
                <a:latin typeface="Aptos"/>
              </a:rPr>
              <a:t>Fonte: exportações de BI operacional da regional R7.2 (MA/PI), 01–09/07/2026 · OS = ordem de serviço concluída com baixa 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3750" y="6553200"/>
            <a:ext cx="7048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900" b="0">
                <a:solidFill>
                  <a:srgbClr val="8B94A6"/>
                </a:solidFill>
                <a:latin typeface="Aptos"/>
              </a:rPr>
              <a:t>1 /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342900"/>
            <a:ext cx="8572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476C9"/>
                </a:solidFill>
                <a:latin typeface="Aptos"/>
              </a:rPr>
              <a:t>OPERAÇÕES · MARANHÃO/PIAUÍ (R7.2) · 09/07/2026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571500"/>
            <a:ext cx="9525000" cy="723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81551"/>
                </a:solidFill>
                <a:latin typeface="Aptos Display"/>
              </a:rPr>
              <a:t>Maranhão volta a cumprir o Prazo 24h; Produção e Cumprimento de Agenda seguem abaixo do ideal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3400" y="1447800"/>
            <a:ext cx="10668000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500" b="0">
                <a:solidFill>
                  <a:srgbClr val="45516A"/>
                </a:solidFill>
                <a:latin typeface="Aptos"/>
              </a:rPr>
              <a:t>No fechamento de 08/07, o Maranhão (C.32) passou a cumprir a meta de Prazo 24h, mas segue abaixo do esperado em Produção; o Piauí (C.31) está com folga confortável em Produção e Prazo. O Cumprimento de Agenda caiu nos dois clusters e é hoje o principal ponto de atenção. Na visão semanal, a Produção 11 OK da regional caiu de 3,25 para 3,02 OS/dia (-7,1%) entre a semana fechada (S27) e a semana em curso (S28).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33400" y="1924050"/>
          <a:ext cx="11125200" cy="19431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90750"/>
                <a:gridCol w="2914650"/>
                <a:gridCol w="2914650"/>
                <a:gridCol w="3105150"/>
              </a:tblGrid>
              <a:tr h="6477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Cluster</a:t>
                      </a:r>
                    </a:p>
                  </a:txBody>
                  <a:tcPr anchor="ctr" marL="95250" marR="76200" marT="57150" marB="57150">
                    <a:solidFill>
                      <a:srgbClr val="08155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Presença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BFC9E3"/>
                          </a:solidFill>
                          <a:latin typeface="Aptos"/>
                        </a:rPr>
                        <a:t>meta mínima 95%</a:t>
                      </a:r>
                    </a:p>
                  </a:txBody>
                  <a:tcPr anchor="ctr" marL="95250" marR="76200" marT="57150" marB="57150">
                    <a:solidFill>
                      <a:srgbClr val="08155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Produção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BFC9E3"/>
                          </a:solidFill>
                          <a:latin typeface="Aptos"/>
                        </a:rPr>
                        <a:t>% da meta esperada, 08/07</a:t>
                      </a:r>
                    </a:p>
                  </a:txBody>
                  <a:tcPr anchor="ctr" marL="95250" marR="76200" marT="57150" marB="57150">
                    <a:solidFill>
                      <a:srgbClr val="08155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Prazo 24h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BFC9E3"/>
                          </a:solidFill>
                          <a:latin typeface="Aptos"/>
                        </a:rPr>
                        <a:t>meta 85% das ordens</a:t>
                      </a:r>
                    </a:p>
                  </a:txBody>
                  <a:tcPr anchor="ctr" marL="95250" marR="76200" marT="57150" marB="57150">
                    <a:solidFill>
                      <a:srgbClr val="081551"/>
                    </a:solidFill>
                  </a:tcPr>
                </a:tc>
              </a:tr>
              <a:tr h="6477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600" b="1">
                          <a:solidFill>
                            <a:srgbClr val="081551"/>
                          </a:solidFill>
                          <a:latin typeface="Aptos"/>
                        </a:rPr>
                        <a:t>C.31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667085"/>
                          </a:solidFill>
                          <a:latin typeface="Aptos"/>
                        </a:rPr>
                        <a:t>Piauí</a:t>
                      </a:r>
                    </a:p>
                  </a:txBody>
                  <a:tcPr anchor="ctr" marL="95250" marR="762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600" b="1">
                          <a:solidFill>
                            <a:srgbClr val="13853A"/>
                          </a:solidFill>
                          <a:latin typeface="Aptos"/>
                        </a:rPr>
                        <a:t>114,3%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667085"/>
                          </a:solidFill>
                          <a:latin typeface="Aptos"/>
                        </a:rPr>
                        <a:t>19,3 p.p. acima da meta</a:t>
                      </a:r>
                    </a:p>
                  </a:txBody>
                  <a:tcPr anchor="ctr" marL="95250" marR="762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600" b="1">
                          <a:solidFill>
                            <a:srgbClr val="13853A"/>
                          </a:solidFill>
                          <a:latin typeface="Aptos"/>
                        </a:rPr>
                        <a:t>144,8%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667085"/>
                          </a:solidFill>
                          <a:latin typeface="Aptos"/>
                        </a:rPr>
                        <a:t>acima do esperado</a:t>
                      </a:r>
                    </a:p>
                  </a:txBody>
                  <a:tcPr anchor="ctr" marL="95250" marR="762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600" b="1">
                          <a:solidFill>
                            <a:srgbClr val="13853A"/>
                          </a:solidFill>
                          <a:latin typeface="Aptos"/>
                        </a:rPr>
                        <a:t>92,0%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667085"/>
                          </a:solidFill>
                          <a:latin typeface="Aptos"/>
                        </a:rPr>
                        <a:t>7,0 p.p. acima da meta</a:t>
                      </a:r>
                    </a:p>
                  </a:txBody>
                  <a:tcPr anchor="ctr" marL="95250" marR="76200" marT="57150" marB="57150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600" b="1">
                          <a:solidFill>
                            <a:srgbClr val="081551"/>
                          </a:solidFill>
                          <a:latin typeface="Aptos"/>
                        </a:rPr>
                        <a:t>C.32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667085"/>
                          </a:solidFill>
                          <a:latin typeface="Aptos"/>
                        </a:rPr>
                        <a:t>Maranhão</a:t>
                      </a:r>
                    </a:p>
                  </a:txBody>
                  <a:tcPr anchor="ctr" marL="95250" marR="76200" marT="57150" marB="57150">
                    <a:solidFill>
                      <a:srgbClr val="EAF2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600" b="1">
                          <a:solidFill>
                            <a:srgbClr val="13853A"/>
                          </a:solidFill>
                          <a:latin typeface="Aptos"/>
                        </a:rPr>
                        <a:t>100,0%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667085"/>
                          </a:solidFill>
                          <a:latin typeface="Aptos"/>
                        </a:rPr>
                        <a:t>5,0 p.p. acima da meta</a:t>
                      </a:r>
                    </a:p>
                  </a:txBody>
                  <a:tcPr anchor="ctr" marL="95250" marR="76200" marT="57150" marB="57150">
                    <a:solidFill>
                      <a:srgbClr val="EAF2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600" b="1">
                          <a:solidFill>
                            <a:srgbClr val="D94545"/>
                          </a:solidFill>
                          <a:latin typeface="Aptos"/>
                        </a:rPr>
                        <a:t>88,4%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667085"/>
                          </a:solidFill>
                          <a:latin typeface="Aptos"/>
                        </a:rPr>
                        <a:t>abaixo do esperado</a:t>
                      </a:r>
                    </a:p>
                  </a:txBody>
                  <a:tcPr anchor="ctr" marL="95250" marR="76200" marT="57150" marB="57150">
                    <a:solidFill>
                      <a:srgbClr val="EAF2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600" b="1">
                          <a:solidFill>
                            <a:srgbClr val="13853A"/>
                          </a:solidFill>
                          <a:latin typeface="Aptos"/>
                        </a:rPr>
                        <a:t>89,4%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667085"/>
                          </a:solidFill>
                          <a:latin typeface="Aptos"/>
                        </a:rPr>
                        <a:t>4,4 p.p. acima da meta</a:t>
                      </a:r>
                    </a:p>
                  </a:txBody>
                  <a:tcPr anchor="ctr" marL="95250" marR="76200" marT="57150" marB="57150">
                    <a:solidFill>
                      <a:srgbClr val="EAF2FB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33400" y="3962400"/>
            <a:ext cx="1076325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667085"/>
                </a:solidFill>
                <a:latin typeface="Aptos"/>
              </a:rPr>
              <a:t>Como ler: Presença mede o quadro efetivamente disponível para operar frente à necessidade mínima do dia. A regional R7.2 fechou 08/07 com Prazo 24h em 90,3% (acima da meta) e Cumprimento de Agenda em 75,0% — abaixo da meta de 85%, puxado pelo Maranhão.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3400" y="4476750"/>
            <a:ext cx="5191125" cy="1600200"/>
          </a:xfrm>
          <a:prstGeom prst="roundRect">
            <a:avLst>
              <a:gd name="adj" fmla="val 7000"/>
            </a:avLst>
          </a:prstGeom>
          <a:solidFill>
            <a:srgbClr val="081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2000" y="4610100"/>
            <a:ext cx="30480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>
                <a:solidFill>
                  <a:srgbClr val="9FC9EE"/>
                </a:solidFill>
                <a:latin typeface="Aptos"/>
              </a:rPr>
              <a:t>DECISÃO OPERACIONAL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4819650"/>
            <a:ext cx="4743450" cy="11239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400" b="1">
                <a:solidFill>
                  <a:srgbClr val="FFFFFF"/>
                </a:solidFill>
                <a:latin typeface="Aptos"/>
              </a:rPr>
              <a:t>Manter o foco no Maranhão — Produção segue abaixo do esperado e Cumprimento de Agenda caiu nos dois clusters — sustentando o ganho recém-conquistado em Prazo 24h. Execução também nominal: 1 GA concentra o maior gap, 8 técnicos concentram os maiores desvios.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53125" y="4476750"/>
            <a:ext cx="1809750" cy="1600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96000" y="4629150"/>
            <a:ext cx="154305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300" b="1">
                <a:solidFill>
                  <a:srgbClr val="1476C9"/>
                </a:solidFill>
                <a:latin typeface="Aptos"/>
              </a:rPr>
              <a:t>20 de 69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0" y="4972050"/>
            <a:ext cx="1543050" cy="990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0">
                <a:solidFill>
                  <a:srgbClr val="667085"/>
                </a:solidFill>
                <a:latin typeface="Aptos"/>
              </a:rPr>
              <a:t>técnicos estão em Q1/NP (produtividade baixa ou sem classificação) no quartil 11 OK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77175" y="4476750"/>
            <a:ext cx="1809750" cy="1600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20050" y="4629150"/>
            <a:ext cx="154305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300" b="1">
                <a:solidFill>
                  <a:srgbClr val="1476C9"/>
                </a:solidFill>
                <a:latin typeface="Aptos"/>
              </a:rPr>
              <a:t>419 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20050" y="4972050"/>
            <a:ext cx="1543050" cy="990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0">
                <a:solidFill>
                  <a:srgbClr val="667085"/>
                </a:solidFill>
                <a:latin typeface="Aptos"/>
              </a:rPr>
              <a:t>de gap estimado em 9 dias (01–09/07), considerando meta por tempo de casa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801225" y="4476750"/>
            <a:ext cx="1809750" cy="1600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44100" y="4629150"/>
            <a:ext cx="154305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300" b="1">
                <a:solidFill>
                  <a:srgbClr val="1476C9"/>
                </a:solidFill>
                <a:latin typeface="Aptos"/>
              </a:rPr>
              <a:t>-7,1%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44100" y="4972050"/>
            <a:ext cx="1543050" cy="990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0">
                <a:solidFill>
                  <a:srgbClr val="667085"/>
                </a:solidFill>
                <a:latin typeface="Aptos"/>
              </a:rPr>
              <a:t>queda de Produção 11 OK entre a semana fechada e a semana em curso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477500" cy="76200"/>
          </a:xfrm>
          <a:prstGeom prst="rect">
            <a:avLst/>
          </a:prstGeom>
          <a:solidFill>
            <a:srgbClr val="081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477500" y="0"/>
            <a:ext cx="1714500" cy="76200"/>
          </a:xfrm>
          <a:prstGeom prst="rect">
            <a:avLst/>
          </a:prstGeom>
          <a:solidFill>
            <a:srgbClr val="42D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82250" y="285750"/>
            <a:ext cx="123825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2700" b="0">
                <a:solidFill>
                  <a:srgbClr val="081551"/>
                </a:solidFill>
                <a:latin typeface="Aptos Display"/>
              </a:rPr>
              <a:t>alloha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82250" y="628650"/>
            <a:ext cx="123825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800" b="1">
                <a:solidFill>
                  <a:srgbClr val="13853A"/>
                </a:solidFill>
                <a:latin typeface="Aptos"/>
              </a:rPr>
              <a:t>F I B R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6553200"/>
            <a:ext cx="9906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900" b="0">
                <a:solidFill>
                  <a:srgbClr val="8B94A6"/>
                </a:solidFill>
                <a:latin typeface="Aptos"/>
              </a:rPr>
              <a:t>Fonte: Analítico Nominal 01–09/07/2026, Quartil de Produtividade S27/S28 e exportações de motivo/submotivo de improdutividade da R7.2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3750" y="6553200"/>
            <a:ext cx="7048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900" b="0">
                <a:solidFill>
                  <a:srgbClr val="8B94A6"/>
                </a:solidFill>
                <a:latin typeface="Aptos"/>
              </a:rPr>
              <a:t>2 /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342900"/>
            <a:ext cx="8572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476C9"/>
                </a:solidFill>
                <a:latin typeface="Aptos"/>
              </a:rPr>
              <a:t>DIAGNÓSTICO DE PRODUÇÃO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571500"/>
            <a:ext cx="9525000" cy="723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81551"/>
                </a:solidFill>
                <a:latin typeface="Aptos Display"/>
              </a:rPr>
              <a:t>A produtividade está concentrada na faixa mediana — o problema é a cauda, não o time inteiro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3400" y="1428750"/>
            <a:ext cx="5810250" cy="35433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2950" y="1581150"/>
            <a:ext cx="314325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500" b="1">
                <a:solidFill>
                  <a:srgbClr val="081551"/>
                </a:solidFill>
                <a:latin typeface="Aptos"/>
              </a:rPr>
              <a:t>69 técnicos elegíveis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8500" y="1600200"/>
            <a:ext cx="291465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1200" b="0">
                <a:solidFill>
                  <a:srgbClr val="667085"/>
                </a:solidFill>
                <a:latin typeface="Aptos"/>
              </a:rPr>
              <a:t>Perfil quase todo veterano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2950" y="1809750"/>
            <a:ext cx="5391150" cy="266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0">
                <a:solidFill>
                  <a:srgbClr val="667085"/>
                </a:solidFill>
                <a:latin typeface="Aptos"/>
              </a:rPr>
              <a:t>Quartil de produtividade (11 OK), média das semanas S27 e S28. Quadro concentrado em &gt;90 dias de casa: 16 de 18 no Piauí, 47 de 51 no Maranhão.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2950" y="2114550"/>
            <a:ext cx="1838382" cy="190500"/>
          </a:xfrm>
          <a:prstGeom prst="rect">
            <a:avLst/>
          </a:prstGeom>
          <a:solidFill>
            <a:srgbClr val="138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81332" y="2114550"/>
            <a:ext cx="1601171" cy="190500"/>
          </a:xfrm>
          <a:prstGeom prst="rect">
            <a:avLst/>
          </a:prstGeom>
          <a:solidFill>
            <a:srgbClr val="E4B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82503" y="2114550"/>
            <a:ext cx="1482566" cy="190500"/>
          </a:xfrm>
          <a:prstGeom prst="rect">
            <a:avLst/>
          </a:prstGeom>
          <a:solidFill>
            <a:srgbClr val="F0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5069" y="2114550"/>
            <a:ext cx="469030" cy="190500"/>
          </a:xfrm>
          <a:prstGeom prst="rect">
            <a:avLst/>
          </a:prstGeom>
          <a:solidFill>
            <a:srgbClr val="D9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2950" y="2400300"/>
            <a:ext cx="66675" cy="266700"/>
          </a:xfrm>
          <a:prstGeom prst="rect">
            <a:avLst/>
          </a:prstGeom>
          <a:solidFill>
            <a:srgbClr val="138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7250" y="2381250"/>
            <a:ext cx="125730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400" b="1">
                <a:solidFill>
                  <a:srgbClr val="182238"/>
                </a:solidFill>
                <a:latin typeface="Aptos"/>
              </a:rPr>
              <a:t>34,1%</a:t>
            </a:r>
          </a:p>
          <a:p>
            <a:pPr algn="l">
              <a:lnSpc>
                <a:spcPct val="106000"/>
              </a:lnSpc>
              <a:spcBef>
                <a:spcPts val="200"/>
              </a:spcBef>
            </a:pPr>
            <a:r>
              <a:rPr sz="850" b="0">
                <a:solidFill>
                  <a:srgbClr val="667085"/>
                </a:solidFill>
                <a:latin typeface="Aptos"/>
              </a:rPr>
              <a:t>Q3 — acima da mediana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14550" y="2400300"/>
            <a:ext cx="66675" cy="266700"/>
          </a:xfrm>
          <a:prstGeom prst="rect">
            <a:avLst/>
          </a:prstGeom>
          <a:solidFill>
            <a:srgbClr val="E4B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28850" y="2381250"/>
            <a:ext cx="125730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400" b="1">
                <a:solidFill>
                  <a:srgbClr val="182238"/>
                </a:solidFill>
                <a:latin typeface="Aptos"/>
              </a:rPr>
              <a:t>29,7%</a:t>
            </a:r>
          </a:p>
          <a:p>
            <a:pPr algn="l">
              <a:lnSpc>
                <a:spcPct val="106000"/>
              </a:lnSpc>
              <a:spcBef>
                <a:spcPts val="200"/>
              </a:spcBef>
            </a:pPr>
            <a:r>
              <a:rPr sz="850" b="0">
                <a:solidFill>
                  <a:srgbClr val="667085"/>
                </a:solidFill>
                <a:latin typeface="Aptos"/>
              </a:rPr>
              <a:t>Q2 — mediana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86150" y="2400300"/>
            <a:ext cx="66675" cy="266700"/>
          </a:xfrm>
          <a:prstGeom prst="rect">
            <a:avLst/>
          </a:prstGeom>
          <a:solidFill>
            <a:srgbClr val="F0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00450" y="2381250"/>
            <a:ext cx="125730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400" b="1">
                <a:solidFill>
                  <a:srgbClr val="182238"/>
                </a:solidFill>
                <a:latin typeface="Aptos"/>
              </a:rPr>
              <a:t>27,5%</a:t>
            </a:r>
          </a:p>
          <a:p>
            <a:pPr algn="l">
              <a:lnSpc>
                <a:spcPct val="106000"/>
              </a:lnSpc>
              <a:spcBef>
                <a:spcPts val="200"/>
              </a:spcBef>
            </a:pPr>
            <a:r>
              <a:rPr sz="850" b="0">
                <a:solidFill>
                  <a:srgbClr val="667085"/>
                </a:solidFill>
                <a:latin typeface="Aptos"/>
              </a:rPr>
              <a:t>Q1 — abaixo da mediana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57750" y="2400300"/>
            <a:ext cx="66675" cy="266700"/>
          </a:xfrm>
          <a:prstGeom prst="rect">
            <a:avLst/>
          </a:prstGeom>
          <a:solidFill>
            <a:srgbClr val="D9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72050" y="2381250"/>
            <a:ext cx="125730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400" b="1">
                <a:solidFill>
                  <a:srgbClr val="182238"/>
                </a:solidFill>
                <a:latin typeface="Aptos"/>
              </a:rPr>
              <a:t>8,7%</a:t>
            </a:r>
          </a:p>
          <a:p>
            <a:pPr algn="l">
              <a:lnSpc>
                <a:spcPct val="106000"/>
              </a:lnSpc>
              <a:spcBef>
                <a:spcPts val="200"/>
              </a:spcBef>
            </a:pPr>
            <a:r>
              <a:rPr sz="850" b="0">
                <a:solidFill>
                  <a:srgbClr val="667085"/>
                </a:solidFill>
                <a:latin typeface="Aptos"/>
              </a:rPr>
              <a:t>NP — sem produção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2950" y="2781300"/>
            <a:ext cx="5391150" cy="438150"/>
          </a:xfrm>
          <a:prstGeom prst="rect">
            <a:avLst/>
          </a:prstGeom>
          <a:solidFill>
            <a:srgbClr val="FD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42950" y="2781300"/>
            <a:ext cx="47625" cy="438150"/>
          </a:xfrm>
          <a:prstGeom prst="rect">
            <a:avLst/>
          </a:prstGeom>
          <a:solidFill>
            <a:srgbClr val="F0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6300" y="2838450"/>
            <a:ext cx="51816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5A4632"/>
                </a:solidFill>
                <a:latin typeface="Aptos"/>
              </a:rPr>
              <a:t>Diferente do Ceará (68% do time abaixo da meta), a maior parte do quadro aqui está em Q2/Q3. O risco não é generalizado: está concentrado em poucos nomes e em uma área específica.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2950" y="3333750"/>
            <a:ext cx="36195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1">
                <a:solidFill>
                  <a:srgbClr val="081551"/>
                </a:solidFill>
                <a:latin typeface="Aptos"/>
              </a:rPr>
              <a:t>Gap estimado por cluster (01–09/07)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95750" y="3343275"/>
            <a:ext cx="20574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1200" b="1">
                <a:solidFill>
                  <a:srgbClr val="D94545"/>
                </a:solidFill>
                <a:latin typeface="Aptos"/>
              </a:rPr>
              <a:t>419 OS em 9 dias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2950" y="3581400"/>
            <a:ext cx="1143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182238"/>
                </a:solidFill>
                <a:latin typeface="Aptos"/>
              </a:rPr>
              <a:t>C.32 Maranhão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962150" y="3600450"/>
            <a:ext cx="3619500" cy="114300"/>
          </a:xfrm>
          <a:prstGeom prst="rect">
            <a:avLst/>
          </a:prstGeom>
          <a:solidFill>
            <a:srgbClr val="E7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962150" y="3600450"/>
            <a:ext cx="3619500" cy="114300"/>
          </a:xfrm>
          <a:prstGeom prst="rect">
            <a:avLst/>
          </a:prstGeom>
          <a:solidFill>
            <a:srgbClr val="147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57850" y="3581400"/>
            <a:ext cx="4191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>
                <a:solidFill>
                  <a:srgbClr val="182238"/>
                </a:solidFill>
                <a:latin typeface="Aptos"/>
              </a:rPr>
              <a:t>369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2950" y="3810000"/>
            <a:ext cx="1143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182238"/>
                </a:solidFill>
                <a:latin typeface="Aptos"/>
              </a:rPr>
              <a:t>C.31 Piauí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962150" y="3829050"/>
            <a:ext cx="3619500" cy="114300"/>
          </a:xfrm>
          <a:prstGeom prst="rect">
            <a:avLst/>
          </a:prstGeom>
          <a:solidFill>
            <a:srgbClr val="E7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962150" y="3829050"/>
            <a:ext cx="492252" cy="114300"/>
          </a:xfrm>
          <a:prstGeom prst="rect">
            <a:avLst/>
          </a:prstGeom>
          <a:solidFill>
            <a:srgbClr val="78A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657850" y="3810000"/>
            <a:ext cx="4191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>
                <a:solidFill>
                  <a:srgbClr val="182238"/>
                </a:solidFill>
                <a:latin typeface="Aptos"/>
              </a:rPr>
              <a:t>50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2950" y="4095750"/>
            <a:ext cx="539115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>
                <a:solidFill>
                  <a:srgbClr val="667085"/>
                </a:solidFill>
                <a:latin typeface="Aptos"/>
              </a:rPr>
              <a:t>Gap = máximo(meta por faixa de tempo de casa × dias trabalhados − volume OK, 0), estimado a partir do Analítico Nominal (dias trabalhados inferidos por Volume OK / Prod. OK).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2950" y="4400550"/>
            <a:ext cx="539115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>
                <a:solidFill>
                  <a:srgbClr val="667085"/>
                </a:solidFill>
                <a:latin typeface="Aptos"/>
              </a:rPr>
              <a:t>2 técnicos (Israel Costa da Silva e Luis Henrique Mendes Costa, C.32) ficaram sem nenhuma baixa no período inteiro — confirmar com RH/escala.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34150" y="1428750"/>
            <a:ext cx="5124450" cy="35433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43700" y="1581150"/>
            <a:ext cx="3048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500" b="1">
                <a:solidFill>
                  <a:srgbClr val="081551"/>
                </a:solidFill>
                <a:latin typeface="Aptos"/>
              </a:rPr>
              <a:t>273 visitas improdutivas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48650" y="1600200"/>
            <a:ext cx="321945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1200" b="1">
                <a:solidFill>
                  <a:srgbClr val="D94545"/>
                </a:solidFill>
                <a:latin typeface="Aptos"/>
              </a:rPr>
              <a:t>174 com motivo registrado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43700" y="1809750"/>
            <a:ext cx="470535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0">
                <a:solidFill>
                  <a:srgbClr val="667085"/>
                </a:solidFill>
                <a:latin typeface="Aptos"/>
              </a:rPr>
              <a:t>Motivos registrados nos 4 maiores grupos (01–09/07):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43700" y="2228850"/>
            <a:ext cx="18097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182238"/>
                </a:solidFill>
                <a:latin typeface="Aptos"/>
              </a:rPr>
              <a:t>Abertura indevida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629650" y="2247900"/>
            <a:ext cx="2286000" cy="114300"/>
          </a:xfrm>
          <a:prstGeom prst="rect">
            <a:avLst/>
          </a:prstGeom>
          <a:solidFill>
            <a:srgbClr val="E7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629650" y="2247900"/>
            <a:ext cx="2286000" cy="114300"/>
          </a:xfrm>
          <a:prstGeom prst="rect">
            <a:avLst/>
          </a:prstGeom>
          <a:solidFill>
            <a:srgbClr val="F0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991850" y="2228850"/>
            <a:ext cx="4191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>
                <a:solidFill>
                  <a:srgbClr val="182238"/>
                </a:solidFill>
                <a:latin typeface="Aptos"/>
              </a:rPr>
              <a:t>39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43700" y="2552700"/>
            <a:ext cx="18097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182238"/>
                </a:solidFill>
                <a:latin typeface="Aptos"/>
              </a:rPr>
              <a:t>Falha massiva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629650" y="2571750"/>
            <a:ext cx="2286000" cy="114300"/>
          </a:xfrm>
          <a:prstGeom prst="rect">
            <a:avLst/>
          </a:prstGeom>
          <a:solidFill>
            <a:srgbClr val="E7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629650" y="2571750"/>
            <a:ext cx="2169414" cy="114300"/>
          </a:xfrm>
          <a:prstGeom prst="rect">
            <a:avLst/>
          </a:prstGeom>
          <a:solidFill>
            <a:srgbClr val="F0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991850" y="2552700"/>
            <a:ext cx="4191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>
                <a:solidFill>
                  <a:srgbClr val="182238"/>
                </a:solidFill>
                <a:latin typeface="Aptos"/>
              </a:rPr>
              <a:t>37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743700" y="2876550"/>
            <a:ext cx="18097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182238"/>
                </a:solidFill>
                <a:latin typeface="Aptos"/>
              </a:rPr>
              <a:t>Cliente ausente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629650" y="2895600"/>
            <a:ext cx="2286000" cy="114300"/>
          </a:xfrm>
          <a:prstGeom prst="rect">
            <a:avLst/>
          </a:prstGeom>
          <a:solidFill>
            <a:srgbClr val="E7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629650" y="2895600"/>
            <a:ext cx="1172718" cy="114300"/>
          </a:xfrm>
          <a:prstGeom prst="rect">
            <a:avLst/>
          </a:prstGeom>
          <a:solidFill>
            <a:srgbClr val="F0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991850" y="2876550"/>
            <a:ext cx="4191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>
                <a:solidFill>
                  <a:srgbClr val="182238"/>
                </a:solidFill>
                <a:latin typeface="Aptos"/>
              </a:rPr>
              <a:t>20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743700" y="3200400"/>
            <a:ext cx="18097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182238"/>
                </a:solidFill>
                <a:latin typeface="Aptos"/>
              </a:rPr>
              <a:t>Solicitação de reagendamento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629650" y="3219450"/>
            <a:ext cx="2286000" cy="114300"/>
          </a:xfrm>
          <a:prstGeom prst="rect">
            <a:avLst/>
          </a:prstGeom>
          <a:solidFill>
            <a:srgbClr val="E7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629650" y="3219450"/>
            <a:ext cx="996696" cy="114300"/>
          </a:xfrm>
          <a:prstGeom prst="rect">
            <a:avLst/>
          </a:prstGeom>
          <a:solidFill>
            <a:srgbClr val="F0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991850" y="3200400"/>
            <a:ext cx="4191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>
                <a:solidFill>
                  <a:srgbClr val="182238"/>
                </a:solidFill>
                <a:latin typeface="Aptos"/>
              </a:rPr>
              <a:t>17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743700" y="3619500"/>
            <a:ext cx="4705350" cy="876300"/>
          </a:xfrm>
          <a:prstGeom prst="rect">
            <a:avLst/>
          </a:prstGeom>
          <a:solidFill>
            <a:srgbClr val="F1F9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743700" y="3619500"/>
            <a:ext cx="47625" cy="876300"/>
          </a:xfrm>
          <a:prstGeom prst="rect">
            <a:avLst/>
          </a:prstGeom>
          <a:solidFill>
            <a:srgbClr val="42D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896100" y="3733800"/>
            <a:ext cx="85725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900" b="1">
                <a:solidFill>
                  <a:srgbClr val="13853A"/>
                </a:solidFill>
                <a:latin typeface="Aptos"/>
              </a:rPr>
              <a:t>74%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29550" y="3695700"/>
            <a:ext cx="350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4A5B52"/>
                </a:solidFill>
                <a:latin typeface="Aptos"/>
              </a:rPr>
              <a:t>das improdutivas classificadas estão nos 5 principais motivos, com “Abertura indevida” e “Falha massiva” à frente — mesmo padrão do Ceará: parte relevante nasce antes do despacho.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33400" y="5143500"/>
            <a:ext cx="3638550" cy="1123950"/>
          </a:xfrm>
          <a:prstGeom prst="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33400" y="5143500"/>
            <a:ext cx="3638550" cy="28575"/>
          </a:xfrm>
          <a:prstGeom prst="rect">
            <a:avLst/>
          </a:prstGeom>
          <a:solidFill>
            <a:srgbClr val="147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66750" y="5257800"/>
            <a:ext cx="3810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000" b="1">
                <a:solidFill>
                  <a:srgbClr val="A2B2C6"/>
                </a:solidFill>
                <a:latin typeface="Aptos"/>
              </a:rPr>
              <a:t>01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47750" y="5257800"/>
            <a:ext cx="30099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1">
                <a:solidFill>
                  <a:srgbClr val="081551"/>
                </a:solidFill>
                <a:latin typeface="Aptos"/>
              </a:rPr>
              <a:t>Reverter a queda S27→S28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47750" y="5467350"/>
            <a:ext cx="3009900" cy="7429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0">
                <a:solidFill>
                  <a:srgbClr val="667085"/>
                </a:solidFill>
                <a:latin typeface="Aptos"/>
              </a:rPr>
              <a:t>Produção 11 OK caiu de 3,25 para 3,02 OS/dia. Acompanhamento diário para retomar o patamar da semana anterior até o fim da S28.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324350" y="5143500"/>
            <a:ext cx="3638550" cy="1123950"/>
          </a:xfrm>
          <a:prstGeom prst="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4324350" y="5143500"/>
            <a:ext cx="3638550" cy="28575"/>
          </a:xfrm>
          <a:prstGeom prst="rect">
            <a:avLst/>
          </a:prstGeom>
          <a:solidFill>
            <a:srgbClr val="147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457700" y="5257800"/>
            <a:ext cx="3810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000" b="1">
                <a:solidFill>
                  <a:srgbClr val="A2B2C6"/>
                </a:solidFill>
                <a:latin typeface="Aptos"/>
              </a:rPr>
              <a:t>02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838700" y="5257800"/>
            <a:ext cx="30099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1">
                <a:solidFill>
                  <a:srgbClr val="081551"/>
                </a:solidFill>
                <a:latin typeface="Aptos"/>
              </a:rPr>
              <a:t>Plano individual nominal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838700" y="5467350"/>
            <a:ext cx="3009900" cy="7429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0">
                <a:solidFill>
                  <a:srgbClr val="667085"/>
                </a:solidFill>
                <a:latin typeface="Aptos"/>
              </a:rPr>
              <a:t>Foco nos 8 maiores gaps individuais e na GA com maior concentração de perda. Detalhe na página seguinte.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115300" y="5143500"/>
            <a:ext cx="3638550" cy="1123950"/>
          </a:xfrm>
          <a:prstGeom prst="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8115300" y="5143500"/>
            <a:ext cx="3638550" cy="28575"/>
          </a:xfrm>
          <a:prstGeom prst="rect">
            <a:avLst/>
          </a:prstGeom>
          <a:solidFill>
            <a:srgbClr val="147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248650" y="5257800"/>
            <a:ext cx="3810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000" b="1">
                <a:solidFill>
                  <a:srgbClr val="A2B2C6"/>
                </a:solidFill>
                <a:latin typeface="Aptos"/>
              </a:rPr>
              <a:t>03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629650" y="5257800"/>
            <a:ext cx="30099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1">
                <a:solidFill>
                  <a:srgbClr val="081551"/>
                </a:solidFill>
                <a:latin typeface="Aptos"/>
              </a:rPr>
              <a:t>Qualidade da demanda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629650" y="5467350"/>
            <a:ext cx="3009900" cy="7429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0">
                <a:solidFill>
                  <a:srgbClr val="667085"/>
                </a:solidFill>
                <a:latin typeface="Aptos"/>
              </a:rPr>
              <a:t>Mesma frente do Ceará: travar abertura de OS sem validação técnica e tratar falha massiva antes do despacho — os dois motivos somam 76 das 174 baixas classificadas.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477500" cy="76200"/>
          </a:xfrm>
          <a:prstGeom prst="rect">
            <a:avLst/>
          </a:prstGeom>
          <a:solidFill>
            <a:srgbClr val="081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477500" y="0"/>
            <a:ext cx="1714500" cy="76200"/>
          </a:xfrm>
          <a:prstGeom prst="rect">
            <a:avLst/>
          </a:prstGeom>
          <a:solidFill>
            <a:srgbClr val="42D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82250" y="285750"/>
            <a:ext cx="123825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2700" b="0">
                <a:solidFill>
                  <a:srgbClr val="081551"/>
                </a:solidFill>
                <a:latin typeface="Aptos Display"/>
              </a:rPr>
              <a:t>alloha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82250" y="628650"/>
            <a:ext cx="123825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800" b="1">
                <a:solidFill>
                  <a:srgbClr val="13853A"/>
                </a:solidFill>
                <a:latin typeface="Aptos"/>
              </a:rPr>
              <a:t>F I B R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6553200"/>
            <a:ext cx="9906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900" b="0">
                <a:solidFill>
                  <a:srgbClr val="8B94A6"/>
                </a:solidFill>
                <a:latin typeface="Aptos"/>
              </a:rPr>
              <a:t>Fonte: Analítico Nominal por técnico, 01 a 09/07/2026 · 69 técnicos elegíveis · gap estimado, dias trabalhados inferidos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3750" y="6553200"/>
            <a:ext cx="7048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900" b="0">
                <a:solidFill>
                  <a:srgbClr val="8B94A6"/>
                </a:solidFill>
                <a:latin typeface="Aptos"/>
              </a:rPr>
              <a:t>3 /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342900"/>
            <a:ext cx="8572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476C9"/>
                </a:solidFill>
                <a:latin typeface="Aptos"/>
              </a:rPr>
              <a:t>GESTÃO NOMINAL · 01 A 09/07/2026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571500"/>
            <a:ext cx="9525000" cy="723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81551"/>
                </a:solidFill>
                <a:latin typeface="Aptos Display"/>
              </a:rPr>
              <a:t>Uma área e oito técnicos concentram a maior parte do gap do Maranhão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3400" y="1409700"/>
            <a:ext cx="4305300" cy="381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2950" y="1562100"/>
            <a:ext cx="2857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400" b="1">
                <a:solidFill>
                  <a:srgbClr val="081551"/>
                </a:solidFill>
                <a:latin typeface="Aptos"/>
              </a:rPr>
              <a:t>Gap por área de gestão (GA)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57500" y="1581150"/>
            <a:ext cx="17907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950" b="0">
                <a:solidFill>
                  <a:srgbClr val="667085"/>
                </a:solidFill>
                <a:latin typeface="Aptos"/>
              </a:rPr>
              <a:t>em OS não executadas (estimado)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2950" y="1905000"/>
            <a:ext cx="16383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182238"/>
                </a:solidFill>
                <a:latin typeface="Aptos"/>
              </a:rPr>
              <a:t>Naan Carlos Cabral Oliveira · C.32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57450" y="1924050"/>
            <a:ext cx="1714500" cy="114300"/>
          </a:xfrm>
          <a:prstGeom prst="rect">
            <a:avLst/>
          </a:prstGeom>
          <a:solidFill>
            <a:srgbClr val="E7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57450" y="1924050"/>
            <a:ext cx="1714500" cy="114300"/>
          </a:xfrm>
          <a:prstGeom prst="rect">
            <a:avLst/>
          </a:prstGeom>
          <a:solidFill>
            <a:srgbClr val="147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48150" y="1905000"/>
            <a:ext cx="4191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>
                <a:solidFill>
                  <a:srgbClr val="182238"/>
                </a:solidFill>
                <a:latin typeface="Aptos"/>
              </a:rPr>
              <a:t>95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2950" y="2209800"/>
            <a:ext cx="16383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182238"/>
                </a:solidFill>
                <a:latin typeface="Aptos"/>
              </a:rPr>
              <a:t>Leonardo Cardoso Silva · C.31/C.32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57450" y="2228850"/>
            <a:ext cx="1714500" cy="114300"/>
          </a:xfrm>
          <a:prstGeom prst="rect">
            <a:avLst/>
          </a:prstGeom>
          <a:solidFill>
            <a:srgbClr val="E7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457450" y="2228850"/>
            <a:ext cx="1498473" cy="114300"/>
          </a:xfrm>
          <a:prstGeom prst="rect">
            <a:avLst/>
          </a:prstGeom>
          <a:solidFill>
            <a:srgbClr val="147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48150" y="2209800"/>
            <a:ext cx="4191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>
                <a:solidFill>
                  <a:srgbClr val="182238"/>
                </a:solidFill>
                <a:latin typeface="Aptos"/>
              </a:rPr>
              <a:t>23 + 60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2950" y="2514600"/>
            <a:ext cx="16383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182238"/>
                </a:solidFill>
                <a:latin typeface="Aptos"/>
              </a:rPr>
              <a:t>Francisco Sales Furtado Jr. · C.32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57450" y="2533650"/>
            <a:ext cx="1714500" cy="114300"/>
          </a:xfrm>
          <a:prstGeom prst="rect">
            <a:avLst/>
          </a:prstGeom>
          <a:solidFill>
            <a:srgbClr val="E7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457450" y="2533650"/>
            <a:ext cx="1443609" cy="114300"/>
          </a:xfrm>
          <a:prstGeom prst="rect">
            <a:avLst/>
          </a:prstGeom>
          <a:solidFill>
            <a:srgbClr val="147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48150" y="2514600"/>
            <a:ext cx="4191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>
                <a:solidFill>
                  <a:srgbClr val="182238"/>
                </a:solidFill>
                <a:latin typeface="Aptos"/>
              </a:rPr>
              <a:t>80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2950" y="2819400"/>
            <a:ext cx="16383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182238"/>
                </a:solidFill>
                <a:latin typeface="Aptos"/>
              </a:rPr>
              <a:t>Roberval Silva Rodrigues · C.32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457450" y="2838450"/>
            <a:ext cx="1714500" cy="114300"/>
          </a:xfrm>
          <a:prstGeom prst="rect">
            <a:avLst/>
          </a:prstGeom>
          <a:solidFill>
            <a:srgbClr val="E7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457450" y="2838450"/>
            <a:ext cx="1371600" cy="114300"/>
          </a:xfrm>
          <a:prstGeom prst="rect">
            <a:avLst/>
          </a:prstGeom>
          <a:solidFill>
            <a:srgbClr val="78A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48150" y="2819400"/>
            <a:ext cx="4191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>
                <a:solidFill>
                  <a:srgbClr val="182238"/>
                </a:solidFill>
                <a:latin typeface="Aptos"/>
              </a:rPr>
              <a:t>76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2950" y="3124200"/>
            <a:ext cx="16383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182238"/>
                </a:solidFill>
                <a:latin typeface="Aptos"/>
              </a:rPr>
              <a:t>Ruan Labre Gabriel da Silva · C.32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457450" y="3143250"/>
            <a:ext cx="1714500" cy="114300"/>
          </a:xfrm>
          <a:prstGeom prst="rect">
            <a:avLst/>
          </a:prstGeom>
          <a:solidFill>
            <a:srgbClr val="E7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457450" y="3143250"/>
            <a:ext cx="884682" cy="114300"/>
          </a:xfrm>
          <a:prstGeom prst="rect">
            <a:avLst/>
          </a:prstGeom>
          <a:solidFill>
            <a:srgbClr val="78A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48150" y="3124200"/>
            <a:ext cx="4191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>
                <a:solidFill>
                  <a:srgbClr val="182238"/>
                </a:solidFill>
                <a:latin typeface="Aptos"/>
              </a:rPr>
              <a:t>49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2950" y="3486150"/>
            <a:ext cx="3886200" cy="1600200"/>
          </a:xfrm>
          <a:prstGeom prst="rect">
            <a:avLst/>
          </a:prstGeom>
          <a:solidFill>
            <a:srgbClr val="F1F9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42950" y="3486150"/>
            <a:ext cx="47625" cy="1600200"/>
          </a:xfrm>
          <a:prstGeom prst="rect">
            <a:avLst/>
          </a:prstGeom>
          <a:solidFill>
            <a:srgbClr val="42D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5350" y="3600450"/>
            <a:ext cx="1143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800" b="1">
                <a:solidFill>
                  <a:srgbClr val="13853A"/>
                </a:solidFill>
                <a:latin typeface="Aptos"/>
              </a:rPr>
              <a:t>2 técnicos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5350" y="3905250"/>
            <a:ext cx="3581400" cy="1104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4A5B52"/>
                </a:solidFill>
                <a:latin typeface="Aptos"/>
              </a:rPr>
              <a:t>ficaram sem nenhuma baixa no período inteiro (01–09/07): Israel Costa da Silva (C.32, GA Naan Carlos Cabral Oliveira) e Luis Henrique Mendes Costa (C.32, GA Francisco Sales Furtado Jr.) — capacidade fora de campo a confirmar com RH/escala, mesmo padrão do Ceará, mas em escala muito menor (2 casos, não 7).</a:t>
            </a:r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5029200" y="1409700"/>
          <a:ext cx="6629400" cy="3352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09800"/>
                <a:gridCol w="2286000"/>
                <a:gridCol w="2133600"/>
              </a:tblGrid>
              <a:tr h="838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Aptos"/>
                        </a:rPr>
                        <a:t>TÉCNICOS</a:t>
                      </a:r>
                    </a:p>
                  </a:txBody>
                  <a:tcPr anchor="ctr" marL="95250" marR="76200" marT="38100" marB="38100">
                    <a:solidFill>
                      <a:srgbClr val="08155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Aptos"/>
                        </a:rPr>
                        <a:t>O QUE OS DADOS MOSTRAM</a:t>
                      </a:r>
                    </a:p>
                  </a:txBody>
                  <a:tcPr anchor="ctr" marL="95250" marR="76200" marT="38100" marB="38100">
                    <a:solidFill>
                      <a:srgbClr val="08155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Aptos"/>
                        </a:rPr>
                        <a:t>AÇÃO IMEDIATA</a:t>
                      </a:r>
                    </a:p>
                  </a:txBody>
                  <a:tcPr anchor="ctr" marL="95250" marR="76200" marT="38100" marB="38100">
                    <a:solidFill>
                      <a:srgbClr val="081551"/>
                    </a:solidFill>
                  </a:tcPr>
                </a:tc>
              </a:tr>
              <a:tr h="838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081551"/>
                          </a:solidFill>
                          <a:latin typeface="Aptos"/>
                        </a:rPr>
                        <a:t>2 técnicos sem baixa no período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>
                          <a:solidFill>
                            <a:srgbClr val="667085"/>
                          </a:solidFill>
                          <a:latin typeface="Aptos"/>
                        </a:rPr>
                        <a:t>Israel Costa da Silva e Luis Henrique Mendes Costa (C.32)</a:t>
                      </a:r>
                    </a:p>
                  </a:txBody>
                  <a:tcPr anchor="ctr" marL="9525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182238"/>
                          </a:solidFill>
                          <a:latin typeface="Aptos"/>
                        </a:rPr>
                        <a:t>Nenhuma OS concluída entre 01 e 09/07. Não é baixa produtividade: é capacidade fora de campo.</a:t>
                      </a:r>
                    </a:p>
                  </a:txBody>
                  <a:tcPr anchor="ctr" marL="9525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182238"/>
                          </a:solidFill>
                          <a:latin typeface="Aptos"/>
                        </a:rPr>
                        <a:t>Confirmar com RH e escala em 24h se é férias, atestado ou vaga a repor.</a:t>
                      </a:r>
                    </a:p>
                  </a:txBody>
                  <a:tcPr anchor="ctr" marL="95250" marR="76200" marT="38100" marB="38100"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081551"/>
                          </a:solidFill>
                          <a:latin typeface="Aptos"/>
                        </a:rPr>
                        <a:t>8 maiores desvios individuais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>
                          <a:solidFill>
                            <a:srgbClr val="667085"/>
                          </a:solidFill>
                          <a:latin typeface="Aptos"/>
                        </a:rPr>
                        <a:t>Andre Santos Pereira e Natan Padilha Pinheiro (gap 19); David Wesllem de Sousa Baldez (17); Marcio Andre Cutrim Costa e Lucas dos Santos Cutrim (14); Antonio Pedro de Oliveira, Gabriel Leite Barbosa e Felipe Sousa Quirino (13) — todos C.32</a:t>
                      </a:r>
                    </a:p>
                  </a:txBody>
                  <a:tcPr anchor="ctr" marL="95250" marR="76200" marT="38100" marB="38100">
                    <a:solidFill>
                      <a:srgbClr val="F8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182238"/>
                          </a:solidFill>
                          <a:latin typeface="Aptos"/>
                        </a:rPr>
                        <a:t>Concentram boa parte do gap do Maranhão; a maioria com poucos dias trabalhados no período (4 a 7 de 9).</a:t>
                      </a:r>
                    </a:p>
                  </a:txBody>
                  <a:tcPr anchor="ctr" marL="95250" marR="76200" marT="38100" marB="38100">
                    <a:solidFill>
                      <a:srgbClr val="F8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182238"/>
                          </a:solidFill>
                          <a:latin typeface="Aptos"/>
                        </a:rPr>
                        <a:t>Conversa individual gestor-técnico esta semana, com plano simples de recuperação e verificação da escala real.</a:t>
                      </a:r>
                    </a:p>
                  </a:txBody>
                  <a:tcPr anchor="ctr" marL="95250" marR="76200" marT="38100" marB="38100">
                    <a:solidFill>
                      <a:srgbClr val="F8FAFD"/>
                    </a:solidFill>
                  </a:tcPr>
                </a:tc>
              </a:tr>
              <a:tr h="838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13853A"/>
                          </a:solidFill>
                          <a:latin typeface="Aptos"/>
                        </a:rPr>
                        <a:t>Referências a replicar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>
                          <a:solidFill>
                            <a:srgbClr val="667085"/>
                          </a:solidFill>
                          <a:latin typeface="Aptos"/>
                        </a:rPr>
                        <a:t>Emisson Barbosa Paiva (5,86) e Lucas Sousa Silva (5,29) — C.32; Werbert Pereira dos Santos (5,57), Claudiomir de Sousa (5,50) e Rafael Costa Lima (5,43) — C.31</a:t>
                      </a:r>
                    </a:p>
                  </a:txBody>
                  <a:tcPr anchor="ctr" marL="95250" marR="76200" marT="38100" marB="38100">
                    <a:solidFill>
                      <a:srgbClr val="F1F9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182238"/>
                          </a:solidFill>
                          <a:latin typeface="Aptos"/>
                        </a:rPr>
                        <a:t>Bem acima da meta de 4 OS/dia, nas mesmas condições de campo.</a:t>
                      </a:r>
                    </a:p>
                  </a:txBody>
                  <a:tcPr anchor="ctr" marL="95250" marR="76200" marT="38100" marB="38100">
                    <a:solidFill>
                      <a:srgbClr val="F1F9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182238"/>
                          </a:solidFill>
                          <a:latin typeface="Aptos"/>
                        </a:rPr>
                        <a:t>Mapear rota, carga e método desses técnicos e usar como padrão, priorizando a GA de Naan Carlos Cabral Oliveira.</a:t>
                      </a:r>
                    </a:p>
                  </a:txBody>
                  <a:tcPr anchor="ctr" marL="95250" marR="76200" marT="38100" marB="38100">
                    <a:solidFill>
                      <a:srgbClr val="F1F9F1"/>
                    </a:solidFill>
                  </a:tcPr>
                </a:tc>
              </a:tr>
            </a:tbl>
          </a:graphicData>
        </a:graphic>
      </p:graphicFrame>
      <p:sp>
        <p:nvSpPr>
          <p:cNvPr id="38" name="Rectangle 37"/>
          <p:cNvSpPr/>
          <p:nvPr/>
        </p:nvSpPr>
        <p:spPr>
          <a:xfrm>
            <a:off x="533400" y="5600700"/>
            <a:ext cx="2152650" cy="742950"/>
          </a:xfrm>
          <a:prstGeom prst="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33400" y="5600700"/>
            <a:ext cx="2152650" cy="28575"/>
          </a:xfrm>
          <a:prstGeom prst="rect">
            <a:avLst/>
          </a:prstGeom>
          <a:solidFill>
            <a:srgbClr val="D9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6750" y="5734050"/>
            <a:ext cx="4953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200" b="1">
                <a:solidFill>
                  <a:srgbClr val="D94545"/>
                </a:solidFill>
                <a:latin typeface="Aptos"/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00150" y="5695950"/>
            <a:ext cx="14097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>
                <a:solidFill>
                  <a:srgbClr val="667085"/>
                </a:solidFill>
                <a:latin typeface="Aptos"/>
              </a:rPr>
              <a:t>sem baixa no período — resolver em 24h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800350" y="5600700"/>
            <a:ext cx="2152650" cy="742950"/>
          </a:xfrm>
          <a:prstGeom prst="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800350" y="5600700"/>
            <a:ext cx="2152650" cy="28575"/>
          </a:xfrm>
          <a:prstGeom prst="rect">
            <a:avLst/>
          </a:prstGeom>
          <a:solidFill>
            <a:srgbClr val="D9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933700" y="5734050"/>
            <a:ext cx="4953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200" b="1">
                <a:solidFill>
                  <a:srgbClr val="D94545"/>
                </a:solidFill>
                <a:latin typeface="Aptos"/>
              </a:rPr>
              <a:t>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467100" y="5695950"/>
            <a:ext cx="14097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>
                <a:solidFill>
                  <a:srgbClr val="667085"/>
                </a:solidFill>
                <a:latin typeface="Aptos"/>
              </a:rPr>
              <a:t>maior desvio individual — plano já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67300" y="5600700"/>
            <a:ext cx="2152650" cy="742950"/>
          </a:xfrm>
          <a:prstGeom prst="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067300" y="5600700"/>
            <a:ext cx="2152650" cy="28575"/>
          </a:xfrm>
          <a:prstGeom prst="rect">
            <a:avLst/>
          </a:prstGeom>
          <a:solidFill>
            <a:srgbClr val="F0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200650" y="5734050"/>
            <a:ext cx="4953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200" b="1">
                <a:solidFill>
                  <a:srgbClr val="F08A24"/>
                </a:solidFill>
                <a:latin typeface="Aptos"/>
              </a:rPr>
              <a:t>38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734050" y="5695950"/>
            <a:ext cx="14097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>
                <a:solidFill>
                  <a:srgbClr val="667085"/>
                </a:solidFill>
                <a:latin typeface="Aptos"/>
              </a:rPr>
              <a:t>Q1 — abaixo da mediana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34250" y="5600700"/>
            <a:ext cx="2152650" cy="742950"/>
          </a:xfrm>
          <a:prstGeom prst="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34250" y="5600700"/>
            <a:ext cx="2152650" cy="28575"/>
          </a:xfrm>
          <a:prstGeom prst="rect">
            <a:avLst/>
          </a:prstGeom>
          <a:solidFill>
            <a:srgbClr val="E4B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467600" y="5734050"/>
            <a:ext cx="4953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200" b="1">
                <a:solidFill>
                  <a:srgbClr val="E4BD30"/>
                </a:solidFill>
                <a:latin typeface="Aptos"/>
              </a:rPr>
              <a:t>41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001000" y="5695950"/>
            <a:ext cx="14097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>
                <a:solidFill>
                  <a:srgbClr val="667085"/>
                </a:solidFill>
                <a:latin typeface="Aptos"/>
              </a:rPr>
              <a:t>Q2 — na mediana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601200" y="5600700"/>
            <a:ext cx="2152650" cy="742950"/>
          </a:xfrm>
          <a:prstGeom prst="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601200" y="5600700"/>
            <a:ext cx="2152650" cy="28575"/>
          </a:xfrm>
          <a:prstGeom prst="rect">
            <a:avLst/>
          </a:prstGeom>
          <a:solidFill>
            <a:srgbClr val="138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734550" y="5734050"/>
            <a:ext cx="4953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200" b="1">
                <a:solidFill>
                  <a:srgbClr val="13853A"/>
                </a:solidFill>
                <a:latin typeface="Aptos"/>
              </a:rPr>
              <a:t>47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267950" y="5695950"/>
            <a:ext cx="14097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>
                <a:solidFill>
                  <a:srgbClr val="667085"/>
                </a:solidFill>
                <a:latin typeface="Aptos"/>
              </a:rPr>
              <a:t>Q3 — acima da mediana, usar de referência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477500" cy="76200"/>
          </a:xfrm>
          <a:prstGeom prst="rect">
            <a:avLst/>
          </a:prstGeom>
          <a:solidFill>
            <a:srgbClr val="081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477500" y="0"/>
            <a:ext cx="1714500" cy="76200"/>
          </a:xfrm>
          <a:prstGeom prst="rect">
            <a:avLst/>
          </a:prstGeom>
          <a:solidFill>
            <a:srgbClr val="42D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82250" y="285750"/>
            <a:ext cx="123825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2700" b="0">
                <a:solidFill>
                  <a:srgbClr val="081551"/>
                </a:solidFill>
                <a:latin typeface="Aptos Display"/>
              </a:rPr>
              <a:t>alloha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82250" y="628650"/>
            <a:ext cx="123825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800" b="1">
                <a:solidFill>
                  <a:srgbClr val="13853A"/>
                </a:solidFill>
                <a:latin typeface="Aptos"/>
              </a:rPr>
              <a:t>F I B R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6553200"/>
            <a:ext cx="9906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900" b="0">
                <a:solidFill>
                  <a:srgbClr val="8B94A6"/>
                </a:solidFill>
                <a:latin typeface="Aptos"/>
              </a:rPr>
              <a:t>Causas não comprovadas pelos dados permanecem marcadas como “em validação”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3750" y="6553200"/>
            <a:ext cx="7048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900" b="0">
                <a:solidFill>
                  <a:srgbClr val="8B94A6"/>
                </a:solidFill>
                <a:latin typeface="Aptos"/>
              </a:rPr>
              <a:t>4 /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342900"/>
            <a:ext cx="8572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476C9"/>
                </a:solidFill>
                <a:latin typeface="Aptos"/>
              </a:rPr>
              <a:t>FCA · FATO, CAUSA E AÇÃO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571500"/>
            <a:ext cx="9525000" cy="723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81551"/>
                </a:solidFill>
                <a:latin typeface="Aptos Display"/>
              </a:rPr>
              <a:t>Quatro frentes colocam a recuperação do Maranhão/Piauí em execução nesta semana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00050" y="1409700"/>
          <a:ext cx="11391900" cy="43053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05000"/>
                <a:gridCol w="2457450"/>
                <a:gridCol w="2552700"/>
                <a:gridCol w="1104900"/>
                <a:gridCol w="2057400"/>
                <a:gridCol w="1314450"/>
              </a:tblGrid>
              <a:tr h="86106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FATO</a:t>
                      </a:r>
                    </a:p>
                  </a:txBody>
                  <a:tcPr anchor="ctr" marL="95250" marR="76200" marT="57150" marB="57150">
                    <a:solidFill>
                      <a:srgbClr val="08155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CAUSA</a:t>
                      </a:r>
                    </a:p>
                  </a:txBody>
                  <a:tcPr anchor="ctr" marL="95250" marR="76200" marT="57150" marB="57150">
                    <a:solidFill>
                      <a:srgbClr val="08155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AÇÃO</a:t>
                      </a:r>
                    </a:p>
                  </a:txBody>
                  <a:tcPr anchor="ctr" marL="95250" marR="76200" marT="57150" marB="57150">
                    <a:solidFill>
                      <a:srgbClr val="08155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PRAZO</a:t>
                      </a:r>
                    </a:p>
                  </a:txBody>
                  <a:tcPr anchor="ctr" marL="95250" marR="76200" marT="57150" marB="57150">
                    <a:solidFill>
                      <a:srgbClr val="08155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RESPONSÁVEL</a:t>
                      </a:r>
                    </a:p>
                  </a:txBody>
                  <a:tcPr anchor="ctr" marL="95250" marR="76200" marT="57150" marB="57150">
                    <a:solidFill>
                      <a:srgbClr val="08155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STATUS</a:t>
                      </a:r>
                    </a:p>
                  </a:txBody>
                  <a:tcPr anchor="ctr" marL="95250" marR="76200" marT="57150" marB="57150">
                    <a:solidFill>
                      <a:srgbClr val="081551"/>
                    </a:solidFill>
                  </a:tcPr>
                </a:tc>
              </a:tr>
              <a:tr h="86106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081551"/>
                          </a:solidFill>
                          <a:latin typeface="Aptos"/>
                        </a:rPr>
                        <a:t>Maranhão volta a cumprir o Prazo 24h, mas Produção e Agenda seguem abaixo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667085"/>
                          </a:solidFill>
                          <a:latin typeface="Aptos"/>
                        </a:rPr>
                        <a:t>Prazo 24h 89,4% (meta 85%) · Produção 88,4% do esperado · Cumprimento de Agenda 72,3%, em 08/07</a:t>
                      </a:r>
                    </a:p>
                  </a:txBody>
                  <a:tcPr anchor="ctr" marL="95250" marR="762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182238"/>
                          </a:solidFill>
                          <a:latin typeface="Aptos"/>
                        </a:rPr>
                        <a:t>O gap de produção segue concentrado em poucas áreas de gestão e técnicos específicos, detalhados na página anterior; a queda de Cumprimento de Agenda é mais recente e ainda em apuração.</a:t>
                      </a:r>
                    </a:p>
                  </a:txBody>
                  <a:tcPr anchor="ctr" marL="95250" marR="762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182238"/>
                          </a:solidFill>
                          <a:latin typeface="Aptos"/>
                        </a:rPr>
                        <a:t>Controle diário de Produção e Agenda nas áreas críticas, sustentando o ganho de Prazo 24h, com lista nominal e providência no mesmo dia.</a:t>
                      </a:r>
                    </a:p>
                  </a:txBody>
                  <a:tcPr anchor="ctr" marL="95250" marR="762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081551"/>
                          </a:solidFill>
                          <a:latin typeface="Aptos"/>
                        </a:rPr>
                        <a:t>10/07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667085"/>
                          </a:solidFill>
                          <a:latin typeface="Aptos"/>
                        </a:rPr>
                        <a:t>1ª revisão 17/07</a:t>
                      </a:r>
                    </a:p>
                  </a:txBody>
                  <a:tcPr anchor="ctr" marL="95250" marR="762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182238"/>
                          </a:solidFill>
                          <a:latin typeface="Aptos"/>
                        </a:rPr>
                        <a:t>Gestores de operação do Maranhão</a:t>
                      </a:r>
                    </a:p>
                  </a:txBody>
                  <a:tcPr anchor="ctr" marL="95250" marR="762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114F88"/>
                          </a:solidFill>
                          <a:latin typeface="Aptos"/>
                        </a:rPr>
                        <a:t>Em andamento</a:t>
                      </a:r>
                    </a:p>
                  </a:txBody>
                  <a:tcPr anchor="ctr" marL="95250" marR="76200" marT="57150" marB="57150">
                    <a:solidFill>
                      <a:srgbClr val="DCECF9"/>
                    </a:solidFill>
                  </a:tcPr>
                </a:tc>
              </a:tr>
              <a:tr h="86106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081551"/>
                          </a:solidFill>
                          <a:latin typeface="Aptos"/>
                        </a:rPr>
                        <a:t>419 OS de gap estimado em 9 dias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667085"/>
                          </a:solidFill>
                          <a:latin typeface="Aptos"/>
                        </a:rPr>
                        <a:t>concentrado em 1 GA e 8 técnicos críticos</a:t>
                      </a:r>
                    </a:p>
                  </a:txBody>
                  <a:tcPr anchor="ctr" marL="95250" marR="76200" marT="57150" marB="57150">
                    <a:solidFill>
                      <a:srgbClr val="F8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182238"/>
                          </a:solidFill>
                          <a:latin typeface="Aptos"/>
                        </a:rPr>
                        <a:t>2 técnicos sem nenhuma baixa no período; 8 com maior desvio individual, a maioria com 4 a 7 dos 9 dias trabalhados.</a:t>
                      </a:r>
                    </a:p>
                  </a:txBody>
                  <a:tcPr anchor="ctr" marL="95250" marR="76200" marT="57150" marB="57150">
                    <a:solidFill>
                      <a:srgbClr val="F8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182238"/>
                          </a:solidFill>
                          <a:latin typeface="Aptos"/>
                        </a:rPr>
                        <a:t>Confirmar com RH a situação dos 2 técnicos parados; plano individual para os 8 críticos; ajuste de carga e rota para os demais.</a:t>
                      </a:r>
                    </a:p>
                  </a:txBody>
                  <a:tcPr anchor="ctr" marL="95250" marR="76200" marT="57150" marB="57150">
                    <a:solidFill>
                      <a:srgbClr val="F8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081551"/>
                          </a:solidFill>
                          <a:latin typeface="Aptos"/>
                        </a:rPr>
                        <a:t>10/07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667085"/>
                          </a:solidFill>
                          <a:latin typeface="Aptos"/>
                        </a:rPr>
                        <a:t>planos até 12/07</a:t>
                      </a:r>
                    </a:p>
                  </a:txBody>
                  <a:tcPr anchor="ctr" marL="95250" marR="76200" marT="57150" marB="57150">
                    <a:solidFill>
                      <a:srgbClr val="F8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182238"/>
                          </a:solidFill>
                          <a:latin typeface="Aptos"/>
                        </a:rPr>
                        <a:t>GA Naan Carlos Cabral Oliveira e GO Walmir Fernandes da Silva</a:t>
                      </a:r>
                    </a:p>
                  </a:txBody>
                  <a:tcPr anchor="ctr" marL="95250" marR="76200" marT="57150" marB="57150">
                    <a:solidFill>
                      <a:srgbClr val="F8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8A1717"/>
                          </a:solidFill>
                          <a:latin typeface="Aptos"/>
                        </a:rPr>
                        <a:t>Imediato</a:t>
                      </a:r>
                    </a:p>
                  </a:txBody>
                  <a:tcPr anchor="ctr" marL="95250" marR="76200" marT="57150" marB="57150">
                    <a:solidFill>
                      <a:srgbClr val="FDE2DF"/>
                    </a:solidFill>
                  </a:tcPr>
                </a:tc>
              </a:tr>
              <a:tr h="86106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081551"/>
                          </a:solidFill>
                          <a:latin typeface="Aptos"/>
                        </a:rPr>
                        <a:t>273 visitas improdutivas no período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667085"/>
                          </a:solidFill>
                          <a:latin typeface="Aptos"/>
                        </a:rPr>
                        <a:t>174 com motivo registrado</a:t>
                      </a:r>
                    </a:p>
                  </a:txBody>
                  <a:tcPr anchor="ctr" marL="95250" marR="762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182238"/>
                          </a:solidFill>
                          <a:latin typeface="Aptos"/>
                        </a:rPr>
                        <a:t>Abertura indevida (39) e Falha massiva (37) lideram os motivos registrados — 74% das classificadas nascem antes do despacho.</a:t>
                      </a:r>
                    </a:p>
                  </a:txBody>
                  <a:tcPr anchor="ctr" marL="95250" marR="762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182238"/>
                          </a:solidFill>
                          <a:latin typeface="Aptos"/>
                        </a:rPr>
                        <a:t>Travar abertura de OS sem validação técnica; confirmar o cliente antes do despacho; suspender despacho em área com falha massiva ativa.</a:t>
                      </a:r>
                    </a:p>
                  </a:txBody>
                  <a:tcPr anchor="ctr" marL="95250" marR="762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081551"/>
                          </a:solidFill>
                          <a:latin typeface="Aptos"/>
                        </a:rPr>
                        <a:t>10/07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667085"/>
                          </a:solidFill>
                          <a:latin typeface="Aptos"/>
                        </a:rPr>
                        <a:t>travas até 12/07</a:t>
                      </a:r>
                    </a:p>
                  </a:txBody>
                  <a:tcPr anchor="ctr" marL="95250" marR="762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182238"/>
                          </a:solidFill>
                          <a:latin typeface="Aptos"/>
                        </a:rPr>
                        <a:t>Equipe de BI/Performance regional</a:t>
                      </a:r>
                    </a:p>
                  </a:txBody>
                  <a:tcPr anchor="ctr" marL="95250" marR="762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765400"/>
                          </a:solidFill>
                          <a:latin typeface="Aptos"/>
                        </a:rPr>
                        <a:t>Em validação</a:t>
                      </a:r>
                    </a:p>
                  </a:txBody>
                  <a:tcPr anchor="ctr" marL="95250" marR="76200" marT="57150" marB="57150">
                    <a:solidFill>
                      <a:srgbClr val="FFF0C7"/>
                    </a:solidFill>
                  </a:tcPr>
                </a:tc>
              </a:tr>
              <a:tr h="86106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081551"/>
                          </a:solidFill>
                          <a:latin typeface="Aptos"/>
                        </a:rPr>
                        <a:t>Recuperação parcial da Produção 11 OK (S27→S28)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667085"/>
                          </a:solidFill>
                          <a:latin typeface="Aptos"/>
                        </a:rPr>
                        <a:t>3,25 → 3,02 OS/dia (-7,1%)</a:t>
                      </a:r>
                    </a:p>
                  </a:txBody>
                  <a:tcPr anchor="ctr" marL="95250" marR="76200" marT="57150" marB="57150">
                    <a:solidFill>
                      <a:srgbClr val="F8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182238"/>
                          </a:solidFill>
                          <a:latin typeface="Aptos"/>
                        </a:rPr>
                        <a:t>Concentrada no Maranhão, mesma regional que segue abaixo da meta de Produção e de Cumprimento de Agenda no fechamento diário.</a:t>
                      </a:r>
                    </a:p>
                  </a:txBody>
                  <a:tcPr anchor="ctr" marL="95250" marR="76200" marT="57150" marB="57150">
                    <a:solidFill>
                      <a:srgbClr val="F8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182238"/>
                          </a:solidFill>
                          <a:latin typeface="Aptos"/>
                        </a:rPr>
                        <a:t>Acompanhar o fechamento da S28 frente à S27, priorizando as GAs com maior gap identificado (Naan Carlos Cabral Oliveira, Leonardo Cardoso Silva, Francisco Sales Furtado Jr.).</a:t>
                      </a:r>
                    </a:p>
                  </a:txBody>
                  <a:tcPr anchor="ctr" marL="95250" marR="76200" marT="57150" marB="57150">
                    <a:solidFill>
                      <a:srgbClr val="F8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081551"/>
                          </a:solidFill>
                          <a:latin typeface="Aptos"/>
                        </a:rPr>
                        <a:t>12/07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667085"/>
                          </a:solidFill>
                          <a:latin typeface="Aptos"/>
                        </a:rPr>
                        <a:t>fechamento da S28</a:t>
                      </a:r>
                    </a:p>
                  </a:txBody>
                  <a:tcPr anchor="ctr" marL="95250" marR="76200" marT="57150" marB="57150">
                    <a:solidFill>
                      <a:srgbClr val="F8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182238"/>
                          </a:solidFill>
                          <a:latin typeface="Aptos"/>
                        </a:rPr>
                        <a:t>Gestores de operação da regional R7.2</a:t>
                      </a:r>
                    </a:p>
                  </a:txBody>
                  <a:tcPr anchor="ctr" marL="95250" marR="76200" marT="57150" marB="57150">
                    <a:solidFill>
                      <a:srgbClr val="F8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8A4C00"/>
                          </a:solidFill>
                          <a:latin typeface="Aptos"/>
                        </a:rPr>
                        <a:t>Atenção</a:t>
                      </a:r>
                    </a:p>
                  </a:txBody>
                  <a:tcPr anchor="ctr" marL="95250" marR="76200" marT="57150" marB="57150">
                    <a:solidFill>
                      <a:srgbClr val="FFE5CB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400050" y="5886450"/>
            <a:ext cx="11391900" cy="457200"/>
          </a:xfrm>
          <a:prstGeom prst="rect">
            <a:avLst/>
          </a:prstGeom>
          <a:solidFill>
            <a:srgbClr val="081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0050" y="5886450"/>
            <a:ext cx="66675" cy="457200"/>
          </a:xfrm>
          <a:prstGeom prst="rect">
            <a:avLst/>
          </a:prstGeom>
          <a:solidFill>
            <a:srgbClr val="42D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9600" y="6038850"/>
            <a:ext cx="19050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FFFFFF"/>
                </a:solidFill>
                <a:latin typeface="Aptos"/>
              </a:rPr>
              <a:t>DECISÕES SOLICITADAS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71750" y="6038850"/>
            <a:ext cx="89535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D5DEF3"/>
                </a:solidFill>
                <a:latin typeface="Aptos"/>
              </a:rPr>
              <a:t>Confirmar responsáveis e prazos   ·   Ratificar 85% como meta do Prazo 24h e do Cumprimento de Agenda para a regional   ·   Priorizar a GA de Naan Carlos Cabral Oliveira na recuperação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