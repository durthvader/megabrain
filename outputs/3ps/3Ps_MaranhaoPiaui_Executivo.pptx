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exportações de BI operacional da regional R7.2 (MA/PI), 01–07/07/2026 · OS = ordem de serviço concluída com baixa 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1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OPERAÇÕES · MARANHÃO/PIAUÍ (R7.2) · 07/07/2026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81551"/>
                </a:solidFill>
                <a:latin typeface="Aptos Display"/>
              </a:rPr>
              <a:t>Maranhão está abaixo da meta de Prazo; Piauí está com folga, mas a produtividade da semana caiu 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447800"/>
            <a:ext cx="106680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0">
                <a:solidFill>
                  <a:srgbClr val="45516A"/>
                </a:solidFill>
                <a:latin typeface="Aptos"/>
              </a:rPr>
              <a:t>No fechamento de 06/07, o Maranhão (C.32) ficou abaixo da meta de Prazo 24h e de Produção; o Piauí (C.31) está com folga confortável nos dois indicadores. Na visão semanal, a Produção 11 OK da regional caiu de 3,25 para 2,27 OS/dia (-30%) entre a semana fechada (S27) e a semana em curso (S28).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924050"/>
          <a:ext cx="11125200" cy="1943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0750"/>
                <a:gridCol w="2914650"/>
                <a:gridCol w="2914650"/>
                <a:gridCol w="3105150"/>
              </a:tblGrid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Cluster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Baixando serviço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vs. folha meta,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% da meta esperada, 06/07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Prazo 24h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BFC9E3"/>
                          </a:solidFill>
                          <a:latin typeface="Aptos"/>
                        </a:rPr>
                        <a:t>meta 85% das ordens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C.31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Piauí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78,9%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15 de 19 da folha meta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128,5%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acima do esperado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13853A"/>
                          </a:solidFill>
                          <a:latin typeface="Aptos"/>
                        </a:rPr>
                        <a:t>100%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fechou o dia sem estouro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081551"/>
                          </a:solidFill>
                          <a:latin typeface="Aptos"/>
                        </a:rPr>
                        <a:t>C.32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Maranhão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9A6200"/>
                          </a:solidFill>
                          <a:latin typeface="Aptos"/>
                        </a:rPr>
                        <a:t>78,2%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43 de 55 da folha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82,1%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abaixo do esperado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600" b="1">
                          <a:solidFill>
                            <a:srgbClr val="D94545"/>
                          </a:solidFill>
                          <a:latin typeface="Aptos"/>
                        </a:rPr>
                        <a:t>77,6%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0">
                          <a:solidFill>
                            <a:srgbClr val="667085"/>
                          </a:solidFill>
                          <a:latin typeface="Aptos"/>
                        </a:rPr>
                        <a:t>7,4 p.p. abaixo da meta</a:t>
                      </a:r>
                    </a:p>
                  </a:txBody>
                  <a:tcPr anchor="ctr" marL="95250" marR="76200" marT="57150" marB="57150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3962400"/>
            <a:ext cx="107632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5"/>
                </a:solidFill>
                <a:latin typeface="Aptos"/>
              </a:rPr>
              <a:t>Como ler: Baixando Serviço mede quantos técnicos da folha meta estão de fato executando ordens no dia. A regional R7.2 fechou 06/07 com Prazo 24h em 81,2% e Cumprimento de Agenda em 79,7% — abaixo da meta de 85%, puxado pelo Maranhão.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4476750"/>
            <a:ext cx="5191125" cy="1600200"/>
          </a:xfrm>
          <a:prstGeom prst="roundRect">
            <a:avLst>
              <a:gd name="adj" fmla="val 7000"/>
            </a:avLst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4610100"/>
            <a:ext cx="3048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9FC9EE"/>
                </a:solidFill>
                <a:latin typeface="Aptos"/>
              </a:rPr>
              <a:t>DECISÃO OPERACIONAL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819650"/>
            <a:ext cx="4743450" cy="1123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Concentrar a semana no Maranhão — Prazo e Produção abaixo da meta — e monitorar diariamente a queda de produtividade da S28 antes que vire tendência. Execução também nominal: 1 GA concentra o maior gap, 8 técnicos concentram os maiores desvios.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531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29 de 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técnicos estão em Q1/NP (produtividade baixa ou sem classificação) no quartil 11 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7717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005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364 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005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de gap estimado em 7 dias (01–07/07), considerando meta por tempo de casa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01225" y="4476750"/>
            <a:ext cx="1809750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4100" y="4629150"/>
            <a:ext cx="15430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300" b="1">
                <a:solidFill>
                  <a:srgbClr val="1476C9"/>
                </a:solidFill>
                <a:latin typeface="Aptos"/>
              </a:rPr>
              <a:t>-30%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4100" y="4972050"/>
            <a:ext cx="154305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5"/>
                </a:solidFill>
                <a:latin typeface="Aptos"/>
              </a:rPr>
              <a:t>queda de Produção 11 OK entre a semana fechada e a semana em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01–07/07/2026, Quartil de Produtividade S27/S28 e exportações de motivo/submotivo de improdutividade da R7.2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2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DIAGNÓSTICO DE PRODUÇÃO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A produtividade está concentrada na faixa mediana — o problema é a cauda, não o time inteiro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58102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81150"/>
            <a:ext cx="31432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70 técnicos elegíveis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1600200"/>
            <a:ext cx="29146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667085"/>
                </a:solidFill>
                <a:latin typeface="Aptos"/>
              </a:rPr>
              <a:t>Perfil quase todo veterano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809750"/>
            <a:ext cx="5391150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Quartil de produtividade (11 OK), média das semanas S27 e S28. Quadro concentrado em &gt;90 dias de casa: 16 de 18 no Piauí, 48 de 52 no Maranhão.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950" y="2114550"/>
            <a:ext cx="2080983" cy="1905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23933" y="2114550"/>
            <a:ext cx="1234573" cy="1905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58507" y="2114550"/>
            <a:ext cx="1002753" cy="1905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61261" y="2114550"/>
            <a:ext cx="576853" cy="1905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950" y="2400300"/>
            <a:ext cx="66675" cy="266700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2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38,6%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Q3 — acima da mediana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14550" y="2400300"/>
            <a:ext cx="66675" cy="266700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288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22,9%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Q2 — mediana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86150" y="2400300"/>
            <a:ext cx="66675" cy="2667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4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18,6%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7750" y="2400300"/>
            <a:ext cx="66675" cy="266700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72050" y="2381250"/>
            <a:ext cx="12573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182238"/>
                </a:solidFill>
                <a:latin typeface="Aptos"/>
              </a:rPr>
              <a:t>10,7%</a:t>
            </a:r>
          </a:p>
          <a:p>
            <a:pPr algn="l">
              <a:lnSpc>
                <a:spcPct val="106000"/>
              </a:lnSpc>
              <a:spcBef>
                <a:spcPts val="200"/>
              </a:spcBef>
            </a:pPr>
            <a:r>
              <a:rPr sz="850" b="0">
                <a:solidFill>
                  <a:srgbClr val="667085"/>
                </a:solidFill>
                <a:latin typeface="Aptos"/>
              </a:rPr>
              <a:t>NP — sem produção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950" y="2781300"/>
            <a:ext cx="5391150" cy="438150"/>
          </a:xfrm>
          <a:prstGeom prst="rect">
            <a:avLst/>
          </a:prstGeom>
          <a:solidFill>
            <a:srgbClr val="FD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2950" y="2781300"/>
            <a:ext cx="47625" cy="43815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2838450"/>
            <a:ext cx="51816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5A4632"/>
                </a:solidFill>
                <a:latin typeface="Aptos"/>
              </a:rPr>
              <a:t>Diferente do Ceará (68% do time abaixo da meta), a maior parte do quadro aqui está em Q2/Q3. O risco não é generalizado: está concentrado em poucos nomes e em uma área específica.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333750"/>
            <a:ext cx="3619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Gap estimado por cluster (01–07/07)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95750" y="3343275"/>
            <a:ext cx="2057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364 OS em 7 dias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2950" y="35814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C.32 Maranhão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62150" y="3600450"/>
            <a:ext cx="3619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57850" y="3581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3810000"/>
            <a:ext cx="1143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C.31 Piauí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2150" y="3829050"/>
            <a:ext cx="3619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962150" y="3829050"/>
            <a:ext cx="644271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57850" y="3810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40957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Gap = máximo(meta por faixa de tempo de casa × dias trabalhados − volume OK, 0), estimado a partir do Analítico Nominal (dias trabalhados inferidos por Volume OK / Prod. OK).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950" y="4400550"/>
            <a:ext cx="53911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1 técnico (Adrian Viana de França, C.32) ficou sem nenhuma baixa no período inteiro — confirmar com RH/escala.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150" y="1428750"/>
            <a:ext cx="5124450" cy="35433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1581150"/>
            <a:ext cx="3048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081551"/>
                </a:solidFill>
                <a:latin typeface="Aptos"/>
              </a:rPr>
              <a:t>189 visitas improdutivas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48650" y="1600200"/>
            <a:ext cx="321945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1">
                <a:solidFill>
                  <a:srgbClr val="D94545"/>
                </a:solidFill>
                <a:latin typeface="Aptos"/>
              </a:rPr>
              <a:t>125 com motivo registrado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700" y="1809750"/>
            <a:ext cx="47053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Motivos registrados nos 4 maiores grupos (01–07/07):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3700" y="22288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Abertura indevida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29650" y="2247900"/>
            <a:ext cx="22860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91850" y="22288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3700" y="25527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Falha massiva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29650" y="25717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629650" y="2571750"/>
            <a:ext cx="1981961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91850" y="25527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43700" y="287655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Cliente ausente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29650" y="289560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629650" y="2895600"/>
            <a:ext cx="1067562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850" y="287655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3700" y="3200400"/>
            <a:ext cx="1809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Desistiu do serviço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29650" y="3219450"/>
            <a:ext cx="22860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29650" y="3219450"/>
            <a:ext cx="914400" cy="114300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91850" y="3200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43700" y="3619500"/>
            <a:ext cx="4705350" cy="8763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743700" y="3619500"/>
            <a:ext cx="47625" cy="8763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96100" y="3733800"/>
            <a:ext cx="85725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900" b="1">
                <a:solidFill>
                  <a:srgbClr val="13853A"/>
                </a:solidFill>
                <a:latin typeface="Aptos"/>
              </a:rPr>
              <a:t>74%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9550" y="3695700"/>
            <a:ext cx="350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das improdutivas classificadas estão nos 5 principais motivos, com “Abertura indevida” e “Falha massiva” à frente — mesmo padrão do Ceará: parte relevante nasce antes do despacho.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34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34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67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77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Reverter a queda S27→S28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Produção 11 OK caiu de 3,25 para 2,27 OS/dia. Acompanhamento diário para retomar o patamar da semana anterior até o fim da S28.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2435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32435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5770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3870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Plano individual nominal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3870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Foco nos 8 maiores gaps individuais e na GA com maior concentração de perda. Detalhe na página seguinte.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15300" y="5143500"/>
            <a:ext cx="3638550" cy="1123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115300" y="5143500"/>
            <a:ext cx="3638550" cy="28575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48650" y="5257800"/>
            <a:ext cx="381000" cy="2476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000" b="1">
                <a:solidFill>
                  <a:srgbClr val="A2B2C6"/>
                </a:solidFill>
                <a:latin typeface="Aptos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29650" y="5257800"/>
            <a:ext cx="30099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>
                <a:solidFill>
                  <a:srgbClr val="081551"/>
                </a:solidFill>
                <a:latin typeface="Aptos"/>
              </a:rPr>
              <a:t>Qualidade da demanda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29650" y="5467350"/>
            <a:ext cx="3009900" cy="742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5"/>
                </a:solidFill>
                <a:latin typeface="Aptos"/>
              </a:rPr>
              <a:t>Mesma frente do Ceará: travar abertura de OS sem validação técnica e tratar falha massiva antes do despacho — os dois motivos somam 56 das 125 baixas classificadas.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Fonte: Analítico Nominal por técnico, 01 a 07/07/2026 · 70 técnicos elegíveis · gap estimado, dias trabalhados inferidos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3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GESTÃO NOMINAL · 01 A 07/07/2026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Uma área e oito técnicos concentram a maior parte do gap do Maranhão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09700"/>
            <a:ext cx="4305300" cy="381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950" y="1562100"/>
            <a:ext cx="2857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1">
                <a:solidFill>
                  <a:srgbClr val="081551"/>
                </a:solidFill>
                <a:latin typeface="Aptos"/>
              </a:rPr>
              <a:t>Gap por área de gestão (GA)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7500" y="1581150"/>
            <a:ext cx="17907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em OS não executadas (estimado)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19050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Naan Carlos Cabral Oliveira · C.32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7450" y="1924050"/>
            <a:ext cx="1714500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48150" y="19050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22098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Roberval Silva Rodrigues · C.32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7450" y="22288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7450" y="2228850"/>
            <a:ext cx="1623631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8150" y="22098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950" y="25146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Francisco Sales Furtado Jr. · C.32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7450" y="25336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57450" y="2533650"/>
            <a:ext cx="1465897" cy="114300"/>
          </a:xfrm>
          <a:prstGeom prst="rect">
            <a:avLst/>
          </a:prstGeom>
          <a:solidFill>
            <a:srgbClr val="147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48150" y="25146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" y="28194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Ruan Labre Gabriel da Silva · C.32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57450" y="28384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57450" y="2838450"/>
            <a:ext cx="970407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48150" y="28194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124200"/>
            <a:ext cx="16383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182238"/>
                </a:solidFill>
                <a:latin typeface="Aptos"/>
              </a:rPr>
              <a:t>Leonardo Cardoso Silva · C.31/C.32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7450" y="3143250"/>
            <a:ext cx="1714500" cy="114300"/>
          </a:xfrm>
          <a:prstGeom prst="rect">
            <a:avLst/>
          </a:prstGeom>
          <a:solidFill>
            <a:srgbClr val="E7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57450" y="3143250"/>
            <a:ext cx="857250" cy="114300"/>
          </a:xfrm>
          <a:prstGeom prst="rect">
            <a:avLst/>
          </a:prstGeom>
          <a:solidFill>
            <a:srgbClr val="78A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8150" y="3124200"/>
            <a:ext cx="4191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1">
                <a:solidFill>
                  <a:srgbClr val="182238"/>
                </a:solidFill>
                <a:latin typeface="Aptos"/>
              </a:rPr>
              <a:t>77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2950" y="3486150"/>
            <a:ext cx="3886200" cy="1600200"/>
          </a:xfrm>
          <a:prstGeom prst="rect">
            <a:avLst/>
          </a:prstGeom>
          <a:solidFill>
            <a:srgbClr val="F1F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2950" y="3486150"/>
            <a:ext cx="47625" cy="1600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5350" y="3600450"/>
            <a:ext cx="114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800" b="1">
                <a:solidFill>
                  <a:srgbClr val="13853A"/>
                </a:solidFill>
                <a:latin typeface="Aptos"/>
              </a:rPr>
              <a:t>1 técnico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350" y="3905250"/>
            <a:ext cx="3581400" cy="1104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4A5B52"/>
                </a:solidFill>
                <a:latin typeface="Aptos"/>
              </a:rPr>
              <a:t>ficou sem nenhuma baixa no período inteiro (01–07/07): Adrian Viana de França (C.32, GA Roberval Silva Rodrigues) — capacidade fora de campo a confirmar com RH/escala, mesmo padrão do Ceará, mas em escala muito menor (1 caso, não 7).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0" y="1409700"/>
          <a:ext cx="66294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800"/>
                <a:gridCol w="2286000"/>
                <a:gridCol w="2133600"/>
              </a:tblGrid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TÉCNICOS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O QUE OS DADOS MOSTRAM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AÇÃO IMEDIATA</a:t>
                      </a:r>
                    </a:p>
                  </a:txBody>
                  <a:tcPr anchor="ctr" marL="95250" marR="76200" marT="38100" marB="38100">
                    <a:solidFill>
                      <a:srgbClr val="081551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1 técnico sem baixa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Adrian Viana de França (C.32)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Nenhuma OS concluída entre 01 e 07/07. Não é baixa produtividade: é capacidade fora de campo.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Confirmar com RH e escala em 24h se é férias, atestado ou vaga a repor.</a:t>
                      </a:r>
                    </a:p>
                  </a:txBody>
                  <a:tcPr anchor="ctr" marL="95250" marR="76200" marT="38100" marB="38100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081551"/>
                          </a:solidFill>
                          <a:latin typeface="Aptos"/>
                        </a:rPr>
                        <a:t>8 maiores desvios individuais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David Wesllem de Sousa Baldez e Natan Padilha Pinheiro (gap 15); Antonio Pedro de Oliveira (13); Alex Henrique Carvalho Duarte e Andre Santos Pereira (12); Felipe Sousa Quirino e Flavio Antonio Estevam Arouche (11); Emanuel Bezerra Lima (10) — todos C.32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Concentram boa parte do gap do Maranhão; todos com poucos dias trabalhados no período (4 a 5 de 7).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Conversa individual gestor-técnico esta semana, com plano simples de recuperação e verificação da escala real.</a:t>
                      </a:r>
                    </a:p>
                  </a:txBody>
                  <a:tcPr anchor="ctr" marL="95250" marR="76200" marT="38100" marB="38100">
                    <a:solidFill>
                      <a:srgbClr val="F8FAFD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3853A"/>
                          </a:solidFill>
                          <a:latin typeface="Aptos"/>
                        </a:rPr>
                        <a:t>Referências a replicar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667085"/>
                          </a:solidFill>
                          <a:latin typeface="Aptos"/>
                        </a:rPr>
                        <a:t>Emisson Barbosa Paiva (5,6) e Lucas Sousa Silva (5,4) — C.32; Werbert Pereira dos Santos (5,6), Claudiomir de Sousa (5,25) e Rafael Costa Lima (5,0) — C.31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Bem acima da meta de 4 OS/dia, nas mesmas condições de campo.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0">
                          <a:solidFill>
                            <a:srgbClr val="182238"/>
                          </a:solidFill>
                          <a:latin typeface="Aptos"/>
                        </a:rPr>
                        <a:t>Mapear rota, carga e método desses técnicos e usar como padrão, priorizando a GA de Naan Carlos Cabral Oliveira.</a:t>
                      </a:r>
                    </a:p>
                  </a:txBody>
                  <a:tcPr anchor="ctr" marL="95250" marR="76200" marT="38100" marB="38100">
                    <a:solidFill>
                      <a:srgbClr val="F1F9F1"/>
                    </a:solidFill>
                  </a:tcPr>
                </a:tc>
              </a:tr>
            </a:tbl>
          </a:graphicData>
        </a:graphic>
      </p:graphicFrame>
      <p:sp>
        <p:nvSpPr>
          <p:cNvPr id="38" name="Rectangle 37"/>
          <p:cNvSpPr/>
          <p:nvPr/>
        </p:nvSpPr>
        <p:spPr>
          <a:xfrm>
            <a:off x="5334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340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67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01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sem baixa no período — resolver em 24h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03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00350" y="5600700"/>
            <a:ext cx="2152650" cy="28575"/>
          </a:xfrm>
          <a:prstGeom prst="rect">
            <a:avLst/>
          </a:prstGeom>
          <a:solidFill>
            <a:srgbClr val="D9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337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D94545"/>
                </a:solidFill>
                <a:latin typeface="Apto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671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maior desvio individual — plano já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673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67300" y="5600700"/>
            <a:ext cx="2152650" cy="28575"/>
          </a:xfrm>
          <a:prstGeom prst="rect">
            <a:avLst/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006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F08A24"/>
                </a:solidFill>
                <a:latin typeface="Aptos"/>
              </a:rPr>
              <a:t>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40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Q1 — abaixo da mediana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3425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34250" y="5600700"/>
            <a:ext cx="2152650" cy="28575"/>
          </a:xfrm>
          <a:prstGeom prst="rect">
            <a:avLst/>
          </a:prstGeom>
          <a:solidFill>
            <a:srgbClr val="E4B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6760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E4BD30"/>
                </a:solidFill>
                <a:latin typeface="Aptos"/>
              </a:rPr>
              <a:t>32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Q2 — na mediana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5600700"/>
            <a:ext cx="2152650" cy="74295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01200" y="5600700"/>
            <a:ext cx="2152650" cy="28575"/>
          </a:xfrm>
          <a:prstGeom prst="rect">
            <a:avLst/>
          </a:prstGeom>
          <a:solidFill>
            <a:srgbClr val="138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4550" y="5734050"/>
            <a:ext cx="4953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200" b="1">
                <a:solidFill>
                  <a:srgbClr val="13853A"/>
                </a:solidFill>
                <a:latin typeface="Aptos"/>
              </a:rPr>
              <a:t>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67950" y="5695950"/>
            <a:ext cx="14097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667085"/>
                </a:solidFill>
                <a:latin typeface="Aptos"/>
              </a:rPr>
              <a:t>Q3 — acima da mediana, usar de referência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477500" cy="76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77500" y="0"/>
            <a:ext cx="1714500" cy="76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82250" y="285750"/>
            <a:ext cx="123825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081551"/>
                </a:solidFill>
                <a:latin typeface="Aptos Display"/>
              </a:rPr>
              <a:t>alloha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82250" y="628650"/>
            <a:ext cx="1238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800" b="1">
                <a:solidFill>
                  <a:srgbClr val="13853A"/>
                </a:solidFill>
                <a:latin typeface="Aptos"/>
              </a:rPr>
              <a:t>F I B R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990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Causas não comprovadas pelos dados permanecem marcadas como “em validação”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0" y="6553200"/>
            <a:ext cx="7048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900" b="0">
                <a:solidFill>
                  <a:srgbClr val="8B94A6"/>
                </a:solidFill>
                <a:latin typeface="Aptos"/>
              </a:rPr>
              <a:t>4 /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342900"/>
            <a:ext cx="8572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>
                <a:solidFill>
                  <a:srgbClr val="1476C9"/>
                </a:solidFill>
                <a:latin typeface="Aptos"/>
              </a:rPr>
              <a:t>FCA · FATO, CAUSA E 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571500"/>
            <a:ext cx="95250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81551"/>
                </a:solidFill>
                <a:latin typeface="Aptos Display"/>
              </a:rPr>
              <a:t>Quatro frentes colocam a recuperação do Maranhão/Piauí em execução nesta semana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0050" y="1409700"/>
          <a:ext cx="11391900" cy="4305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/>
                <a:gridCol w="2457450"/>
                <a:gridCol w="2552700"/>
                <a:gridCol w="1104900"/>
                <a:gridCol w="2057400"/>
                <a:gridCol w="1314450"/>
              </a:tblGrid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FATO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CAUSA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AÇÃO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PRAZO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RESPONSÁVEL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anchor="ctr" marL="95250" marR="76200" marT="57150" marB="57150">
                    <a:solidFill>
                      <a:srgbClr val="081551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Maranhão abaixo em Prazo e Produção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Prazo 24h 77,6% · Produção 82,1% do esperado, em 06/07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O gap de produção está concentrado em poucas áreas de gestão e técnicos específicos, detalhados na página anterior.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Controle diário de Prazo e Presença nas áreas críticas, com lista nominal e providência no mesmo dia.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1ª revisão 15/07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do Maranhão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114F88"/>
                          </a:solidFill>
                          <a:latin typeface="Aptos"/>
                        </a:rPr>
                        <a:t>A iniciar</a:t>
                      </a:r>
                    </a:p>
                  </a:txBody>
                  <a:tcPr anchor="ctr" marL="95250" marR="76200" marT="57150" marB="57150">
                    <a:solidFill>
                      <a:srgbClr val="DCECF9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364 OS de gap estimado em 7 dias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concentrado em 1 GA e 8 técnicos críticos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1 técnico sem nenhuma baixa no período; 8 com maior desvio individual, a maioria com só 4–5 dos 7 dias trabalhados.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Confirmar com RH a situação do técnico parado; plano individual para os 8 críticos; ajuste de carga e rota para os demais.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planos até 10/07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GA Naan Carlos Cabral Oliveira e GO Walmir Fernandes da Silva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1717"/>
                          </a:solidFill>
                          <a:latin typeface="Aptos"/>
                        </a:rPr>
                        <a:t>Imediato</a:t>
                      </a:r>
                    </a:p>
                  </a:txBody>
                  <a:tcPr anchor="ctr" marL="95250" marR="76200" marT="57150" marB="57150">
                    <a:solidFill>
                      <a:srgbClr val="FDE2DF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189 visitas improdutivas no período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125 com motivo registrado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Abertura indevida (30) e Falha massiva (26) lideram os motivos registrados — 74% das classificadas nascem antes do despacho.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Travar abertura de OS sem validação técnica; confirmar o cliente antes do despacho; suspender despacho em área com falha massiva ativa.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08/07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travas até 10/07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Equipe de BI/Performance regional</a:t>
                      </a:r>
                    </a:p>
                  </a:txBody>
                  <a:tcPr anchor="ctr" marL="9525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765400"/>
                          </a:solidFill>
                          <a:latin typeface="Aptos"/>
                        </a:rPr>
                        <a:t>Em validação</a:t>
                      </a:r>
                    </a:p>
                  </a:txBody>
                  <a:tcPr anchor="ctr" marL="95250" marR="76200" marT="57150" marB="57150">
                    <a:solidFill>
                      <a:srgbClr val="FFF0C7"/>
                    </a:solidFill>
                  </a:tcPr>
                </a:tc>
              </a:tr>
              <a:tr h="8610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Queda de 30% na Produção 11 OK (S27→S28)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3,25 → 2,27 OS/dia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Concentrada no Maranhão, mesma regional que já está abaixo da meta de Prazo e Produção no fechamento diário.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Acompanhar o fechamento da S28 frente à S27, priorizando as GAs com maior gap identificado (Naan Carlos Cabral Oliveira, Roberval Silva Rodrigues, Francisco Sales Furtado Jr.).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81551"/>
                          </a:solidFill>
                          <a:latin typeface="Aptos"/>
                        </a:rPr>
                        <a:t>12/07</a:t>
                      </a:r>
                    </a:p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0">
                          <a:solidFill>
                            <a:srgbClr val="667085"/>
                          </a:solidFill>
                          <a:latin typeface="Aptos"/>
                        </a:rPr>
                        <a:t>fechamento da S28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50" b="0">
                          <a:solidFill>
                            <a:srgbClr val="182238"/>
                          </a:solidFill>
                          <a:latin typeface="Aptos"/>
                        </a:rPr>
                        <a:t>Gestores de operação da regional R7.2</a:t>
                      </a:r>
                    </a:p>
                  </a:txBody>
                  <a:tcPr anchor="ctr" marL="95250" marR="76200" marT="57150" marB="57150">
                    <a:solidFill>
                      <a:srgbClr val="F8FA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00" b="1">
                          <a:solidFill>
                            <a:srgbClr val="8A4C00"/>
                          </a:solidFill>
                          <a:latin typeface="Aptos"/>
                        </a:rPr>
                        <a:t>Atenção</a:t>
                      </a:r>
                    </a:p>
                  </a:txBody>
                  <a:tcPr anchor="ctr" marL="95250" marR="76200" marT="57150" marB="57150">
                    <a:solidFill>
                      <a:srgbClr val="FFE5CB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00050" y="5886450"/>
            <a:ext cx="11391900" cy="457200"/>
          </a:xfrm>
          <a:prstGeom prst="rect">
            <a:avLst/>
          </a:prstGeom>
          <a:solidFill>
            <a:srgbClr val="0815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50" y="5886450"/>
            <a:ext cx="66675" cy="457200"/>
          </a:xfrm>
          <a:prstGeom prst="rect">
            <a:avLst/>
          </a:prstGeom>
          <a:solidFill>
            <a:srgbClr val="42D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6038850"/>
            <a:ext cx="1905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1">
                <a:solidFill>
                  <a:srgbClr val="FFFFFF"/>
                </a:solidFill>
                <a:latin typeface="Aptos"/>
              </a:rPr>
              <a:t>DECISÕES SOLICITADAS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6038850"/>
            <a:ext cx="8953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D5DEF3"/>
                </a:solidFill>
                <a:latin typeface="Aptos"/>
              </a:rPr>
              <a:t>Confirmar responsáveis e prazos   ·   Ratificar 85% como meta do Prazo 24h para a regional   ·   Priorizar a GA de Naan Carlos Cabral Oliveira na recuperação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